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9" r:id="rId2"/>
  </p:sldMasterIdLst>
  <p:notesMasterIdLst>
    <p:notesMasterId r:id="rId35"/>
  </p:notesMasterIdLst>
  <p:sldIdLst>
    <p:sldId id="291" r:id="rId3"/>
    <p:sldId id="258" r:id="rId4"/>
    <p:sldId id="292" r:id="rId5"/>
    <p:sldId id="293" r:id="rId6"/>
    <p:sldId id="295"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86" r:id="rId22"/>
    <p:sldId id="274" r:id="rId23"/>
    <p:sldId id="275" r:id="rId24"/>
    <p:sldId id="285" r:id="rId25"/>
    <p:sldId id="276" r:id="rId26"/>
    <p:sldId id="277" r:id="rId27"/>
    <p:sldId id="278" r:id="rId28"/>
    <p:sldId id="279" r:id="rId29"/>
    <p:sldId id="280" r:id="rId30"/>
    <p:sldId id="281" r:id="rId31"/>
    <p:sldId id="282" r:id="rId32"/>
    <p:sldId id="283" r:id="rId33"/>
    <p:sldId id="284"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020"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BF7BF8C3-1AED-4311-91D1-17F56D83F11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s-AR"/>
          </a:p>
        </p:txBody>
      </p:sp>
      <p:sp>
        <p:nvSpPr>
          <p:cNvPr id="3" name="2 Marcador de fecha">
            <a:extLst>
              <a:ext uri="{FF2B5EF4-FFF2-40B4-BE49-F238E27FC236}">
                <a16:creationId xmlns:a16="http://schemas.microsoft.com/office/drawing/2014/main" id="{08B9DF93-E5B1-4CD0-8853-53D057A13CA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3A319B0B-3325-4E57-B3F5-B7C0BFD37179}" type="datetimeFigureOut">
              <a:rPr lang="es-AR"/>
              <a:pPr>
                <a:defRPr/>
              </a:pPr>
              <a:t>28/10/2025</a:t>
            </a:fld>
            <a:endParaRPr lang="es-AR"/>
          </a:p>
        </p:txBody>
      </p:sp>
      <p:sp>
        <p:nvSpPr>
          <p:cNvPr id="4" name="3 Marcador de imagen de diapositiva">
            <a:extLst>
              <a:ext uri="{FF2B5EF4-FFF2-40B4-BE49-F238E27FC236}">
                <a16:creationId xmlns:a16="http://schemas.microsoft.com/office/drawing/2014/main" id="{8DA38C56-E885-4216-9E81-A322AA760D5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AR" noProof="0"/>
          </a:p>
        </p:txBody>
      </p:sp>
      <p:sp>
        <p:nvSpPr>
          <p:cNvPr id="5" name="4 Marcador de notas">
            <a:extLst>
              <a:ext uri="{FF2B5EF4-FFF2-40B4-BE49-F238E27FC236}">
                <a16:creationId xmlns:a16="http://schemas.microsoft.com/office/drawing/2014/main" id="{DB08FDB4-64AE-449D-AF95-DE0B5C9DBED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AR" noProof="0"/>
          </a:p>
        </p:txBody>
      </p:sp>
      <p:sp>
        <p:nvSpPr>
          <p:cNvPr id="6" name="5 Marcador de pie de página">
            <a:extLst>
              <a:ext uri="{FF2B5EF4-FFF2-40B4-BE49-F238E27FC236}">
                <a16:creationId xmlns:a16="http://schemas.microsoft.com/office/drawing/2014/main" id="{D9DC0414-65A1-48F9-88D6-4955FFDC0BC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s-AR"/>
          </a:p>
        </p:txBody>
      </p:sp>
      <p:sp>
        <p:nvSpPr>
          <p:cNvPr id="7" name="6 Marcador de número de diapositiva">
            <a:extLst>
              <a:ext uri="{FF2B5EF4-FFF2-40B4-BE49-F238E27FC236}">
                <a16:creationId xmlns:a16="http://schemas.microsoft.com/office/drawing/2014/main" id="{0843223D-BF60-450A-ADA2-C9C49635A65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DF7A835-0D63-4C65-9750-B52E0D0BBEDA}" type="slidenum">
              <a:rPr lang="es-AR" altLang="es-AR"/>
              <a:pPr/>
              <a:t>‹Nº›</a:t>
            </a:fld>
            <a:endParaRPr lang="es-AR" altLang="es-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7d6855a27dc67959_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7d6855a27dc67959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80cc6163fa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80cc6163fa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7d6855a27dc67959_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7d6855a27dc67959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endParaRPr lang="es-AR"/>
          </a:p>
        </p:txBody>
      </p:sp>
      <p:sp>
        <p:nvSpPr>
          <p:cNvPr id="4" name="Rectangle 4">
            <a:extLst>
              <a:ext uri="{FF2B5EF4-FFF2-40B4-BE49-F238E27FC236}">
                <a16:creationId xmlns:a16="http://schemas.microsoft.com/office/drawing/2014/main" id="{924E092C-AF55-463A-9580-652AFAD7E45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A6A8855-8BA7-4947-96B7-74469B1170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313A3B8-AC9D-452B-9292-E5B5ED94E5A1}"/>
              </a:ext>
            </a:extLst>
          </p:cNvPr>
          <p:cNvSpPr>
            <a:spLocks noGrp="1" noChangeArrowheads="1"/>
          </p:cNvSpPr>
          <p:nvPr>
            <p:ph type="sldNum" sz="quarter" idx="12"/>
          </p:nvPr>
        </p:nvSpPr>
        <p:spPr>
          <a:ln/>
        </p:spPr>
        <p:txBody>
          <a:bodyPr/>
          <a:lstStyle>
            <a:lvl1pPr>
              <a:defRPr/>
            </a:lvl1pPr>
          </a:lstStyle>
          <a:p>
            <a:fld id="{294EBA0B-1A69-4FC5-8794-394B27A996B5}" type="slidenum">
              <a:rPr lang="en-US" altLang="es-AR"/>
              <a:pPr/>
              <a:t>‹Nº›</a:t>
            </a:fld>
            <a:endParaRPr lang="en-US" altLang="es-AR"/>
          </a:p>
        </p:txBody>
      </p:sp>
    </p:spTree>
    <p:extLst>
      <p:ext uri="{BB962C8B-B14F-4D97-AF65-F5344CB8AC3E}">
        <p14:creationId xmlns:p14="http://schemas.microsoft.com/office/powerpoint/2010/main" val="371797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a:extLst>
              <a:ext uri="{FF2B5EF4-FFF2-40B4-BE49-F238E27FC236}">
                <a16:creationId xmlns:a16="http://schemas.microsoft.com/office/drawing/2014/main" id="{78C8E183-2D84-4243-9223-4EA465743F8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26BD4DB-B114-4FA7-9C3D-13BE0CD9C32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12F1450-CCD3-46D1-A450-820E430DA6BF}"/>
              </a:ext>
            </a:extLst>
          </p:cNvPr>
          <p:cNvSpPr>
            <a:spLocks noGrp="1" noChangeArrowheads="1"/>
          </p:cNvSpPr>
          <p:nvPr>
            <p:ph type="sldNum" sz="quarter" idx="12"/>
          </p:nvPr>
        </p:nvSpPr>
        <p:spPr>
          <a:ln/>
        </p:spPr>
        <p:txBody>
          <a:bodyPr/>
          <a:lstStyle>
            <a:lvl1pPr>
              <a:defRPr/>
            </a:lvl1pPr>
          </a:lstStyle>
          <a:p>
            <a:fld id="{4EE6A80C-9AAF-4459-92C9-156D1CE619E5}" type="slidenum">
              <a:rPr lang="en-US" altLang="es-AR"/>
              <a:pPr/>
              <a:t>‹Nº›</a:t>
            </a:fld>
            <a:endParaRPr lang="en-US" altLang="es-AR"/>
          </a:p>
        </p:txBody>
      </p:sp>
    </p:spTree>
    <p:extLst>
      <p:ext uri="{BB962C8B-B14F-4D97-AF65-F5344CB8AC3E}">
        <p14:creationId xmlns:p14="http://schemas.microsoft.com/office/powerpoint/2010/main" val="1161582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a:extLst>
              <a:ext uri="{FF2B5EF4-FFF2-40B4-BE49-F238E27FC236}">
                <a16:creationId xmlns:a16="http://schemas.microsoft.com/office/drawing/2014/main" id="{5557DB25-041D-49EF-ADEA-2823719DB8D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C221A94-1718-4397-B24E-19018704658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14DB74A-2665-4E44-82F2-7C10C3D28183}"/>
              </a:ext>
            </a:extLst>
          </p:cNvPr>
          <p:cNvSpPr>
            <a:spLocks noGrp="1" noChangeArrowheads="1"/>
          </p:cNvSpPr>
          <p:nvPr>
            <p:ph type="sldNum" sz="quarter" idx="12"/>
          </p:nvPr>
        </p:nvSpPr>
        <p:spPr>
          <a:ln/>
        </p:spPr>
        <p:txBody>
          <a:bodyPr/>
          <a:lstStyle>
            <a:lvl1pPr>
              <a:defRPr/>
            </a:lvl1pPr>
          </a:lstStyle>
          <a:p>
            <a:fld id="{C6F9377D-6F9E-456A-94E5-7CD1CFB3B781}" type="slidenum">
              <a:rPr lang="en-US" altLang="es-AR"/>
              <a:pPr/>
              <a:t>‹Nº›</a:t>
            </a:fld>
            <a:endParaRPr lang="en-US" altLang="es-AR"/>
          </a:p>
        </p:txBody>
      </p:sp>
    </p:spTree>
    <p:extLst>
      <p:ext uri="{BB962C8B-B14F-4D97-AF65-F5344CB8AC3E}">
        <p14:creationId xmlns:p14="http://schemas.microsoft.com/office/powerpoint/2010/main" val="2053018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Rectangle 4">
            <a:extLst>
              <a:ext uri="{FF2B5EF4-FFF2-40B4-BE49-F238E27FC236}">
                <a16:creationId xmlns:a16="http://schemas.microsoft.com/office/drawing/2014/main" id="{474BB82E-D790-4C96-85AB-A9ACF9B33A3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781D683-D5D7-482A-BB37-429836AA85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081E007-CDB0-4E5A-AF4B-EF058BF39096}"/>
              </a:ext>
            </a:extLst>
          </p:cNvPr>
          <p:cNvSpPr>
            <a:spLocks noGrp="1" noChangeArrowheads="1"/>
          </p:cNvSpPr>
          <p:nvPr>
            <p:ph type="sldNum" sz="quarter" idx="12"/>
          </p:nvPr>
        </p:nvSpPr>
        <p:spPr>
          <a:ln/>
        </p:spPr>
        <p:txBody>
          <a:bodyPr/>
          <a:lstStyle>
            <a:lvl1pPr>
              <a:defRPr/>
            </a:lvl1pPr>
          </a:lstStyle>
          <a:p>
            <a:fld id="{34FBEAF7-F9C5-4D9E-AB17-DC680CEFD20E}" type="slidenum">
              <a:rPr lang="en-US" altLang="es-AR"/>
              <a:pPr/>
              <a:t>‹Nº›</a:t>
            </a:fld>
            <a:endParaRPr lang="en-US" altLang="es-AR"/>
          </a:p>
        </p:txBody>
      </p:sp>
    </p:spTree>
    <p:extLst>
      <p:ext uri="{BB962C8B-B14F-4D97-AF65-F5344CB8AC3E}">
        <p14:creationId xmlns:p14="http://schemas.microsoft.com/office/powerpoint/2010/main" val="34012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Rectangle 4">
            <a:extLst>
              <a:ext uri="{FF2B5EF4-FFF2-40B4-BE49-F238E27FC236}">
                <a16:creationId xmlns:a16="http://schemas.microsoft.com/office/drawing/2014/main" id="{AD453130-9587-4FCF-91AF-D15D3366847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0A744291-4B87-4D54-9409-C53BDFF85E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5587E88-DF94-40A2-9F7C-589E2DD63C3A}"/>
              </a:ext>
            </a:extLst>
          </p:cNvPr>
          <p:cNvSpPr>
            <a:spLocks noGrp="1" noChangeArrowheads="1"/>
          </p:cNvSpPr>
          <p:nvPr>
            <p:ph type="sldNum" sz="quarter" idx="12"/>
          </p:nvPr>
        </p:nvSpPr>
        <p:spPr>
          <a:ln/>
        </p:spPr>
        <p:txBody>
          <a:bodyPr/>
          <a:lstStyle>
            <a:lvl1pPr>
              <a:defRPr/>
            </a:lvl1pPr>
          </a:lstStyle>
          <a:p>
            <a:fld id="{7C7F52D8-1332-44E5-AF17-C0A5FCDE7A6B}" type="slidenum">
              <a:rPr lang="en-US" altLang="es-AR"/>
              <a:pPr/>
              <a:t>‹Nº›</a:t>
            </a:fld>
            <a:endParaRPr lang="en-US" altLang="es-AR"/>
          </a:p>
        </p:txBody>
      </p:sp>
    </p:spTree>
    <p:extLst>
      <p:ext uri="{BB962C8B-B14F-4D97-AF65-F5344CB8AC3E}">
        <p14:creationId xmlns:p14="http://schemas.microsoft.com/office/powerpoint/2010/main" val="148303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Rectangle 4">
            <a:extLst>
              <a:ext uri="{FF2B5EF4-FFF2-40B4-BE49-F238E27FC236}">
                <a16:creationId xmlns:a16="http://schemas.microsoft.com/office/drawing/2014/main" id="{D47FC1D7-A507-4D34-9067-6B633AEB90F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21ED0CA-0093-4640-8B3D-E06E2F6D537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F789016-0D39-457A-8AF5-DC197A0FE334}"/>
              </a:ext>
            </a:extLst>
          </p:cNvPr>
          <p:cNvSpPr>
            <a:spLocks noGrp="1" noChangeArrowheads="1"/>
          </p:cNvSpPr>
          <p:nvPr>
            <p:ph type="sldNum" sz="quarter" idx="12"/>
          </p:nvPr>
        </p:nvSpPr>
        <p:spPr>
          <a:ln/>
        </p:spPr>
        <p:txBody>
          <a:bodyPr/>
          <a:lstStyle>
            <a:lvl1pPr>
              <a:defRPr/>
            </a:lvl1pPr>
          </a:lstStyle>
          <a:p>
            <a:fld id="{103C4B96-3B04-48F0-BAF7-4B09BB99EE60}" type="slidenum">
              <a:rPr lang="en-US" altLang="es-AR"/>
              <a:pPr/>
              <a:t>‹Nº›</a:t>
            </a:fld>
            <a:endParaRPr lang="en-US" altLang="es-AR"/>
          </a:p>
        </p:txBody>
      </p:sp>
    </p:spTree>
    <p:extLst>
      <p:ext uri="{BB962C8B-B14F-4D97-AF65-F5344CB8AC3E}">
        <p14:creationId xmlns:p14="http://schemas.microsoft.com/office/powerpoint/2010/main" val="1574897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34BE6E6-884B-49D4-9F5F-0D6A76DE2D2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3DFF7BEA-CF4C-44C2-B61C-E9105443E3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94754A3-2C4D-4173-9CE7-08283A3ACEC4}"/>
              </a:ext>
            </a:extLst>
          </p:cNvPr>
          <p:cNvSpPr>
            <a:spLocks noGrp="1" noChangeArrowheads="1"/>
          </p:cNvSpPr>
          <p:nvPr>
            <p:ph type="sldNum" sz="quarter" idx="12"/>
          </p:nvPr>
        </p:nvSpPr>
        <p:spPr>
          <a:ln/>
        </p:spPr>
        <p:txBody>
          <a:bodyPr/>
          <a:lstStyle>
            <a:lvl1pPr>
              <a:defRPr/>
            </a:lvl1pPr>
          </a:lstStyle>
          <a:p>
            <a:fld id="{44C95180-DA23-4D94-AE08-98452156646C}" type="slidenum">
              <a:rPr lang="en-US" altLang="es-AR"/>
              <a:pPr/>
              <a:t>‹Nº›</a:t>
            </a:fld>
            <a:endParaRPr lang="en-US" altLang="es-AR"/>
          </a:p>
        </p:txBody>
      </p:sp>
    </p:spTree>
    <p:extLst>
      <p:ext uri="{BB962C8B-B14F-4D97-AF65-F5344CB8AC3E}">
        <p14:creationId xmlns:p14="http://schemas.microsoft.com/office/powerpoint/2010/main" val="2475398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a:extLst>
              <a:ext uri="{FF2B5EF4-FFF2-40B4-BE49-F238E27FC236}">
                <a16:creationId xmlns:a16="http://schemas.microsoft.com/office/drawing/2014/main" id="{803817CB-AE5C-48D3-A9E4-3AA70625046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0E0D1E6-CB79-4995-9DA9-07E54133CD6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BDD4970-CEC7-470B-A751-4EFCB4F69389}"/>
              </a:ext>
            </a:extLst>
          </p:cNvPr>
          <p:cNvSpPr>
            <a:spLocks noGrp="1" noChangeArrowheads="1"/>
          </p:cNvSpPr>
          <p:nvPr>
            <p:ph type="sldNum" sz="quarter" idx="12"/>
          </p:nvPr>
        </p:nvSpPr>
        <p:spPr>
          <a:ln/>
        </p:spPr>
        <p:txBody>
          <a:bodyPr/>
          <a:lstStyle>
            <a:lvl1pPr>
              <a:defRPr/>
            </a:lvl1pPr>
          </a:lstStyle>
          <a:p>
            <a:fld id="{C98736E2-143B-4ACD-8265-B0CB74CEDCA4}" type="slidenum">
              <a:rPr lang="en-US" altLang="es-AR"/>
              <a:pPr/>
              <a:t>‹Nº›</a:t>
            </a:fld>
            <a:endParaRPr lang="en-US" altLang="es-AR"/>
          </a:p>
        </p:txBody>
      </p:sp>
    </p:spTree>
    <p:extLst>
      <p:ext uri="{BB962C8B-B14F-4D97-AF65-F5344CB8AC3E}">
        <p14:creationId xmlns:p14="http://schemas.microsoft.com/office/powerpoint/2010/main" val="790529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AR"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a:extLst>
              <a:ext uri="{FF2B5EF4-FFF2-40B4-BE49-F238E27FC236}">
                <a16:creationId xmlns:a16="http://schemas.microsoft.com/office/drawing/2014/main" id="{18483406-EA14-4699-9A20-B6ABEFCB297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2741FB5-523C-42AB-8A76-4F5EC2EEC19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DD2B87D-D59F-45F7-B8C0-1BB9710A9BEE}"/>
              </a:ext>
            </a:extLst>
          </p:cNvPr>
          <p:cNvSpPr>
            <a:spLocks noGrp="1" noChangeArrowheads="1"/>
          </p:cNvSpPr>
          <p:nvPr>
            <p:ph type="sldNum" sz="quarter" idx="12"/>
          </p:nvPr>
        </p:nvSpPr>
        <p:spPr>
          <a:ln/>
        </p:spPr>
        <p:txBody>
          <a:bodyPr/>
          <a:lstStyle>
            <a:lvl1pPr>
              <a:defRPr/>
            </a:lvl1pPr>
          </a:lstStyle>
          <a:p>
            <a:fld id="{86DF5CD1-7C21-4B8E-B1E0-768C8D1C24E6}" type="slidenum">
              <a:rPr lang="en-US" altLang="es-AR"/>
              <a:pPr/>
              <a:t>‹Nº›</a:t>
            </a:fld>
            <a:endParaRPr lang="en-US" altLang="es-AR"/>
          </a:p>
        </p:txBody>
      </p:sp>
    </p:spTree>
    <p:extLst>
      <p:ext uri="{BB962C8B-B14F-4D97-AF65-F5344CB8AC3E}">
        <p14:creationId xmlns:p14="http://schemas.microsoft.com/office/powerpoint/2010/main" val="60572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a:extLst>
              <a:ext uri="{FF2B5EF4-FFF2-40B4-BE49-F238E27FC236}">
                <a16:creationId xmlns:a16="http://schemas.microsoft.com/office/drawing/2014/main" id="{9168B64A-6713-4B9B-8302-57916A3314F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BCD5351-A325-412F-8E31-65A4A17220C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1392FE-0144-42D8-8B33-B112AC91C26F}"/>
              </a:ext>
            </a:extLst>
          </p:cNvPr>
          <p:cNvSpPr>
            <a:spLocks noGrp="1" noChangeArrowheads="1"/>
          </p:cNvSpPr>
          <p:nvPr>
            <p:ph type="sldNum" sz="quarter" idx="12"/>
          </p:nvPr>
        </p:nvSpPr>
        <p:spPr>
          <a:ln/>
        </p:spPr>
        <p:txBody>
          <a:bodyPr/>
          <a:lstStyle>
            <a:lvl1pPr>
              <a:defRPr/>
            </a:lvl1pPr>
          </a:lstStyle>
          <a:p>
            <a:fld id="{EA15B9F1-AD06-46FA-9222-3C211F185198}" type="slidenum">
              <a:rPr lang="en-US" altLang="es-AR"/>
              <a:pPr/>
              <a:t>‹Nº›</a:t>
            </a:fld>
            <a:endParaRPr lang="en-US" altLang="es-AR"/>
          </a:p>
        </p:txBody>
      </p:sp>
    </p:spTree>
    <p:extLst>
      <p:ext uri="{BB962C8B-B14F-4D97-AF65-F5344CB8AC3E}">
        <p14:creationId xmlns:p14="http://schemas.microsoft.com/office/powerpoint/2010/main" val="4219123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a:extLst>
              <a:ext uri="{FF2B5EF4-FFF2-40B4-BE49-F238E27FC236}">
                <a16:creationId xmlns:a16="http://schemas.microsoft.com/office/drawing/2014/main" id="{45E38CBA-7336-49FA-B2CF-63740669863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80F587B-3A42-4C2A-95E9-19DD4693D6F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B9D8662-BCF6-4DFD-B13A-FD6A27ED3879}"/>
              </a:ext>
            </a:extLst>
          </p:cNvPr>
          <p:cNvSpPr>
            <a:spLocks noGrp="1" noChangeArrowheads="1"/>
          </p:cNvSpPr>
          <p:nvPr>
            <p:ph type="sldNum" sz="quarter" idx="12"/>
          </p:nvPr>
        </p:nvSpPr>
        <p:spPr>
          <a:ln/>
        </p:spPr>
        <p:txBody>
          <a:bodyPr/>
          <a:lstStyle>
            <a:lvl1pPr>
              <a:defRPr/>
            </a:lvl1pPr>
          </a:lstStyle>
          <a:p>
            <a:fld id="{46CDE36B-E436-4165-80BD-2C5FF8D844B3}" type="slidenum">
              <a:rPr lang="en-US" altLang="es-AR"/>
              <a:pPr/>
              <a:t>‹Nº›</a:t>
            </a:fld>
            <a:endParaRPr lang="en-US" altLang="es-AR"/>
          </a:p>
        </p:txBody>
      </p:sp>
    </p:spTree>
    <p:extLst>
      <p:ext uri="{BB962C8B-B14F-4D97-AF65-F5344CB8AC3E}">
        <p14:creationId xmlns:p14="http://schemas.microsoft.com/office/powerpoint/2010/main" val="371312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992767"/>
            <a:ext cx="85206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778833"/>
            <a:ext cx="85206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A8DF3FE-B900-4A03-9CD3-1D1208EC221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s-AR"/>
              <a:t>Click to edit Master title style</a:t>
            </a:r>
          </a:p>
        </p:txBody>
      </p:sp>
      <p:sp>
        <p:nvSpPr>
          <p:cNvPr id="1027" name="Rectangle 3">
            <a:extLst>
              <a:ext uri="{FF2B5EF4-FFF2-40B4-BE49-F238E27FC236}">
                <a16:creationId xmlns:a16="http://schemas.microsoft.com/office/drawing/2014/main" id="{4AC76FA7-7148-4CC1-B629-005D1735C38A}"/>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AR"/>
              <a:t>Click to edit Master text styles</a:t>
            </a:r>
          </a:p>
          <a:p>
            <a:pPr lvl="1"/>
            <a:r>
              <a:rPr lang="en-US" altLang="es-AR"/>
              <a:t>Second level</a:t>
            </a:r>
          </a:p>
          <a:p>
            <a:pPr lvl="2"/>
            <a:r>
              <a:rPr lang="en-US" altLang="es-AR"/>
              <a:t>Third level</a:t>
            </a:r>
          </a:p>
          <a:p>
            <a:pPr lvl="3"/>
            <a:r>
              <a:rPr lang="en-US" altLang="es-AR"/>
              <a:t>Fourth level</a:t>
            </a:r>
          </a:p>
          <a:p>
            <a:pPr lvl="4"/>
            <a:r>
              <a:rPr lang="en-US" altLang="es-AR"/>
              <a:t>Fifth level</a:t>
            </a:r>
          </a:p>
        </p:txBody>
      </p:sp>
      <p:sp>
        <p:nvSpPr>
          <p:cNvPr id="1028" name="Rectangle 4">
            <a:extLst>
              <a:ext uri="{FF2B5EF4-FFF2-40B4-BE49-F238E27FC236}">
                <a16:creationId xmlns:a16="http://schemas.microsoft.com/office/drawing/2014/main" id="{7E0D9E8E-B6AD-4043-80B3-1723BEA7A41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F4B525B8-02B8-4715-8582-AA3AD9616C55}"/>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888E643F-604C-48F1-80DE-61C90F9408A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BCCEFB1-D0E9-46B1-AAE9-B516931F5A52}" type="slidenum">
              <a:rPr lang="en-US" altLang="es-AR"/>
              <a:pPr/>
              <a:t>‹Nº›</a:t>
            </a:fld>
            <a:endParaRPr lang="en-US" alt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217623"/>
            <a:ext cx="548700" cy="524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gif"/><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gif"/><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8A298577-D67B-4432-A78B-B4919BA9D1D5}"/>
              </a:ext>
            </a:extLst>
          </p:cNvPr>
          <p:cNvSpPr>
            <a:spLocks noGrp="1" noChangeArrowheads="1"/>
          </p:cNvSpPr>
          <p:nvPr>
            <p:ph type="ctrTitle"/>
          </p:nvPr>
        </p:nvSpPr>
        <p:spPr>
          <a:xfrm>
            <a:off x="533400" y="228600"/>
            <a:ext cx="7772400" cy="1470025"/>
          </a:xfrm>
        </p:spPr>
        <p:txBody>
          <a:bodyPr/>
          <a:lstStyle/>
          <a:p>
            <a:pPr eaLnBrk="1" hangingPunct="1"/>
            <a:r>
              <a:rPr lang="en-US" altLang="es-AR" dirty="0" err="1"/>
              <a:t>Agentes</a:t>
            </a:r>
            <a:r>
              <a:rPr lang="en-US" altLang="es-AR" dirty="0"/>
              <a:t> </a:t>
            </a:r>
            <a:r>
              <a:rPr lang="en-US" altLang="es-AR" dirty="0" err="1"/>
              <a:t>Inteligentes</a:t>
            </a:r>
            <a:endParaRPr lang="en-US" altLang="es-AR" dirty="0"/>
          </a:p>
        </p:txBody>
      </p:sp>
      <p:sp>
        <p:nvSpPr>
          <p:cNvPr id="7" name="CuadroTexto 6">
            <a:extLst>
              <a:ext uri="{FF2B5EF4-FFF2-40B4-BE49-F238E27FC236}">
                <a16:creationId xmlns:a16="http://schemas.microsoft.com/office/drawing/2014/main" id="{878A46FB-12EB-4208-9914-E2BC1505A9AA}"/>
              </a:ext>
            </a:extLst>
          </p:cNvPr>
          <p:cNvSpPr txBox="1"/>
          <p:nvPr/>
        </p:nvSpPr>
        <p:spPr>
          <a:xfrm>
            <a:off x="1447800" y="1752600"/>
            <a:ext cx="5486400" cy="4285019"/>
          </a:xfrm>
          <a:prstGeom prst="rect">
            <a:avLst/>
          </a:prstGeom>
          <a:noFill/>
        </p:spPr>
        <p:txBody>
          <a:bodyPr wrap="square">
            <a:spAutoFit/>
          </a:bodyPr>
          <a:lstStyle/>
          <a:p>
            <a:pPr>
              <a:lnSpc>
                <a:spcPct val="115000"/>
              </a:lnSpc>
              <a:spcAft>
                <a:spcPts val="1000"/>
              </a:spcAft>
            </a:pPr>
            <a:r>
              <a:rPr lang="es-ES" sz="1800" b="1" kern="120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Clase </a:t>
            </a:r>
            <a:r>
              <a:rPr lang="es-ES" sz="1800" b="1" kern="120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10  </a:t>
            </a:r>
          </a:p>
          <a:p>
            <a:pPr>
              <a:lnSpc>
                <a:spcPct val="115000"/>
              </a:lnSpc>
              <a:spcAft>
                <a:spcPts val="1000"/>
              </a:spcAft>
            </a:pPr>
            <a:r>
              <a:rPr lang="es-AR" sz="1800" b="1" dirty="0">
                <a:effectLst/>
                <a:latin typeface="Calibri Light" panose="020F0302020204030204" pitchFamily="34" charset="0"/>
                <a:ea typeface="Times New Roman" panose="02020603050405020304" pitchFamily="18" charset="0"/>
                <a:cs typeface="Times New Roman" panose="02020603050405020304" pitchFamily="18" charset="0"/>
              </a:rPr>
              <a:t>Temas</a:t>
            </a: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Racionalidad.</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REAS (Rendimiento, Entorno, Actuadores, Sensores). </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Tipos de entorno. </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Tipos de agentes. </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Agentes basados en conocimiento.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s-AR" sz="1800" b="1" dirty="0">
                <a:effectLst/>
                <a:latin typeface="Calibri Light" panose="020F0302020204030204" pitchFamily="34" charset="0"/>
                <a:ea typeface="Times New Roman" panose="02020603050405020304" pitchFamily="18" charset="0"/>
                <a:cs typeface="Times New Roman" panose="02020603050405020304" pitchFamily="18" charset="0"/>
              </a:rPr>
              <a:t>Bibliografía:</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Russell y </a:t>
            </a:r>
            <a:r>
              <a:rPr lang="es-AR" sz="1800" dirty="0" err="1">
                <a:effectLst/>
                <a:latin typeface="Calibri Light" panose="020F0302020204030204" pitchFamily="34" charset="0"/>
                <a:ea typeface="Times New Roman" panose="02020603050405020304" pitchFamily="18" charset="0"/>
                <a:cs typeface="Times New Roman" panose="02020603050405020304" pitchFamily="18" charset="0"/>
              </a:rPr>
              <a:t>Norvig</a:t>
            </a:r>
            <a:r>
              <a:rPr lang="es-AR" sz="1800" dirty="0">
                <a:effectLst/>
                <a:latin typeface="Calibri Light" panose="020F0302020204030204" pitchFamily="34" charset="0"/>
                <a:ea typeface="Times New Roman" panose="02020603050405020304" pitchFamily="18" charset="0"/>
                <a:cs typeface="Times New Roman" panose="02020603050405020304" pitchFamily="18" charset="0"/>
              </a:rPr>
              <a:t>. Inteligencia Artificial. Un enfoque moderno. Capítulo 1 y Capítulo 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5218533-61E9-4865-B70C-8936C87E1392}"/>
              </a:ext>
            </a:extLst>
          </p:cNvPr>
          <p:cNvSpPr>
            <a:spLocks noGrp="1" noChangeArrowheads="1"/>
          </p:cNvSpPr>
          <p:nvPr>
            <p:ph type="title"/>
          </p:nvPr>
        </p:nvSpPr>
        <p:spPr/>
        <p:txBody>
          <a:bodyPr/>
          <a:lstStyle/>
          <a:p>
            <a:pPr eaLnBrk="1" hangingPunct="1"/>
            <a:r>
              <a:rPr lang="en-US" altLang="es-AR"/>
              <a:t>Outline</a:t>
            </a:r>
          </a:p>
        </p:txBody>
      </p:sp>
      <p:sp>
        <p:nvSpPr>
          <p:cNvPr id="4099" name="Rectangle 3">
            <a:extLst>
              <a:ext uri="{FF2B5EF4-FFF2-40B4-BE49-F238E27FC236}">
                <a16:creationId xmlns:a16="http://schemas.microsoft.com/office/drawing/2014/main" id="{9CC75A41-0207-4181-B1B1-0557FF880918}"/>
              </a:ext>
            </a:extLst>
          </p:cNvPr>
          <p:cNvSpPr>
            <a:spLocks noGrp="1" noChangeArrowheads="1"/>
          </p:cNvSpPr>
          <p:nvPr>
            <p:ph type="body" idx="1"/>
          </p:nvPr>
        </p:nvSpPr>
        <p:spPr/>
        <p:txBody>
          <a:bodyPr/>
          <a:lstStyle/>
          <a:p>
            <a:pPr eaLnBrk="1" hangingPunct="1"/>
            <a:r>
              <a:rPr lang="en-US" altLang="es-AR"/>
              <a:t>Agentes y entornos</a:t>
            </a:r>
          </a:p>
          <a:p>
            <a:pPr eaLnBrk="1" hangingPunct="1"/>
            <a:r>
              <a:rPr lang="en-US" altLang="es-AR"/>
              <a:t>Racionalidad</a:t>
            </a:r>
          </a:p>
          <a:p>
            <a:pPr eaLnBrk="1" hangingPunct="1"/>
            <a:r>
              <a:rPr lang="en-US" altLang="es-AR"/>
              <a:t>REAS(Rendimiento, Entorno, Actuadors, Sensores)</a:t>
            </a:r>
          </a:p>
          <a:p>
            <a:pPr eaLnBrk="1" hangingPunct="1"/>
            <a:r>
              <a:rPr lang="en-US" altLang="es-AR"/>
              <a:t>Tipos de entorno</a:t>
            </a:r>
          </a:p>
          <a:p>
            <a:pPr eaLnBrk="1" hangingPunct="1"/>
            <a:r>
              <a:rPr lang="en-US" altLang="es-AR"/>
              <a:t>Tipos de agentes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11" name="Google Shape;211;p24"/>
          <p:cNvPicPr preferRelativeResize="0"/>
          <p:nvPr/>
        </p:nvPicPr>
        <p:blipFill>
          <a:blip r:embed="rId3">
            <a:alphaModFix/>
          </a:blip>
          <a:stretch>
            <a:fillRect/>
          </a:stretch>
        </p:blipFill>
        <p:spPr>
          <a:xfrm rot="5400000">
            <a:off x="-94856" y="4442293"/>
            <a:ext cx="1507750" cy="1318050"/>
          </a:xfrm>
          <a:prstGeom prst="rect">
            <a:avLst/>
          </a:prstGeom>
          <a:noFill/>
          <a:ln>
            <a:noFill/>
          </a:ln>
        </p:spPr>
      </p:pic>
      <p:pic>
        <p:nvPicPr>
          <p:cNvPr id="212" name="Google Shape;212;p24"/>
          <p:cNvPicPr preferRelativeResize="0"/>
          <p:nvPr/>
        </p:nvPicPr>
        <p:blipFill>
          <a:blip r:embed="rId3">
            <a:alphaModFix/>
          </a:blip>
          <a:stretch>
            <a:fillRect/>
          </a:stretch>
        </p:blipFill>
        <p:spPr>
          <a:xfrm rot="-5400000">
            <a:off x="7662175" y="1428326"/>
            <a:ext cx="1581276" cy="1382375"/>
          </a:xfrm>
          <a:prstGeom prst="rect">
            <a:avLst/>
          </a:prstGeom>
          <a:noFill/>
          <a:ln>
            <a:noFill/>
          </a:ln>
        </p:spPr>
      </p:pic>
      <p:sp>
        <p:nvSpPr>
          <p:cNvPr id="215" name="Google Shape;215;p24"/>
          <p:cNvSpPr txBox="1"/>
          <p:nvPr/>
        </p:nvSpPr>
        <p:spPr>
          <a:xfrm>
            <a:off x="2438400" y="618944"/>
            <a:ext cx="5181600" cy="6155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2800" b="1" i="1" dirty="0"/>
              <a:t>¿Qué son los Agentes?</a:t>
            </a:r>
            <a:endParaRPr sz="2800" b="1" i="1" dirty="0"/>
          </a:p>
        </p:txBody>
      </p:sp>
      <p:pic>
        <p:nvPicPr>
          <p:cNvPr id="216" name="Google Shape;216;p24" descr="a man wearing a hat and sunglasses looks like a secret service agent (proporcionada por Tenor)"/>
          <p:cNvPicPr preferRelativeResize="0"/>
          <p:nvPr/>
        </p:nvPicPr>
        <p:blipFill>
          <a:blip r:embed="rId4">
            <a:alphaModFix/>
          </a:blip>
          <a:stretch>
            <a:fillRect/>
          </a:stretch>
        </p:blipFill>
        <p:spPr>
          <a:xfrm>
            <a:off x="625491" y="1071500"/>
            <a:ext cx="1223100" cy="1223100"/>
          </a:xfrm>
          <a:prstGeom prst="rect">
            <a:avLst/>
          </a:prstGeom>
          <a:noFill/>
          <a:ln>
            <a:noFill/>
          </a:ln>
        </p:spPr>
      </p:pic>
      <p:sp>
        <p:nvSpPr>
          <p:cNvPr id="217" name="Google Shape;217;p24"/>
          <p:cNvSpPr txBox="1"/>
          <p:nvPr/>
        </p:nvSpPr>
        <p:spPr>
          <a:xfrm>
            <a:off x="322450" y="2500975"/>
            <a:ext cx="3735600" cy="297001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419" sz="1400" dirty="0">
                <a:solidFill>
                  <a:srgbClr val="000000"/>
                </a:solidFill>
              </a:rPr>
              <a:t>Un </a:t>
            </a:r>
            <a:r>
              <a:rPr lang="es-419" sz="1400" b="1" dirty="0">
                <a:solidFill>
                  <a:srgbClr val="000000"/>
                </a:solidFill>
              </a:rPr>
              <a:t>agente</a:t>
            </a:r>
            <a:r>
              <a:rPr lang="es-419" sz="1400" dirty="0">
                <a:solidFill>
                  <a:srgbClr val="000000"/>
                </a:solidFill>
              </a:rPr>
              <a:t> es un sistema que:</a:t>
            </a:r>
            <a:endParaRPr sz="1400" dirty="0">
              <a:solidFill>
                <a:srgbClr val="000000"/>
              </a:solidFill>
            </a:endParaRPr>
          </a:p>
          <a:p>
            <a:pPr marL="457200" lvl="0" indent="-317500" algn="l" rtl="0">
              <a:lnSpc>
                <a:spcPct val="115000"/>
              </a:lnSpc>
              <a:spcBef>
                <a:spcPts val="1200"/>
              </a:spcBef>
              <a:spcAft>
                <a:spcPts val="0"/>
              </a:spcAft>
              <a:buClr>
                <a:srgbClr val="000000"/>
              </a:buClr>
              <a:buSzPts val="1400"/>
              <a:buAutoNum type="arabicPeriod"/>
            </a:pPr>
            <a:r>
              <a:rPr lang="es-419" sz="1400" b="1" dirty="0">
                <a:solidFill>
                  <a:srgbClr val="000000"/>
                </a:solidFill>
              </a:rPr>
              <a:t>Percibe</a:t>
            </a:r>
            <a:r>
              <a:rPr lang="es-419" sz="1400" dirty="0">
                <a:solidFill>
                  <a:srgbClr val="000000"/>
                </a:solidFill>
              </a:rPr>
              <a:t> su entorno (datos de entrada).</a:t>
            </a:r>
            <a:br>
              <a:rPr lang="es-419" sz="1400" dirty="0">
                <a:solidFill>
                  <a:srgbClr val="000000"/>
                </a:solidFill>
              </a:rPr>
            </a:br>
            <a:endParaRPr sz="1400" dirty="0">
              <a:solidFill>
                <a:srgbClr val="000000"/>
              </a:solidFill>
            </a:endParaRPr>
          </a:p>
          <a:p>
            <a:pPr marL="457200" lvl="0" indent="-317500" algn="l" rtl="0">
              <a:lnSpc>
                <a:spcPct val="115000"/>
              </a:lnSpc>
              <a:spcBef>
                <a:spcPts val="0"/>
              </a:spcBef>
              <a:spcAft>
                <a:spcPts val="0"/>
              </a:spcAft>
              <a:buClr>
                <a:srgbClr val="000000"/>
              </a:buClr>
              <a:buSzPts val="1400"/>
              <a:buAutoNum type="arabicPeriod"/>
            </a:pPr>
            <a:r>
              <a:rPr lang="es-419" sz="1400" b="1" dirty="0">
                <a:solidFill>
                  <a:srgbClr val="000000"/>
                </a:solidFill>
              </a:rPr>
              <a:t>Decide</a:t>
            </a:r>
            <a:r>
              <a:rPr lang="es-419" sz="1400" dirty="0">
                <a:solidFill>
                  <a:srgbClr val="000000"/>
                </a:solidFill>
              </a:rPr>
              <a:t> acciones en base a objetivos y reglas.</a:t>
            </a:r>
            <a:br>
              <a:rPr lang="es-419" sz="1400" dirty="0">
                <a:solidFill>
                  <a:srgbClr val="000000"/>
                </a:solidFill>
              </a:rPr>
            </a:br>
            <a:endParaRPr sz="1400" dirty="0">
              <a:solidFill>
                <a:srgbClr val="000000"/>
              </a:solidFill>
            </a:endParaRPr>
          </a:p>
          <a:p>
            <a:pPr marL="457200" lvl="0" indent="-317500" algn="l" rtl="0">
              <a:lnSpc>
                <a:spcPct val="115000"/>
              </a:lnSpc>
              <a:spcBef>
                <a:spcPts val="0"/>
              </a:spcBef>
              <a:spcAft>
                <a:spcPts val="0"/>
              </a:spcAft>
              <a:buClr>
                <a:srgbClr val="000000"/>
              </a:buClr>
              <a:buSzPts val="1400"/>
              <a:buAutoNum type="arabicPeriod"/>
            </a:pPr>
            <a:r>
              <a:rPr lang="es-419" sz="1400" b="1" dirty="0">
                <a:solidFill>
                  <a:srgbClr val="000000"/>
                </a:solidFill>
              </a:rPr>
              <a:t>Actúa</a:t>
            </a:r>
            <a:r>
              <a:rPr lang="es-419" sz="1400" dirty="0">
                <a:solidFill>
                  <a:srgbClr val="000000"/>
                </a:solidFill>
              </a:rPr>
              <a:t> en el entorno.</a:t>
            </a:r>
            <a:br>
              <a:rPr lang="es-419" sz="1400" dirty="0">
                <a:solidFill>
                  <a:srgbClr val="000000"/>
                </a:solidFill>
              </a:rPr>
            </a:br>
            <a:endParaRPr sz="1400" dirty="0">
              <a:solidFill>
                <a:srgbClr val="000000"/>
              </a:solidFill>
            </a:endParaRPr>
          </a:p>
          <a:p>
            <a:pPr marL="457200" lvl="0" indent="-317500" algn="l" rtl="0">
              <a:lnSpc>
                <a:spcPct val="115000"/>
              </a:lnSpc>
              <a:spcBef>
                <a:spcPts val="0"/>
              </a:spcBef>
              <a:spcAft>
                <a:spcPts val="0"/>
              </a:spcAft>
              <a:buClr>
                <a:srgbClr val="000000"/>
              </a:buClr>
              <a:buSzPts val="1400"/>
              <a:buAutoNum type="arabicPeriod"/>
            </a:pPr>
            <a:r>
              <a:rPr lang="es-419" sz="1400" b="1" dirty="0">
                <a:solidFill>
                  <a:srgbClr val="000000"/>
                </a:solidFill>
              </a:rPr>
              <a:t>Evalúa</a:t>
            </a:r>
            <a:r>
              <a:rPr lang="es-419" sz="1400" dirty="0">
                <a:solidFill>
                  <a:srgbClr val="000000"/>
                </a:solidFill>
              </a:rPr>
              <a:t> el resultado para ajustar su estrategia.</a:t>
            </a:r>
            <a:endParaRPr sz="1400" dirty="0">
              <a:solidFill>
                <a:srgbClr val="000000"/>
              </a:solidFill>
            </a:endParaRPr>
          </a:p>
        </p:txBody>
      </p:sp>
      <p:sp>
        <p:nvSpPr>
          <p:cNvPr id="218" name="Google Shape;218;p24"/>
          <p:cNvSpPr txBox="1"/>
          <p:nvPr/>
        </p:nvSpPr>
        <p:spPr>
          <a:xfrm>
            <a:off x="4467150" y="1683050"/>
            <a:ext cx="4372800" cy="396105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s-419" sz="1400" dirty="0">
                <a:solidFill>
                  <a:srgbClr val="000000"/>
                </a:solidFill>
              </a:rPr>
              <a:t>Ej. Cuando combinamos un </a:t>
            </a:r>
            <a:r>
              <a:rPr lang="es-419" sz="1400" b="1" dirty="0">
                <a:solidFill>
                  <a:srgbClr val="000000"/>
                </a:solidFill>
              </a:rPr>
              <a:t>LLM</a:t>
            </a:r>
            <a:r>
              <a:rPr lang="es-419" sz="1400" dirty="0">
                <a:solidFill>
                  <a:srgbClr val="000000"/>
                </a:solidFill>
              </a:rPr>
              <a:t> con herramientas externas y memoria, obtenemos </a:t>
            </a:r>
            <a:r>
              <a:rPr lang="es-419" sz="1400" b="1" dirty="0">
                <a:solidFill>
                  <a:srgbClr val="000000"/>
                </a:solidFill>
              </a:rPr>
              <a:t>agentes cognitivos</a:t>
            </a:r>
            <a:r>
              <a:rPr lang="es-419" sz="1400" dirty="0">
                <a:solidFill>
                  <a:srgbClr val="000000"/>
                </a:solidFill>
              </a:rPr>
              <a:t> capaces de:</a:t>
            </a:r>
            <a:endParaRPr sz="1400" dirty="0">
              <a:solidFill>
                <a:srgbClr val="000000"/>
              </a:solidFill>
            </a:endParaRPr>
          </a:p>
          <a:p>
            <a:pPr marL="457200" lvl="0" indent="-317500" algn="l" rtl="0">
              <a:lnSpc>
                <a:spcPct val="115000"/>
              </a:lnSpc>
              <a:spcBef>
                <a:spcPts val="1200"/>
              </a:spcBef>
              <a:spcAft>
                <a:spcPts val="0"/>
              </a:spcAft>
              <a:buClr>
                <a:srgbClr val="000000"/>
              </a:buClr>
              <a:buSzPts val="1400"/>
              <a:buChar char="●"/>
            </a:pPr>
            <a:r>
              <a:rPr lang="es-419" sz="1400" dirty="0">
                <a:solidFill>
                  <a:srgbClr val="000000"/>
                </a:solidFill>
              </a:rPr>
              <a:t>Llamar a </a:t>
            </a:r>
            <a:r>
              <a:rPr lang="es-419" sz="1400" dirty="0" err="1">
                <a:solidFill>
                  <a:srgbClr val="000000"/>
                </a:solidFill>
              </a:rPr>
              <a:t>APIs</a:t>
            </a:r>
            <a:r>
              <a:rPr lang="es-419" sz="1400" dirty="0">
                <a:solidFill>
                  <a:srgbClr val="000000"/>
                </a:solidFill>
              </a:rPr>
              <a:t> (por ejemplo, consultar una base de datos clínica).</a:t>
            </a:r>
            <a:br>
              <a:rPr lang="es-419" sz="1400" dirty="0">
                <a:solidFill>
                  <a:srgbClr val="000000"/>
                </a:solidFill>
              </a:rPr>
            </a:br>
            <a:endParaRPr sz="1400" dirty="0">
              <a:solidFill>
                <a:srgbClr val="000000"/>
              </a:solidFill>
            </a:endParaRPr>
          </a:p>
          <a:p>
            <a:pPr marL="457200" lvl="0" indent="-317500" algn="l" rtl="0">
              <a:lnSpc>
                <a:spcPct val="115000"/>
              </a:lnSpc>
              <a:spcBef>
                <a:spcPts val="0"/>
              </a:spcBef>
              <a:spcAft>
                <a:spcPts val="0"/>
              </a:spcAft>
              <a:buClr>
                <a:srgbClr val="000000"/>
              </a:buClr>
              <a:buSzPts val="1400"/>
              <a:buChar char="●"/>
            </a:pPr>
            <a:r>
              <a:rPr lang="es-419" sz="1400" dirty="0">
                <a:solidFill>
                  <a:srgbClr val="000000"/>
                </a:solidFill>
              </a:rPr>
              <a:t>Usar razonamiento iterativo (planificar pasos antes de responder).</a:t>
            </a:r>
            <a:br>
              <a:rPr lang="es-419" sz="1400" dirty="0">
                <a:solidFill>
                  <a:srgbClr val="000000"/>
                </a:solidFill>
              </a:rPr>
            </a:br>
            <a:endParaRPr sz="1400" dirty="0">
              <a:solidFill>
                <a:srgbClr val="000000"/>
              </a:solidFill>
            </a:endParaRPr>
          </a:p>
          <a:p>
            <a:pPr marL="457200" lvl="0" indent="-317500" algn="l" rtl="0">
              <a:lnSpc>
                <a:spcPct val="115000"/>
              </a:lnSpc>
              <a:spcBef>
                <a:spcPts val="0"/>
              </a:spcBef>
              <a:spcAft>
                <a:spcPts val="0"/>
              </a:spcAft>
              <a:buClr>
                <a:srgbClr val="000000"/>
              </a:buClr>
              <a:buSzPts val="1400"/>
              <a:buChar char="●"/>
            </a:pPr>
            <a:r>
              <a:rPr lang="es-419" sz="1400" dirty="0">
                <a:solidFill>
                  <a:srgbClr val="000000"/>
                </a:solidFill>
              </a:rPr>
              <a:t>Recordar interacciones previas (memoria a corto/largo plazo).</a:t>
            </a:r>
            <a:br>
              <a:rPr lang="es-419" sz="1400" dirty="0">
                <a:solidFill>
                  <a:srgbClr val="000000"/>
                </a:solidFill>
              </a:rPr>
            </a:br>
            <a:endParaRPr sz="1400" dirty="0">
              <a:solidFill>
                <a:srgbClr val="000000"/>
              </a:solidFill>
            </a:endParaRPr>
          </a:p>
          <a:p>
            <a:pPr marL="457200" lvl="0" indent="-317500" algn="l" rtl="0">
              <a:lnSpc>
                <a:spcPct val="115000"/>
              </a:lnSpc>
              <a:spcBef>
                <a:spcPts val="0"/>
              </a:spcBef>
              <a:spcAft>
                <a:spcPts val="0"/>
              </a:spcAft>
              <a:buClr>
                <a:srgbClr val="000000"/>
              </a:buClr>
              <a:buSzPts val="1400"/>
              <a:buChar char="●"/>
            </a:pPr>
            <a:r>
              <a:rPr lang="es-419" sz="1400" dirty="0">
                <a:solidFill>
                  <a:srgbClr val="000000"/>
                </a:solidFill>
              </a:rPr>
              <a:t>Tomar decisiones autónomas para cumplir una meta.</a:t>
            </a:r>
            <a:endParaRPr sz="1400" dirty="0">
              <a:solidFill>
                <a:srgbClr val="000000"/>
              </a:solidFill>
            </a:endParaRPr>
          </a:p>
        </p:txBody>
      </p:sp>
    </p:spTree>
    <p:extLst>
      <p:ext uri="{BB962C8B-B14F-4D97-AF65-F5344CB8AC3E}">
        <p14:creationId xmlns:p14="http://schemas.microsoft.com/office/powerpoint/2010/main" val="2817161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5" name="Google Shape;225;p25"/>
          <p:cNvPicPr preferRelativeResize="0"/>
          <p:nvPr/>
        </p:nvPicPr>
        <p:blipFill>
          <a:blip r:embed="rId3">
            <a:alphaModFix/>
          </a:blip>
          <a:stretch>
            <a:fillRect/>
          </a:stretch>
        </p:blipFill>
        <p:spPr>
          <a:xfrm rot="5400000">
            <a:off x="-94856" y="4442293"/>
            <a:ext cx="1507750" cy="1318050"/>
          </a:xfrm>
          <a:prstGeom prst="rect">
            <a:avLst/>
          </a:prstGeom>
          <a:noFill/>
          <a:ln>
            <a:noFill/>
          </a:ln>
        </p:spPr>
      </p:pic>
      <p:pic>
        <p:nvPicPr>
          <p:cNvPr id="226" name="Google Shape;226;p25"/>
          <p:cNvPicPr preferRelativeResize="0"/>
          <p:nvPr/>
        </p:nvPicPr>
        <p:blipFill>
          <a:blip r:embed="rId3">
            <a:alphaModFix/>
          </a:blip>
          <a:stretch>
            <a:fillRect/>
          </a:stretch>
        </p:blipFill>
        <p:spPr>
          <a:xfrm rot="-5400000">
            <a:off x="7662175" y="1428326"/>
            <a:ext cx="1581276" cy="1382375"/>
          </a:xfrm>
          <a:prstGeom prst="rect">
            <a:avLst/>
          </a:prstGeom>
          <a:noFill/>
          <a:ln>
            <a:noFill/>
          </a:ln>
        </p:spPr>
      </p:pic>
      <p:pic>
        <p:nvPicPr>
          <p:cNvPr id="231" name="Google Shape;231;p25"/>
          <p:cNvPicPr preferRelativeResize="0"/>
          <p:nvPr/>
        </p:nvPicPr>
        <p:blipFill>
          <a:blip r:embed="rId4">
            <a:alphaModFix/>
          </a:blip>
          <a:stretch>
            <a:fillRect/>
          </a:stretch>
        </p:blipFill>
        <p:spPr>
          <a:xfrm>
            <a:off x="1428075" y="1956651"/>
            <a:ext cx="7116874" cy="3570125"/>
          </a:xfrm>
          <a:prstGeom prst="rect">
            <a:avLst/>
          </a:prstGeom>
          <a:noFill/>
          <a:ln>
            <a:noFill/>
          </a:ln>
        </p:spPr>
      </p:pic>
      <p:sp>
        <p:nvSpPr>
          <p:cNvPr id="2" name="Google Shape;215;p24">
            <a:extLst>
              <a:ext uri="{FF2B5EF4-FFF2-40B4-BE49-F238E27FC236}">
                <a16:creationId xmlns:a16="http://schemas.microsoft.com/office/drawing/2014/main" id="{9BAFED12-038B-41DF-E517-0DA764A8DD0E}"/>
              </a:ext>
            </a:extLst>
          </p:cNvPr>
          <p:cNvSpPr txBox="1"/>
          <p:nvPr/>
        </p:nvSpPr>
        <p:spPr>
          <a:xfrm>
            <a:off x="2438400" y="618944"/>
            <a:ext cx="5181600" cy="6155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2800" b="1" i="1" dirty="0"/>
              <a:t>¿Qué son los Agentes?</a:t>
            </a:r>
            <a:endParaRPr sz="2800" b="1" i="1" dirty="0"/>
          </a:p>
        </p:txBody>
      </p:sp>
      <p:pic>
        <p:nvPicPr>
          <p:cNvPr id="3" name="Google Shape;216;p24" descr="a man wearing a hat and sunglasses looks like a secret service agent (proporcionada por Tenor)">
            <a:extLst>
              <a:ext uri="{FF2B5EF4-FFF2-40B4-BE49-F238E27FC236}">
                <a16:creationId xmlns:a16="http://schemas.microsoft.com/office/drawing/2014/main" id="{A7F2A717-1350-22F9-E98F-01AD6B83402B}"/>
              </a:ext>
            </a:extLst>
          </p:cNvPr>
          <p:cNvPicPr preferRelativeResize="0"/>
          <p:nvPr/>
        </p:nvPicPr>
        <p:blipFill>
          <a:blip r:embed="rId5">
            <a:alphaModFix/>
          </a:blip>
          <a:stretch>
            <a:fillRect/>
          </a:stretch>
        </p:blipFill>
        <p:spPr>
          <a:xfrm>
            <a:off x="625491" y="1071500"/>
            <a:ext cx="1223100" cy="1223100"/>
          </a:xfrm>
          <a:prstGeom prst="rect">
            <a:avLst/>
          </a:prstGeom>
          <a:noFill/>
          <a:ln>
            <a:noFill/>
          </a:ln>
        </p:spPr>
      </p:pic>
    </p:spTree>
    <p:extLst>
      <p:ext uri="{BB962C8B-B14F-4D97-AF65-F5344CB8AC3E}">
        <p14:creationId xmlns:p14="http://schemas.microsoft.com/office/powerpoint/2010/main" val="3492944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9" name="Google Shape;249;p27"/>
          <p:cNvSpPr/>
          <p:nvPr/>
        </p:nvSpPr>
        <p:spPr>
          <a:xfrm>
            <a:off x="0" y="5855200"/>
            <a:ext cx="9144000" cy="145500"/>
          </a:xfrm>
          <a:prstGeom prst="rect">
            <a:avLst/>
          </a:prstGeom>
          <a:solidFill>
            <a:srgbClr val="00AD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pic>
        <p:nvPicPr>
          <p:cNvPr id="250" name="Google Shape;250;p27"/>
          <p:cNvPicPr preferRelativeResize="0"/>
          <p:nvPr/>
        </p:nvPicPr>
        <p:blipFill>
          <a:blip r:embed="rId3">
            <a:alphaModFix/>
          </a:blip>
          <a:stretch>
            <a:fillRect/>
          </a:stretch>
        </p:blipFill>
        <p:spPr>
          <a:xfrm rot="5400000">
            <a:off x="-94856" y="4442293"/>
            <a:ext cx="1507750" cy="1318050"/>
          </a:xfrm>
          <a:prstGeom prst="rect">
            <a:avLst/>
          </a:prstGeom>
          <a:noFill/>
          <a:ln>
            <a:noFill/>
          </a:ln>
        </p:spPr>
      </p:pic>
      <p:pic>
        <p:nvPicPr>
          <p:cNvPr id="253" name="Google Shape;253;p27"/>
          <p:cNvPicPr preferRelativeResize="0"/>
          <p:nvPr/>
        </p:nvPicPr>
        <p:blipFill rotWithShape="1">
          <a:blip r:embed="rId4">
            <a:alphaModFix/>
          </a:blip>
          <a:srcRect t="8583"/>
          <a:stretch/>
        </p:blipFill>
        <p:spPr>
          <a:xfrm>
            <a:off x="1237041" y="2443998"/>
            <a:ext cx="6918508" cy="3007701"/>
          </a:xfrm>
          <a:prstGeom prst="rect">
            <a:avLst/>
          </a:prstGeom>
          <a:noFill/>
          <a:ln>
            <a:noFill/>
          </a:ln>
        </p:spPr>
      </p:pic>
      <p:pic>
        <p:nvPicPr>
          <p:cNvPr id="254" name="Google Shape;254;p27"/>
          <p:cNvPicPr preferRelativeResize="0"/>
          <p:nvPr/>
        </p:nvPicPr>
        <p:blipFill>
          <a:blip r:embed="rId3">
            <a:alphaModFix/>
          </a:blip>
          <a:stretch>
            <a:fillRect/>
          </a:stretch>
        </p:blipFill>
        <p:spPr>
          <a:xfrm rot="-5400000">
            <a:off x="7662175" y="1428326"/>
            <a:ext cx="1581276" cy="1382375"/>
          </a:xfrm>
          <a:prstGeom prst="rect">
            <a:avLst/>
          </a:prstGeom>
          <a:noFill/>
          <a:ln>
            <a:noFill/>
          </a:ln>
        </p:spPr>
      </p:pic>
      <p:sp>
        <p:nvSpPr>
          <p:cNvPr id="255" name="Google Shape;255;p27"/>
          <p:cNvSpPr txBox="1"/>
          <p:nvPr/>
        </p:nvSpPr>
        <p:spPr>
          <a:xfrm>
            <a:off x="2209799" y="1328925"/>
            <a:ext cx="6776425"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1800" b="1" i="1" dirty="0" err="1"/>
              <a:t>Ej</a:t>
            </a:r>
            <a:r>
              <a:rPr lang="es-419" sz="1800" b="1" i="1" dirty="0"/>
              <a:t>, no se usa directo un LLM, sino que  pasamos por flujos </a:t>
            </a:r>
            <a:r>
              <a:rPr lang="es-419" sz="1800" b="1" i="1" dirty="0" err="1"/>
              <a:t>agénticos</a:t>
            </a:r>
            <a:endParaRPr sz="1800" b="1" i="1" dirty="0"/>
          </a:p>
        </p:txBody>
      </p:sp>
      <p:sp>
        <p:nvSpPr>
          <p:cNvPr id="2" name="Google Shape;215;p24">
            <a:extLst>
              <a:ext uri="{FF2B5EF4-FFF2-40B4-BE49-F238E27FC236}">
                <a16:creationId xmlns:a16="http://schemas.microsoft.com/office/drawing/2014/main" id="{89310973-5CD1-3D4B-46F8-5670F2EB8D61}"/>
              </a:ext>
            </a:extLst>
          </p:cNvPr>
          <p:cNvSpPr txBox="1"/>
          <p:nvPr/>
        </p:nvSpPr>
        <p:spPr>
          <a:xfrm>
            <a:off x="2438400" y="618944"/>
            <a:ext cx="5181600" cy="6155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2800" b="1" i="1" dirty="0"/>
              <a:t>¿Qué son los Agentes?</a:t>
            </a:r>
            <a:endParaRPr sz="2800" b="1" i="1" dirty="0"/>
          </a:p>
        </p:txBody>
      </p:sp>
      <p:pic>
        <p:nvPicPr>
          <p:cNvPr id="3" name="Google Shape;216;p24" descr="a man wearing a hat and sunglasses looks like a secret service agent (proporcionada por Tenor)">
            <a:extLst>
              <a:ext uri="{FF2B5EF4-FFF2-40B4-BE49-F238E27FC236}">
                <a16:creationId xmlns:a16="http://schemas.microsoft.com/office/drawing/2014/main" id="{C341D0E1-1C2B-53FE-86F5-277C8D233903}"/>
              </a:ext>
            </a:extLst>
          </p:cNvPr>
          <p:cNvPicPr preferRelativeResize="0"/>
          <p:nvPr/>
        </p:nvPicPr>
        <p:blipFill>
          <a:blip r:embed="rId5">
            <a:alphaModFix/>
          </a:blip>
          <a:stretch>
            <a:fillRect/>
          </a:stretch>
        </p:blipFill>
        <p:spPr>
          <a:xfrm>
            <a:off x="625491" y="1071500"/>
            <a:ext cx="1223100" cy="1223100"/>
          </a:xfrm>
          <a:prstGeom prst="rect">
            <a:avLst/>
          </a:prstGeom>
          <a:noFill/>
          <a:ln>
            <a:noFill/>
          </a:ln>
        </p:spPr>
      </p:pic>
    </p:spTree>
    <p:extLst>
      <p:ext uri="{BB962C8B-B14F-4D97-AF65-F5344CB8AC3E}">
        <p14:creationId xmlns:p14="http://schemas.microsoft.com/office/powerpoint/2010/main" val="2138951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5AA5591-86FB-4C62-8557-FCAB83F41E99}"/>
              </a:ext>
            </a:extLst>
          </p:cNvPr>
          <p:cNvSpPr>
            <a:spLocks noGrp="1" noChangeArrowheads="1"/>
          </p:cNvSpPr>
          <p:nvPr>
            <p:ph type="title"/>
          </p:nvPr>
        </p:nvSpPr>
        <p:spPr/>
        <p:txBody>
          <a:bodyPr/>
          <a:lstStyle/>
          <a:p>
            <a:pPr eaLnBrk="1" hangingPunct="1"/>
            <a:r>
              <a:rPr lang="en-US" altLang="es-AR"/>
              <a:t>Agentes</a:t>
            </a:r>
          </a:p>
        </p:txBody>
      </p:sp>
      <p:sp>
        <p:nvSpPr>
          <p:cNvPr id="5123" name="Rectangle 3">
            <a:extLst>
              <a:ext uri="{FF2B5EF4-FFF2-40B4-BE49-F238E27FC236}">
                <a16:creationId xmlns:a16="http://schemas.microsoft.com/office/drawing/2014/main" id="{85209414-7428-4358-88A9-9E2A0DD81E79}"/>
              </a:ext>
            </a:extLst>
          </p:cNvPr>
          <p:cNvSpPr>
            <a:spLocks noGrp="1" noChangeArrowheads="1"/>
          </p:cNvSpPr>
          <p:nvPr>
            <p:ph type="body" idx="1"/>
          </p:nvPr>
        </p:nvSpPr>
        <p:spPr>
          <a:xfrm>
            <a:off x="762000" y="1524000"/>
            <a:ext cx="8229600" cy="4525963"/>
          </a:xfrm>
        </p:spPr>
        <p:txBody>
          <a:bodyPr/>
          <a:lstStyle/>
          <a:p>
            <a:pPr eaLnBrk="1" hangingPunct="1">
              <a:lnSpc>
                <a:spcPct val="90000"/>
              </a:lnSpc>
              <a:buFontTx/>
              <a:buNone/>
            </a:pPr>
            <a:r>
              <a:rPr lang="es-ES" altLang="es-AR" sz="2400"/>
              <a:t>Un </a:t>
            </a:r>
            <a:r>
              <a:rPr lang="es-ES" altLang="es-AR" sz="2400">
                <a:solidFill>
                  <a:srgbClr val="FF0000"/>
                </a:solidFill>
              </a:rPr>
              <a:t>agente</a:t>
            </a:r>
            <a:r>
              <a:rPr lang="es-ES" altLang="es-AR" sz="2400"/>
              <a:t> es una entidad que puede </a:t>
            </a:r>
            <a:r>
              <a:rPr lang="es-ES" altLang="es-AR" sz="2400">
                <a:solidFill>
                  <a:srgbClr val="FF0000"/>
                </a:solidFill>
              </a:rPr>
              <a:t>percibir </a:t>
            </a:r>
            <a:r>
              <a:rPr lang="es-ES" altLang="es-AR" sz="2400"/>
              <a:t>su entorno mediante </a:t>
            </a:r>
            <a:r>
              <a:rPr lang="es-ES" altLang="es-AR" sz="2400">
                <a:solidFill>
                  <a:srgbClr val="FF0000"/>
                </a:solidFill>
              </a:rPr>
              <a:t>sensores</a:t>
            </a:r>
            <a:r>
              <a:rPr lang="es-ES" altLang="es-AR" sz="2400"/>
              <a:t> y </a:t>
            </a:r>
            <a:r>
              <a:rPr lang="es-ES" altLang="es-AR" sz="2400">
                <a:solidFill>
                  <a:srgbClr val="FF0000"/>
                </a:solidFill>
              </a:rPr>
              <a:t>actuar </a:t>
            </a:r>
            <a:r>
              <a:rPr lang="es-ES" altLang="es-AR" sz="2400"/>
              <a:t>sobre dicho entorno a través de </a:t>
            </a:r>
            <a:r>
              <a:rPr lang="es-ES" altLang="es-AR" sz="2400">
                <a:solidFill>
                  <a:srgbClr val="FF0000"/>
                </a:solidFill>
              </a:rPr>
              <a:t>actuadores</a:t>
            </a:r>
            <a:r>
              <a:rPr lang="es-ES" altLang="es-AR" sz="2400"/>
              <a:t>
</a:t>
            </a:r>
          </a:p>
        </p:txBody>
      </p:sp>
      <p:pic>
        <p:nvPicPr>
          <p:cNvPr id="5124" name="Picture 4">
            <a:extLst>
              <a:ext uri="{FF2B5EF4-FFF2-40B4-BE49-F238E27FC236}">
                <a16:creationId xmlns:a16="http://schemas.microsoft.com/office/drawing/2014/main" id="{392AE8D9-AF58-4334-827D-EF0F61226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743200"/>
            <a:ext cx="4554538"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a:extLst>
              <a:ext uri="{FF2B5EF4-FFF2-40B4-BE49-F238E27FC236}">
                <a16:creationId xmlns:a16="http://schemas.microsoft.com/office/drawing/2014/main" id="{4C7660AA-4A3B-4A7B-A074-8FD171472D6F}"/>
              </a:ext>
            </a:extLst>
          </p:cNvPr>
          <p:cNvSpPr/>
          <p:nvPr/>
        </p:nvSpPr>
        <p:spPr>
          <a:xfrm>
            <a:off x="609600" y="5024438"/>
            <a:ext cx="8229600" cy="1262062"/>
          </a:xfrm>
          <a:prstGeom prst="rect">
            <a:avLst/>
          </a:prstGeom>
        </p:spPr>
        <p:txBody>
          <a:bodyPr>
            <a:spAutoFit/>
          </a:bodyPr>
          <a:lstStyle/>
          <a:p>
            <a:pPr marL="342900" indent="-342900">
              <a:lnSpc>
                <a:spcPct val="90000"/>
              </a:lnSpc>
              <a:spcBef>
                <a:spcPct val="20000"/>
              </a:spcBef>
              <a:defRPr/>
            </a:pPr>
            <a:r>
              <a:rPr lang="es-ES" sz="2000" u="sng" kern="0" dirty="0">
                <a:solidFill>
                  <a:srgbClr val="000000"/>
                </a:solidFill>
                <a:latin typeface="Arial"/>
              </a:rPr>
              <a:t>Agente humano</a:t>
            </a:r>
            <a:r>
              <a:rPr lang="es-ES" sz="2000" kern="0" dirty="0">
                <a:solidFill>
                  <a:srgbClr val="000000"/>
                </a:solidFill>
                <a:latin typeface="Arial"/>
              </a:rPr>
              <a:t>: </a:t>
            </a:r>
            <a:r>
              <a:rPr lang="es-ES" sz="2000" kern="0" dirty="0">
                <a:solidFill>
                  <a:srgbClr val="333399"/>
                </a:solidFill>
                <a:latin typeface="Arial"/>
              </a:rPr>
              <a:t>ojos, oídos, y otros órganos como sensores; manos, pies, boca y otras partes del cuerpo como actuadores.</a:t>
            </a:r>
          </a:p>
          <a:p>
            <a:pPr marL="342900" indent="-342900">
              <a:lnSpc>
                <a:spcPct val="90000"/>
              </a:lnSpc>
              <a:spcBef>
                <a:spcPct val="20000"/>
              </a:spcBef>
              <a:defRPr/>
            </a:pPr>
            <a:r>
              <a:rPr lang="es-ES" sz="2000" u="sng" kern="0" dirty="0">
                <a:solidFill>
                  <a:srgbClr val="000000"/>
                </a:solidFill>
                <a:latin typeface="Arial"/>
              </a:rPr>
              <a:t>Agente robótico</a:t>
            </a:r>
            <a:r>
              <a:rPr lang="es-ES" sz="2000" kern="0" dirty="0">
                <a:solidFill>
                  <a:srgbClr val="000000"/>
                </a:solidFill>
                <a:latin typeface="Arial"/>
              </a:rPr>
              <a:t>: </a:t>
            </a:r>
            <a:r>
              <a:rPr lang="es-ES" sz="2000" kern="0" dirty="0">
                <a:solidFill>
                  <a:srgbClr val="333399"/>
                </a:solidFill>
                <a:latin typeface="Arial"/>
              </a:rPr>
              <a:t>cámaras, infrarrojo, como sensores ; motores como actuadores.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Rectangle 2">
            <a:extLst>
              <a:ext uri="{FF2B5EF4-FFF2-40B4-BE49-F238E27FC236}">
                <a16:creationId xmlns:a16="http://schemas.microsoft.com/office/drawing/2014/main" id="{CC164416-02F4-4266-BCEF-806863FBED36}"/>
              </a:ext>
            </a:extLst>
          </p:cNvPr>
          <p:cNvSpPr>
            <a:spLocks noGrp="1" noChangeArrowheads="1"/>
          </p:cNvSpPr>
          <p:nvPr>
            <p:ph type="title"/>
          </p:nvPr>
        </p:nvSpPr>
        <p:spPr>
          <a:xfrm>
            <a:off x="480060" y="329184"/>
            <a:ext cx="5170932" cy="1783080"/>
          </a:xfrm>
        </p:spPr>
        <p:txBody>
          <a:bodyPr anchor="b">
            <a:normAutofit/>
          </a:bodyPr>
          <a:lstStyle/>
          <a:p>
            <a:pPr eaLnBrk="1" hangingPunct="1"/>
            <a:r>
              <a:rPr lang="en-US" altLang="es-AR" sz="4700"/>
              <a:t>Agentes y entornos</a:t>
            </a:r>
          </a:p>
        </p:txBody>
      </p:sp>
      <p:sp>
        <p:nvSpPr>
          <p:cNvPr id="615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214" y="2395728"/>
            <a:ext cx="3182691" cy="18288"/>
          </a:xfrm>
          <a:custGeom>
            <a:avLst/>
            <a:gdLst>
              <a:gd name="connsiteX0" fmla="*/ 0 w 3182691"/>
              <a:gd name="connsiteY0" fmla="*/ 0 h 18288"/>
              <a:gd name="connsiteX1" fmla="*/ 636538 w 3182691"/>
              <a:gd name="connsiteY1" fmla="*/ 0 h 18288"/>
              <a:gd name="connsiteX2" fmla="*/ 1273076 w 3182691"/>
              <a:gd name="connsiteY2" fmla="*/ 0 h 18288"/>
              <a:gd name="connsiteX3" fmla="*/ 1909615 w 3182691"/>
              <a:gd name="connsiteY3" fmla="*/ 0 h 18288"/>
              <a:gd name="connsiteX4" fmla="*/ 2482499 w 3182691"/>
              <a:gd name="connsiteY4" fmla="*/ 0 h 18288"/>
              <a:gd name="connsiteX5" fmla="*/ 3182691 w 3182691"/>
              <a:gd name="connsiteY5" fmla="*/ 0 h 18288"/>
              <a:gd name="connsiteX6" fmla="*/ 3182691 w 3182691"/>
              <a:gd name="connsiteY6" fmla="*/ 18288 h 18288"/>
              <a:gd name="connsiteX7" fmla="*/ 2609807 w 3182691"/>
              <a:gd name="connsiteY7" fmla="*/ 18288 h 18288"/>
              <a:gd name="connsiteX8" fmla="*/ 2068749 w 3182691"/>
              <a:gd name="connsiteY8" fmla="*/ 18288 h 18288"/>
              <a:gd name="connsiteX9" fmla="*/ 1432211 w 3182691"/>
              <a:gd name="connsiteY9" fmla="*/ 18288 h 18288"/>
              <a:gd name="connsiteX10" fmla="*/ 859327 w 3182691"/>
              <a:gd name="connsiteY10" fmla="*/ 18288 h 18288"/>
              <a:gd name="connsiteX11" fmla="*/ 0 w 3182691"/>
              <a:gd name="connsiteY11" fmla="*/ 18288 h 18288"/>
              <a:gd name="connsiteX12" fmla="*/ 0 w 3182691"/>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7" name="Rectangle 3">
            <a:extLst>
              <a:ext uri="{FF2B5EF4-FFF2-40B4-BE49-F238E27FC236}">
                <a16:creationId xmlns:a16="http://schemas.microsoft.com/office/drawing/2014/main" id="{F67163AE-22C5-4885-9EF1-1B3F23739B45}"/>
              </a:ext>
            </a:extLst>
          </p:cNvPr>
          <p:cNvSpPr>
            <a:spLocks noGrp="1" noChangeArrowheads="1"/>
          </p:cNvSpPr>
          <p:nvPr>
            <p:ph type="body" idx="1"/>
          </p:nvPr>
        </p:nvSpPr>
        <p:spPr>
          <a:xfrm>
            <a:off x="480060" y="2706624"/>
            <a:ext cx="5170932" cy="3483864"/>
          </a:xfrm>
        </p:spPr>
        <p:txBody>
          <a:bodyPr>
            <a:normAutofit/>
          </a:bodyPr>
          <a:lstStyle/>
          <a:p>
            <a:pPr eaLnBrk="1" hangingPunct="1">
              <a:buFontTx/>
              <a:buNone/>
            </a:pPr>
            <a:r>
              <a:rPr lang="es-ES" altLang="es-AR" sz="1900"/>
              <a:t>La función del agente mapea historias de percepciones a acciones:
				[</a:t>
            </a:r>
            <a:r>
              <a:rPr lang="es-ES" altLang="es-AR" sz="1900" i="1"/>
              <a:t>f</a:t>
            </a:r>
            <a:r>
              <a:rPr lang="es-ES" altLang="es-AR" sz="1900"/>
              <a:t>: </a:t>
            </a:r>
            <a:r>
              <a:rPr lang="es-ES" altLang="es-AR" sz="1900">
                <a:latin typeface="Monotype Corsiva" panose="03010101010201010101" pitchFamily="66" charset="0"/>
              </a:rPr>
              <a:t>P*</a:t>
            </a:r>
            <a:r>
              <a:rPr lang="es-ES" altLang="es-AR" sz="1900"/>
              <a:t> </a:t>
            </a:r>
            <a:r>
              <a:rPr lang="es-ES" altLang="es-AR" sz="1900">
                <a:sym typeface="Wingdings" panose="05000000000000000000" pitchFamily="2" charset="2"/>
              </a:rPr>
              <a:t> </a:t>
            </a:r>
            <a:r>
              <a:rPr lang="es-ES" altLang="es-AR" sz="1900">
                <a:latin typeface="Monotype Corsiva" panose="03010101010201010101" pitchFamily="66" charset="0"/>
              </a:rPr>
              <a:t>A</a:t>
            </a:r>
            <a:r>
              <a:rPr lang="es-ES" altLang="es-AR" sz="1900"/>
              <a:t>]
El programa del agente  corre sobre una architectura física para ejecutar </a:t>
            </a:r>
            <a:r>
              <a:rPr lang="es-ES" altLang="es-AR" sz="1900" i="1"/>
              <a:t>f</a:t>
            </a:r>
          </a:p>
          <a:p>
            <a:pPr eaLnBrk="1" hangingPunct="1">
              <a:buFontTx/>
              <a:buNone/>
            </a:pPr>
            <a:endParaRPr lang="es-ES" altLang="es-AR" sz="1900"/>
          </a:p>
          <a:p>
            <a:pPr eaLnBrk="1" hangingPunct="1">
              <a:spcBef>
                <a:spcPct val="0"/>
              </a:spcBef>
              <a:buFontTx/>
              <a:buNone/>
            </a:pPr>
            <a:r>
              <a:rPr lang="es-ES" altLang="es-AR" sz="1900"/>
              <a:t>Agent = architecture + program
</a:t>
            </a:r>
          </a:p>
        </p:txBody>
      </p:sp>
      <p:pic>
        <p:nvPicPr>
          <p:cNvPr id="2" name="Google Shape;241;p26" descr="Diagrama&#10;&#10;El contenido generado por IA puede ser incorrecto.">
            <a:extLst>
              <a:ext uri="{FF2B5EF4-FFF2-40B4-BE49-F238E27FC236}">
                <a16:creationId xmlns:a16="http://schemas.microsoft.com/office/drawing/2014/main" id="{C5EEFFB8-51DB-600B-4641-9A4541839080}"/>
              </a:ext>
            </a:extLst>
          </p:cNvPr>
          <p:cNvPicPr preferRelativeResize="0"/>
          <p:nvPr/>
        </p:nvPicPr>
        <p:blipFill rotWithShape="1">
          <a:blip r:embed="rId2"/>
          <a:srcRect l="60240" t="23286" b="14816"/>
          <a:stretch>
            <a:fillRect/>
          </a:stretch>
        </p:blipFill>
        <p:spPr>
          <a:xfrm>
            <a:off x="5897880" y="866567"/>
            <a:ext cx="3010662" cy="2355201"/>
          </a:xfrm>
          <a:prstGeom prst="rect">
            <a:avLst/>
          </a:prstGeom>
          <a:noFill/>
        </p:spPr>
      </p:pic>
      <p:pic>
        <p:nvPicPr>
          <p:cNvPr id="6148" name="Picture 4" descr="agent-environment">
            <a:extLst>
              <a:ext uri="{FF2B5EF4-FFF2-40B4-BE49-F238E27FC236}">
                <a16:creationId xmlns:a16="http://schemas.microsoft.com/office/drawing/2014/main" id="{417D4999-69A0-4D26-BEB8-68B72EB39F9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57800" y="3816128"/>
            <a:ext cx="2996946" cy="135260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59FD10A-85BD-4CE3-8F74-963E54F238BB}"/>
              </a:ext>
            </a:extLst>
          </p:cNvPr>
          <p:cNvSpPr>
            <a:spLocks noGrp="1" noChangeArrowheads="1"/>
          </p:cNvSpPr>
          <p:nvPr>
            <p:ph type="title"/>
          </p:nvPr>
        </p:nvSpPr>
        <p:spPr/>
        <p:txBody>
          <a:bodyPr/>
          <a:lstStyle/>
          <a:p>
            <a:pPr eaLnBrk="1" hangingPunct="1"/>
            <a:r>
              <a:rPr lang="en-US" altLang="es-AR"/>
              <a:t>El mundo de la Aspiradora</a:t>
            </a:r>
          </a:p>
        </p:txBody>
      </p:sp>
      <p:sp>
        <p:nvSpPr>
          <p:cNvPr id="7171" name="Rectangle 3">
            <a:extLst>
              <a:ext uri="{FF2B5EF4-FFF2-40B4-BE49-F238E27FC236}">
                <a16:creationId xmlns:a16="http://schemas.microsoft.com/office/drawing/2014/main" id="{6E91FEBC-C844-45D0-9656-DCF0C3BC7608}"/>
              </a:ext>
            </a:extLst>
          </p:cNvPr>
          <p:cNvSpPr>
            <a:spLocks noGrp="1" noChangeArrowheads="1"/>
          </p:cNvSpPr>
          <p:nvPr>
            <p:ph type="body" idx="1"/>
          </p:nvPr>
        </p:nvSpPr>
        <p:spPr>
          <a:xfrm>
            <a:off x="457200" y="1600200"/>
            <a:ext cx="8534400" cy="4800600"/>
          </a:xfrm>
        </p:spPr>
        <p:txBody>
          <a:bodyPr/>
          <a:lstStyle/>
          <a:p>
            <a:pPr eaLnBrk="1" hangingPunct="1"/>
            <a:endParaRPr lang="es-ES" altLang="es-AR"/>
          </a:p>
          <a:p>
            <a:pPr eaLnBrk="1" hangingPunct="1"/>
            <a:endParaRPr lang="es-ES" altLang="es-AR"/>
          </a:p>
          <a:p>
            <a:pPr eaLnBrk="1" hangingPunct="1"/>
            <a:endParaRPr lang="es-ES" altLang="es-AR"/>
          </a:p>
          <a:p>
            <a:pPr eaLnBrk="1" hangingPunct="1"/>
            <a:endParaRPr lang="es-ES" altLang="es-AR"/>
          </a:p>
          <a:p>
            <a:pPr eaLnBrk="1" hangingPunct="1">
              <a:buFontTx/>
              <a:buNone/>
            </a:pPr>
            <a:r>
              <a:rPr lang="es-ES" altLang="es-AR" b="1"/>
              <a:t>Percepciones</a:t>
            </a:r>
            <a:r>
              <a:rPr lang="es-ES" altLang="es-AR"/>
              <a:t>: </a:t>
            </a:r>
            <a:r>
              <a:rPr lang="es-ES" altLang="es-AR">
                <a:solidFill>
                  <a:schemeClr val="accent2"/>
                </a:solidFill>
              </a:rPr>
              <a:t>ubicación y contenidos, </a:t>
            </a:r>
          </a:p>
          <a:p>
            <a:pPr eaLnBrk="1" hangingPunct="1">
              <a:buFontTx/>
              <a:buNone/>
            </a:pPr>
            <a:r>
              <a:rPr lang="es-ES" altLang="es-AR">
                <a:solidFill>
                  <a:schemeClr val="accent2"/>
                </a:solidFill>
              </a:rPr>
              <a:t>				por ejemplo [A,Sucio]</a:t>
            </a:r>
            <a:r>
              <a:rPr lang="es-ES" altLang="es-AR"/>
              <a:t>
</a:t>
            </a:r>
            <a:r>
              <a:rPr lang="es-ES" altLang="es-AR" b="1"/>
              <a:t>Acciones</a:t>
            </a:r>
            <a:r>
              <a:rPr lang="es-ES" altLang="es-AR"/>
              <a:t>: </a:t>
            </a:r>
            <a:r>
              <a:rPr lang="es-ES" altLang="es-AR" i="1">
                <a:solidFill>
                  <a:schemeClr val="accent2"/>
                </a:solidFill>
              </a:rPr>
              <a:t>Izquierda, Derecha, </a:t>
            </a:r>
          </a:p>
          <a:p>
            <a:pPr eaLnBrk="1" hangingPunct="1">
              <a:buFontTx/>
              <a:buNone/>
            </a:pPr>
            <a:r>
              <a:rPr lang="es-ES" altLang="es-AR" i="1">
                <a:solidFill>
                  <a:schemeClr val="accent2"/>
                </a:solidFill>
              </a:rPr>
              <a:t>			Aspirar, NoOp</a:t>
            </a:r>
            <a:r>
              <a:rPr lang="es-ES" altLang="es-AR" i="1"/>
              <a:t>.</a:t>
            </a:r>
            <a:endParaRPr lang="es-ES" altLang="es-AR"/>
          </a:p>
        </p:txBody>
      </p:sp>
      <p:pic>
        <p:nvPicPr>
          <p:cNvPr id="7172" name="Picture 4" descr="vacuum2-environment">
            <a:extLst>
              <a:ext uri="{FF2B5EF4-FFF2-40B4-BE49-F238E27FC236}">
                <a16:creationId xmlns:a16="http://schemas.microsoft.com/office/drawing/2014/main" id="{F1ABA986-B2C2-4033-AFEF-EF6FA2466A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828800"/>
            <a:ext cx="3201988"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3EF9D648-C5EF-4C97-9C46-5B5775EDCD63}"/>
              </a:ext>
            </a:extLst>
          </p:cNvPr>
          <p:cNvSpPr>
            <a:spLocks noGrp="1" noChangeArrowheads="1"/>
          </p:cNvSpPr>
          <p:nvPr>
            <p:ph type="title"/>
          </p:nvPr>
        </p:nvSpPr>
        <p:spPr/>
        <p:txBody>
          <a:bodyPr/>
          <a:lstStyle/>
          <a:p>
            <a:pPr eaLnBrk="1" hangingPunct="1"/>
            <a:r>
              <a:rPr lang="en-US" altLang="es-AR"/>
              <a:t>El agente Aspiradora</a:t>
            </a:r>
          </a:p>
        </p:txBody>
      </p:sp>
      <p:pic>
        <p:nvPicPr>
          <p:cNvPr id="8195" name="Picture 4">
            <a:extLst>
              <a:ext uri="{FF2B5EF4-FFF2-40B4-BE49-F238E27FC236}">
                <a16:creationId xmlns:a16="http://schemas.microsoft.com/office/drawing/2014/main" id="{AB99847F-97DA-4FDC-B48B-AE02C14C00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676400"/>
            <a:ext cx="8229600" cy="3836988"/>
          </a:xfr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5161CE1-8B29-491D-9771-A44FD74DB7C6}"/>
              </a:ext>
            </a:extLst>
          </p:cNvPr>
          <p:cNvSpPr>
            <a:spLocks noGrp="1" noChangeArrowheads="1"/>
          </p:cNvSpPr>
          <p:nvPr>
            <p:ph type="title"/>
          </p:nvPr>
        </p:nvSpPr>
        <p:spPr/>
        <p:txBody>
          <a:bodyPr/>
          <a:lstStyle/>
          <a:p>
            <a:pPr eaLnBrk="1" hangingPunct="1"/>
            <a:r>
              <a:rPr lang="en-US" altLang="es-AR"/>
              <a:t>Agente Racional</a:t>
            </a:r>
          </a:p>
        </p:txBody>
      </p:sp>
      <p:sp>
        <p:nvSpPr>
          <p:cNvPr id="9219" name="Rectangle 3">
            <a:extLst>
              <a:ext uri="{FF2B5EF4-FFF2-40B4-BE49-F238E27FC236}">
                <a16:creationId xmlns:a16="http://schemas.microsoft.com/office/drawing/2014/main" id="{6D7F091A-346D-49F6-B8E3-E16BE93FB3F9}"/>
              </a:ext>
            </a:extLst>
          </p:cNvPr>
          <p:cNvSpPr>
            <a:spLocks noGrp="1" noChangeArrowheads="1"/>
          </p:cNvSpPr>
          <p:nvPr>
            <p:ph type="body" idx="1"/>
          </p:nvPr>
        </p:nvSpPr>
        <p:spPr>
          <a:xfrm>
            <a:off x="457200" y="1295400"/>
            <a:ext cx="8229600" cy="5257800"/>
          </a:xfrm>
        </p:spPr>
        <p:txBody>
          <a:bodyPr/>
          <a:lstStyle/>
          <a:p>
            <a:pPr eaLnBrk="1" hangingPunct="1">
              <a:lnSpc>
                <a:spcPct val="90000"/>
              </a:lnSpc>
              <a:buFontTx/>
              <a:buNone/>
            </a:pPr>
            <a:r>
              <a:rPr lang="es-AR" altLang="es-AR" sz="2400"/>
              <a:t>Un agente debe esforzarse por </a:t>
            </a:r>
            <a:r>
              <a:rPr lang="es-AR" altLang="es-AR" sz="2400" b="1" u="sng"/>
              <a:t>"hacer lo correcto", </a:t>
            </a:r>
            <a:r>
              <a:rPr lang="es-AR" altLang="es-AR" sz="2400"/>
              <a:t>según lo que pueda percibir y las acciones que puede realizar. La acción correcta es la que hará que el agente sea más exitoso</a:t>
            </a:r>
          </a:p>
          <a:p>
            <a:pPr eaLnBrk="1" hangingPunct="1">
              <a:lnSpc>
                <a:spcPct val="90000"/>
              </a:lnSpc>
              <a:buFontTx/>
              <a:buNone/>
            </a:pPr>
            <a:endParaRPr lang="es-AR" altLang="es-AR" sz="2400"/>
          </a:p>
        </p:txBody>
      </p:sp>
      <p:sp>
        <p:nvSpPr>
          <p:cNvPr id="2" name="1 Rectángulo">
            <a:extLst>
              <a:ext uri="{FF2B5EF4-FFF2-40B4-BE49-F238E27FC236}">
                <a16:creationId xmlns:a16="http://schemas.microsoft.com/office/drawing/2014/main" id="{E2720651-5CF6-4B80-9BC8-B97904BB183C}"/>
              </a:ext>
            </a:extLst>
          </p:cNvPr>
          <p:cNvSpPr/>
          <p:nvPr/>
        </p:nvSpPr>
        <p:spPr>
          <a:xfrm>
            <a:off x="533400" y="3124200"/>
            <a:ext cx="8081963" cy="3255963"/>
          </a:xfrm>
          <a:prstGeom prst="rect">
            <a:avLst/>
          </a:prstGeom>
        </p:spPr>
        <p:txBody>
          <a:bodyPr>
            <a:spAutoFit/>
          </a:bodyPr>
          <a:lstStyle/>
          <a:p>
            <a:pPr marL="342900" indent="-342900">
              <a:lnSpc>
                <a:spcPct val="90000"/>
              </a:lnSpc>
              <a:spcBef>
                <a:spcPct val="20000"/>
              </a:spcBef>
              <a:defRPr/>
            </a:pPr>
            <a:r>
              <a:rPr lang="es-AR" sz="2400" b="1" u="sng" kern="0" dirty="0">
                <a:solidFill>
                  <a:srgbClr val="000000"/>
                </a:solidFill>
                <a:latin typeface="Arial"/>
              </a:rPr>
              <a:t>Medida de rendimiento</a:t>
            </a:r>
            <a:r>
              <a:rPr lang="es-AR" sz="2400" kern="0" dirty="0">
                <a:solidFill>
                  <a:srgbClr val="000000"/>
                </a:solidFill>
                <a:latin typeface="Arial"/>
              </a:rPr>
              <a:t>: un criterio objetivo para el éxito del comportamiento de un agente.</a:t>
            </a:r>
          </a:p>
          <a:p>
            <a:pPr marL="342900" indent="-342900">
              <a:lnSpc>
                <a:spcPct val="90000"/>
              </a:lnSpc>
              <a:spcBef>
                <a:spcPct val="20000"/>
              </a:spcBef>
              <a:defRPr/>
            </a:pPr>
            <a:endParaRPr lang="es-AR" sz="2400" kern="0" dirty="0">
              <a:solidFill>
                <a:srgbClr val="000000"/>
              </a:solidFill>
              <a:latin typeface="Arial"/>
            </a:endParaRPr>
          </a:p>
          <a:p>
            <a:pPr marL="342900" indent="-342900">
              <a:lnSpc>
                <a:spcPct val="90000"/>
              </a:lnSpc>
              <a:spcBef>
                <a:spcPct val="20000"/>
              </a:spcBef>
              <a:defRPr/>
            </a:pPr>
            <a:r>
              <a:rPr lang="es-AR" sz="2400" kern="0" dirty="0">
                <a:solidFill>
                  <a:srgbClr val="333399"/>
                </a:solidFill>
                <a:latin typeface="Arial"/>
              </a:rPr>
              <a:t>Por ejemplo, la medida de rendimiento de un agente de aspiradora podría ser: </a:t>
            </a:r>
          </a:p>
          <a:p>
            <a:pPr marL="742950" lvl="1" indent="-285750">
              <a:lnSpc>
                <a:spcPct val="90000"/>
              </a:lnSpc>
              <a:spcBef>
                <a:spcPct val="20000"/>
              </a:spcBef>
              <a:buFont typeface="Wingdings" charset="2"/>
              <a:buChar char="ü"/>
              <a:defRPr/>
            </a:pPr>
            <a:r>
              <a:rPr lang="es-AR" sz="2000" kern="0" dirty="0">
                <a:solidFill>
                  <a:srgbClr val="333399"/>
                </a:solidFill>
                <a:latin typeface="Arial"/>
              </a:rPr>
              <a:t>la cantidad de suciedad limpiada, </a:t>
            </a:r>
          </a:p>
          <a:p>
            <a:pPr marL="742950" lvl="1" indent="-285750">
              <a:lnSpc>
                <a:spcPct val="90000"/>
              </a:lnSpc>
              <a:spcBef>
                <a:spcPct val="20000"/>
              </a:spcBef>
              <a:buFont typeface="Wingdings" charset="2"/>
              <a:buChar char="ü"/>
              <a:defRPr/>
            </a:pPr>
            <a:r>
              <a:rPr lang="es-AR" sz="2000" kern="0" dirty="0">
                <a:solidFill>
                  <a:srgbClr val="333399"/>
                </a:solidFill>
                <a:latin typeface="Arial"/>
              </a:rPr>
              <a:t>la cantidad de tiempo consumida, </a:t>
            </a:r>
          </a:p>
          <a:p>
            <a:pPr marL="742950" lvl="1" indent="-285750">
              <a:lnSpc>
                <a:spcPct val="90000"/>
              </a:lnSpc>
              <a:spcBef>
                <a:spcPct val="20000"/>
              </a:spcBef>
              <a:buFont typeface="Wingdings" charset="2"/>
              <a:buChar char="ü"/>
              <a:defRPr/>
            </a:pPr>
            <a:r>
              <a:rPr lang="es-AR" sz="2000" kern="0" dirty="0">
                <a:solidFill>
                  <a:srgbClr val="333399"/>
                </a:solidFill>
                <a:latin typeface="Arial"/>
              </a:rPr>
              <a:t>la cantidad de electricidad consumida, </a:t>
            </a:r>
          </a:p>
          <a:p>
            <a:pPr marL="742950" lvl="1" indent="-285750">
              <a:lnSpc>
                <a:spcPct val="90000"/>
              </a:lnSpc>
              <a:spcBef>
                <a:spcPct val="20000"/>
              </a:spcBef>
              <a:buFont typeface="Wingdings" charset="2"/>
              <a:buChar char="ü"/>
              <a:defRPr/>
            </a:pPr>
            <a:r>
              <a:rPr lang="es-AR" sz="2000" kern="0" dirty="0">
                <a:solidFill>
                  <a:srgbClr val="333399"/>
                </a:solidFill>
                <a:latin typeface="Arial"/>
              </a:rPr>
              <a:t>la cantidad de ruido generado, etc.</a:t>
            </a:r>
            <a:endParaRPr lang="en-US" sz="2000" kern="0" dirty="0">
              <a:solidFill>
                <a:srgbClr val="333399"/>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0A355BC-C66E-453A-831E-06930CA95C6A}"/>
              </a:ext>
            </a:extLst>
          </p:cNvPr>
          <p:cNvSpPr>
            <a:spLocks noGrp="1" noChangeArrowheads="1"/>
          </p:cNvSpPr>
          <p:nvPr>
            <p:ph type="title"/>
          </p:nvPr>
        </p:nvSpPr>
        <p:spPr/>
        <p:txBody>
          <a:bodyPr/>
          <a:lstStyle/>
          <a:p>
            <a:pPr eaLnBrk="1" hangingPunct="1"/>
            <a:r>
              <a:rPr lang="en-US" altLang="es-AR"/>
              <a:t>Agente Racional</a:t>
            </a:r>
          </a:p>
        </p:txBody>
      </p:sp>
      <p:sp>
        <p:nvSpPr>
          <p:cNvPr id="10243" name="Rectangle 3">
            <a:extLst>
              <a:ext uri="{FF2B5EF4-FFF2-40B4-BE49-F238E27FC236}">
                <a16:creationId xmlns:a16="http://schemas.microsoft.com/office/drawing/2014/main" id="{43DE85FF-A092-41F9-B7D1-CBEAC7DB588E}"/>
              </a:ext>
            </a:extLst>
          </p:cNvPr>
          <p:cNvSpPr>
            <a:spLocks noGrp="1" noChangeArrowheads="1"/>
          </p:cNvSpPr>
          <p:nvPr>
            <p:ph type="body" idx="1"/>
          </p:nvPr>
        </p:nvSpPr>
        <p:spPr>
          <a:xfrm>
            <a:off x="457200" y="1600200"/>
            <a:ext cx="8229600" cy="2514600"/>
          </a:xfrm>
        </p:spPr>
        <p:txBody>
          <a:bodyPr/>
          <a:lstStyle/>
          <a:p>
            <a:pPr eaLnBrk="1" hangingPunct="1">
              <a:buFontTx/>
              <a:buNone/>
            </a:pPr>
            <a:r>
              <a:rPr lang="es-AR" altLang="es-AR" sz="2400"/>
              <a:t>Para cada posible secuencia de percepciones, un agente racional debe seleccionar una acción que se espera </a:t>
            </a:r>
            <a:r>
              <a:rPr lang="es-AR" altLang="es-AR" sz="2400" b="1" u="sng"/>
              <a:t>maximice su medida de desempeño</a:t>
            </a:r>
            <a:r>
              <a:rPr lang="es-AR" altLang="es-AR" sz="2400"/>
              <a:t>, dada la evidencia proporcionada por la secuencia de percepciones y cualquier conocimiento incorporado que tenga el agente</a:t>
            </a:r>
            <a:r>
              <a:rPr lang="en-US" altLang="es-AR" sz="2400"/>
              <a:t>.</a:t>
            </a:r>
          </a:p>
        </p:txBody>
      </p:sp>
      <p:sp>
        <p:nvSpPr>
          <p:cNvPr id="2" name="1 Rectángulo">
            <a:extLst>
              <a:ext uri="{FF2B5EF4-FFF2-40B4-BE49-F238E27FC236}">
                <a16:creationId xmlns:a16="http://schemas.microsoft.com/office/drawing/2014/main" id="{18E6227D-1D8B-4A5C-ABF6-D2FB646F6C78}"/>
              </a:ext>
            </a:extLst>
          </p:cNvPr>
          <p:cNvSpPr/>
          <p:nvPr/>
        </p:nvSpPr>
        <p:spPr>
          <a:xfrm>
            <a:off x="762000" y="4419600"/>
            <a:ext cx="8077200" cy="1433513"/>
          </a:xfrm>
          <a:prstGeom prst="rect">
            <a:avLst/>
          </a:prstGeom>
        </p:spPr>
        <p:txBody>
          <a:bodyPr>
            <a:spAutoFit/>
          </a:bodyPr>
          <a:lstStyle/>
          <a:p>
            <a:pPr marL="342900" indent="-342900">
              <a:lnSpc>
                <a:spcPct val="90000"/>
              </a:lnSpc>
              <a:spcBef>
                <a:spcPct val="20000"/>
              </a:spcBef>
              <a:defRPr/>
            </a:pPr>
            <a:r>
              <a:rPr lang="es-AR" sz="2400" kern="0" dirty="0">
                <a:solidFill>
                  <a:srgbClr val="333399"/>
                </a:solidFill>
                <a:latin typeface="Arial"/>
              </a:rPr>
              <a:t>Las medidas de rendimiento de un agente pueden ser contradictorias. Por ejemplo: </a:t>
            </a:r>
          </a:p>
          <a:p>
            <a:pPr marL="742950" lvl="1" indent="-285750">
              <a:lnSpc>
                <a:spcPct val="90000"/>
              </a:lnSpc>
              <a:spcBef>
                <a:spcPct val="20000"/>
              </a:spcBef>
              <a:buFont typeface="Wingdings" charset="2"/>
              <a:buChar char="ü"/>
              <a:defRPr/>
            </a:pPr>
            <a:r>
              <a:rPr lang="es-AR" sz="2000" kern="0" dirty="0">
                <a:solidFill>
                  <a:srgbClr val="333399"/>
                </a:solidFill>
                <a:latin typeface="Arial"/>
              </a:rPr>
              <a:t>la cantidad de suciedad limpiada, </a:t>
            </a:r>
          </a:p>
          <a:p>
            <a:pPr marL="742950" lvl="1" indent="-285750">
              <a:lnSpc>
                <a:spcPct val="90000"/>
              </a:lnSpc>
              <a:spcBef>
                <a:spcPct val="20000"/>
              </a:spcBef>
              <a:buFont typeface="Wingdings" charset="2"/>
              <a:buChar char="ü"/>
              <a:defRPr/>
            </a:pPr>
            <a:r>
              <a:rPr lang="es-AR" sz="2000" kern="0" dirty="0">
                <a:solidFill>
                  <a:srgbClr val="333399"/>
                </a:solidFill>
                <a:latin typeface="Arial"/>
              </a:rPr>
              <a:t>la cantidad de electricidad consumida,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7C2926C-8EE7-4A0A-96F7-0453548CAAA0}"/>
              </a:ext>
            </a:extLst>
          </p:cNvPr>
          <p:cNvSpPr>
            <a:spLocks noGrp="1" noChangeArrowheads="1"/>
          </p:cNvSpPr>
          <p:nvPr>
            <p:ph type="title"/>
          </p:nvPr>
        </p:nvSpPr>
        <p:spPr/>
        <p:txBody>
          <a:bodyPr/>
          <a:lstStyle/>
          <a:p>
            <a:pPr eaLnBrk="1" hangingPunct="1"/>
            <a:r>
              <a:rPr lang="en-US" altLang="es-AR"/>
              <a:t>Agente Racional</a:t>
            </a:r>
          </a:p>
        </p:txBody>
      </p:sp>
      <p:sp>
        <p:nvSpPr>
          <p:cNvPr id="11267" name="Rectangle 3">
            <a:extLst>
              <a:ext uri="{FF2B5EF4-FFF2-40B4-BE49-F238E27FC236}">
                <a16:creationId xmlns:a16="http://schemas.microsoft.com/office/drawing/2014/main" id="{C059E41E-420D-4A16-A467-C98EC492B2B7}"/>
              </a:ext>
            </a:extLst>
          </p:cNvPr>
          <p:cNvSpPr>
            <a:spLocks noGrp="1" noChangeArrowheads="1"/>
          </p:cNvSpPr>
          <p:nvPr>
            <p:ph type="body" idx="1"/>
          </p:nvPr>
        </p:nvSpPr>
        <p:spPr>
          <a:xfrm>
            <a:off x="457200" y="1600200"/>
            <a:ext cx="8458200" cy="4525963"/>
          </a:xfrm>
        </p:spPr>
        <p:txBody>
          <a:bodyPr/>
          <a:lstStyle/>
          <a:p>
            <a:pPr eaLnBrk="1" hangingPunct="1">
              <a:spcAft>
                <a:spcPts val="1200"/>
              </a:spcAft>
              <a:buFontTx/>
              <a:buNone/>
            </a:pPr>
            <a:r>
              <a:rPr lang="es-AR" altLang="es-AR" sz="2800"/>
              <a:t>La racionalidad es distinta de la </a:t>
            </a:r>
            <a:r>
              <a:rPr lang="es-AR" altLang="es-AR" sz="2800" b="1"/>
              <a:t>omnisciencia</a:t>
            </a:r>
            <a:r>
              <a:rPr lang="es-AR" altLang="es-AR" sz="2800"/>
              <a:t> (omnisciente con conocimiento infinito)</a:t>
            </a:r>
          </a:p>
          <a:p>
            <a:pPr eaLnBrk="1" hangingPunct="1">
              <a:spcAft>
                <a:spcPts val="1200"/>
              </a:spcAft>
              <a:buFontTx/>
              <a:buNone/>
            </a:pPr>
            <a:r>
              <a:rPr lang="es-AR" altLang="es-AR" sz="2800"/>
              <a:t>Los agentes pueden realizar acciones para modificar las percepciones futuras para obtener información útil (recopilación de información, exploración)</a:t>
            </a:r>
          </a:p>
          <a:p>
            <a:pPr eaLnBrk="1" hangingPunct="1">
              <a:spcAft>
                <a:spcPts val="1200"/>
              </a:spcAft>
              <a:buFontTx/>
              <a:buNone/>
            </a:pPr>
            <a:r>
              <a:rPr lang="es-AR" altLang="es-AR" sz="2800"/>
              <a:t>Un agente es </a:t>
            </a:r>
            <a:r>
              <a:rPr lang="es-AR" altLang="es-AR" sz="2800" b="1"/>
              <a:t>autónomo</a:t>
            </a:r>
            <a:r>
              <a:rPr lang="es-AR" altLang="es-AR" sz="2800"/>
              <a:t> si su comportamiento está determinado por su propia experiencia (con capacidad para aprender y adaptarse) </a:t>
            </a:r>
            <a:r>
              <a:rPr lang="en-US" altLang="es-A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FBAB808-0800-42A4-9F98-DD85B7F5C24A}"/>
              </a:ext>
            </a:extLst>
          </p:cNvPr>
          <p:cNvSpPr>
            <a:spLocks noGrp="1" noChangeArrowheads="1"/>
          </p:cNvSpPr>
          <p:nvPr>
            <p:ph type="title"/>
          </p:nvPr>
        </p:nvSpPr>
        <p:spPr/>
        <p:txBody>
          <a:bodyPr/>
          <a:lstStyle/>
          <a:p>
            <a:pPr eaLnBrk="1" hangingPunct="1"/>
            <a:r>
              <a:rPr lang="en-US" altLang="es-AR"/>
              <a:t>REAS / PEAS</a:t>
            </a:r>
          </a:p>
        </p:txBody>
      </p:sp>
      <p:sp>
        <p:nvSpPr>
          <p:cNvPr id="12291" name="Rectangle 3">
            <a:extLst>
              <a:ext uri="{FF2B5EF4-FFF2-40B4-BE49-F238E27FC236}">
                <a16:creationId xmlns:a16="http://schemas.microsoft.com/office/drawing/2014/main" id="{AD419BB8-E5A8-4982-85B2-0C4F221ACB1A}"/>
              </a:ext>
            </a:extLst>
          </p:cNvPr>
          <p:cNvSpPr>
            <a:spLocks noGrp="1" noChangeArrowheads="1"/>
          </p:cNvSpPr>
          <p:nvPr>
            <p:ph type="body" idx="1"/>
          </p:nvPr>
        </p:nvSpPr>
        <p:spPr>
          <a:xfrm>
            <a:off x="685800" y="2284413"/>
            <a:ext cx="3352800" cy="2897187"/>
          </a:xfrm>
        </p:spPr>
        <p:txBody>
          <a:bodyPr/>
          <a:lstStyle/>
          <a:p>
            <a:pPr eaLnBrk="1" hangingPunct="1">
              <a:lnSpc>
                <a:spcPct val="90000"/>
              </a:lnSpc>
              <a:buFontTx/>
              <a:buNone/>
            </a:pPr>
            <a:endParaRPr lang="en-US" altLang="es-AR" sz="2800" dirty="0"/>
          </a:p>
          <a:p>
            <a:pPr eaLnBrk="1" hangingPunct="1">
              <a:lnSpc>
                <a:spcPct val="90000"/>
              </a:lnSpc>
              <a:buFont typeface="Wingdings" panose="05000000000000000000" pitchFamily="2" charset="2"/>
              <a:buChar char="Ø"/>
            </a:pPr>
            <a:r>
              <a:rPr lang="en-US" altLang="es-AR" sz="2800" dirty="0" err="1"/>
              <a:t>Rendimiento</a:t>
            </a:r>
            <a:endParaRPr lang="en-US" altLang="es-AR" sz="2800" dirty="0"/>
          </a:p>
          <a:p>
            <a:pPr eaLnBrk="1" hangingPunct="1">
              <a:lnSpc>
                <a:spcPct val="90000"/>
              </a:lnSpc>
              <a:buFont typeface="Wingdings" panose="05000000000000000000" pitchFamily="2" charset="2"/>
              <a:buChar char="Ø"/>
            </a:pPr>
            <a:r>
              <a:rPr lang="en-US" altLang="es-AR" sz="2800" dirty="0" err="1"/>
              <a:t>Entorno</a:t>
            </a:r>
            <a:endParaRPr lang="en-US" altLang="es-AR" sz="2800" dirty="0"/>
          </a:p>
          <a:p>
            <a:pPr eaLnBrk="1" hangingPunct="1">
              <a:lnSpc>
                <a:spcPct val="90000"/>
              </a:lnSpc>
              <a:buFont typeface="Wingdings" panose="05000000000000000000" pitchFamily="2" charset="2"/>
              <a:buChar char="Ø"/>
            </a:pPr>
            <a:r>
              <a:rPr lang="en-US" altLang="es-AR" sz="2800" dirty="0" err="1"/>
              <a:t>Actuadores</a:t>
            </a:r>
            <a:endParaRPr lang="en-US" altLang="es-AR" sz="2800" dirty="0"/>
          </a:p>
          <a:p>
            <a:pPr eaLnBrk="1" hangingPunct="1">
              <a:lnSpc>
                <a:spcPct val="90000"/>
              </a:lnSpc>
              <a:buFont typeface="Wingdings" panose="05000000000000000000" pitchFamily="2" charset="2"/>
              <a:buChar char="Ø"/>
            </a:pPr>
            <a:r>
              <a:rPr lang="en-US" altLang="es-AR" sz="2800" dirty="0" err="1"/>
              <a:t>Sensores</a:t>
            </a:r>
            <a:endParaRPr lang="en-US" altLang="es-AR" sz="2800" dirty="0"/>
          </a:p>
          <a:p>
            <a:pPr eaLnBrk="1" hangingPunct="1">
              <a:lnSpc>
                <a:spcPct val="90000"/>
              </a:lnSpc>
              <a:buFontTx/>
              <a:buNone/>
            </a:pPr>
            <a:r>
              <a:rPr lang="en-US" altLang="es-AR" sz="2800" dirty="0"/>
              <a:t>
</a:t>
            </a:r>
          </a:p>
          <a:p>
            <a:pPr eaLnBrk="1" hangingPunct="1">
              <a:lnSpc>
                <a:spcPct val="90000"/>
              </a:lnSpc>
              <a:buFontTx/>
              <a:buNone/>
            </a:pPr>
            <a:r>
              <a:rPr lang="en-US" altLang="es-AR" sz="2400" dirty="0"/>
              <a:t>
</a:t>
            </a:r>
          </a:p>
        </p:txBody>
      </p:sp>
      <p:sp>
        <p:nvSpPr>
          <p:cNvPr id="12292" name="Rectangle 3">
            <a:extLst>
              <a:ext uri="{FF2B5EF4-FFF2-40B4-BE49-F238E27FC236}">
                <a16:creationId xmlns:a16="http://schemas.microsoft.com/office/drawing/2014/main" id="{7EC6689B-DE87-459B-A5B1-75BE05834075}"/>
              </a:ext>
            </a:extLst>
          </p:cNvPr>
          <p:cNvSpPr txBox="1">
            <a:spLocks noChangeArrowheads="1"/>
          </p:cNvSpPr>
          <p:nvPr/>
        </p:nvSpPr>
        <p:spPr bwMode="auto">
          <a:xfrm>
            <a:off x="4800600" y="2332038"/>
            <a:ext cx="3352800" cy="284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pPr>
            <a:endParaRPr lang="en-US" altLang="es-AR" sz="2800" dirty="0"/>
          </a:p>
          <a:p>
            <a:pPr eaLnBrk="1" hangingPunct="1">
              <a:lnSpc>
                <a:spcPct val="90000"/>
              </a:lnSpc>
              <a:spcBef>
                <a:spcPct val="20000"/>
              </a:spcBef>
              <a:buFont typeface="Wingdings" panose="05000000000000000000" pitchFamily="2" charset="2"/>
              <a:buChar char="Ø"/>
            </a:pPr>
            <a:r>
              <a:rPr lang="en-US" altLang="es-AR" sz="2800" dirty="0"/>
              <a:t>Performance </a:t>
            </a:r>
          </a:p>
          <a:p>
            <a:pPr eaLnBrk="1" hangingPunct="1">
              <a:lnSpc>
                <a:spcPct val="90000"/>
              </a:lnSpc>
              <a:spcBef>
                <a:spcPct val="20000"/>
              </a:spcBef>
              <a:buFont typeface="Wingdings" panose="05000000000000000000" pitchFamily="2" charset="2"/>
              <a:buChar char="Ø"/>
            </a:pPr>
            <a:r>
              <a:rPr lang="en-US" altLang="es-AR" sz="2800" dirty="0"/>
              <a:t>Environment </a:t>
            </a:r>
          </a:p>
          <a:p>
            <a:pPr eaLnBrk="1" hangingPunct="1">
              <a:lnSpc>
                <a:spcPct val="90000"/>
              </a:lnSpc>
              <a:spcBef>
                <a:spcPct val="20000"/>
              </a:spcBef>
              <a:buFont typeface="Wingdings" panose="05000000000000000000" pitchFamily="2" charset="2"/>
              <a:buChar char="Ø"/>
            </a:pPr>
            <a:r>
              <a:rPr lang="en-US" altLang="es-AR" sz="2800" dirty="0"/>
              <a:t>Actuators </a:t>
            </a:r>
          </a:p>
          <a:p>
            <a:pPr eaLnBrk="1" hangingPunct="1">
              <a:lnSpc>
                <a:spcPct val="90000"/>
              </a:lnSpc>
              <a:spcBef>
                <a:spcPct val="20000"/>
              </a:spcBef>
              <a:buFont typeface="Wingdings" panose="05000000000000000000" pitchFamily="2" charset="2"/>
              <a:buChar char="Ø"/>
            </a:pPr>
            <a:r>
              <a:rPr lang="en-US" altLang="es-AR" sz="2800" dirty="0" err="1"/>
              <a:t>Sensores</a:t>
            </a:r>
            <a:endParaRPr lang="en-US" altLang="es-AR" sz="2800" dirty="0"/>
          </a:p>
          <a:p>
            <a:pPr eaLnBrk="1" hangingPunct="1">
              <a:lnSpc>
                <a:spcPct val="90000"/>
              </a:lnSpc>
              <a:spcBef>
                <a:spcPct val="20000"/>
              </a:spcBef>
              <a:buFont typeface="Wingdings" panose="05000000000000000000" pitchFamily="2" charset="2"/>
              <a:buChar char="Ø"/>
            </a:pPr>
            <a:endParaRPr lang="en-US" altLang="es-AR" sz="2800" dirty="0"/>
          </a:p>
          <a:p>
            <a:pPr eaLnBrk="1" hangingPunct="1">
              <a:lnSpc>
                <a:spcPct val="90000"/>
              </a:lnSpc>
              <a:spcBef>
                <a:spcPct val="20000"/>
              </a:spcBef>
            </a:pPr>
            <a:r>
              <a:rPr lang="en-US" altLang="es-AR" sz="2800" dirty="0"/>
              <a:t>
</a:t>
            </a:r>
          </a:p>
          <a:p>
            <a:pPr eaLnBrk="1" hangingPunct="1">
              <a:lnSpc>
                <a:spcPct val="90000"/>
              </a:lnSpc>
              <a:spcBef>
                <a:spcPct val="20000"/>
              </a:spcBef>
            </a:pPr>
            <a:r>
              <a:rPr lang="en-US" altLang="es-AR" sz="2400" dirty="0"/>
              <a:t>
</a:t>
            </a:r>
          </a:p>
        </p:txBody>
      </p:sp>
      <p:sp>
        <p:nvSpPr>
          <p:cNvPr id="12293" name="1 Rectángulo">
            <a:extLst>
              <a:ext uri="{FF2B5EF4-FFF2-40B4-BE49-F238E27FC236}">
                <a16:creationId xmlns:a16="http://schemas.microsoft.com/office/drawing/2014/main" id="{D1BCE639-576A-4184-8C9E-98EB7E14FFA3}"/>
              </a:ext>
            </a:extLst>
          </p:cNvPr>
          <p:cNvSpPr>
            <a:spLocks noChangeArrowheads="1"/>
          </p:cNvSpPr>
          <p:nvPr/>
        </p:nvSpPr>
        <p:spPr bwMode="auto">
          <a:xfrm>
            <a:off x="685800" y="1600200"/>
            <a:ext cx="7848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pPr>
            <a:r>
              <a:rPr lang="es-AR" altLang="es-AR" sz="2000"/>
              <a:t>Especifica la configuración para el diseño de agente inteligente.</a:t>
            </a:r>
          </a:p>
        </p:txBody>
      </p:sp>
      <p:pic>
        <p:nvPicPr>
          <p:cNvPr id="2" name="Imagen 1">
            <a:extLst>
              <a:ext uri="{FF2B5EF4-FFF2-40B4-BE49-F238E27FC236}">
                <a16:creationId xmlns:a16="http://schemas.microsoft.com/office/drawing/2014/main" id="{03A6798D-D0AF-B864-F6D6-02C3DB4DB857}"/>
              </a:ext>
            </a:extLst>
          </p:cNvPr>
          <p:cNvPicPr>
            <a:picLocks noChangeAspect="1"/>
          </p:cNvPicPr>
          <p:nvPr/>
        </p:nvPicPr>
        <p:blipFill>
          <a:blip r:embed="rId2"/>
          <a:stretch>
            <a:fillRect/>
          </a:stretch>
        </p:blipFill>
        <p:spPr>
          <a:xfrm>
            <a:off x="1219200" y="4544986"/>
            <a:ext cx="4554107" cy="20606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7D6AB5B-4D95-46DB-8319-6E7CD42807E4}"/>
              </a:ext>
            </a:extLst>
          </p:cNvPr>
          <p:cNvSpPr>
            <a:spLocks noGrp="1" noChangeArrowheads="1"/>
          </p:cNvSpPr>
          <p:nvPr>
            <p:ph type="title"/>
          </p:nvPr>
        </p:nvSpPr>
        <p:spPr/>
        <p:txBody>
          <a:bodyPr/>
          <a:lstStyle/>
          <a:p>
            <a:pPr eaLnBrk="1" hangingPunct="1"/>
            <a:r>
              <a:rPr lang="en-US" altLang="es-AR"/>
              <a:t>REAS</a:t>
            </a:r>
          </a:p>
        </p:txBody>
      </p:sp>
      <p:sp>
        <p:nvSpPr>
          <p:cNvPr id="13315" name="Rectangle 3">
            <a:extLst>
              <a:ext uri="{FF2B5EF4-FFF2-40B4-BE49-F238E27FC236}">
                <a16:creationId xmlns:a16="http://schemas.microsoft.com/office/drawing/2014/main" id="{56680BAC-BEE6-4A1C-B14A-BA83ED62954D}"/>
              </a:ext>
            </a:extLst>
          </p:cNvPr>
          <p:cNvSpPr>
            <a:spLocks noGrp="1" noChangeArrowheads="1"/>
          </p:cNvSpPr>
          <p:nvPr>
            <p:ph type="body" idx="1"/>
          </p:nvPr>
        </p:nvSpPr>
        <p:spPr>
          <a:xfrm>
            <a:off x="457200" y="2057400"/>
            <a:ext cx="8229600" cy="4419600"/>
          </a:xfrm>
        </p:spPr>
        <p:txBody>
          <a:bodyPr/>
          <a:lstStyle/>
          <a:p>
            <a:pPr eaLnBrk="1" hangingPunct="1">
              <a:lnSpc>
                <a:spcPct val="80000"/>
              </a:lnSpc>
              <a:buFontTx/>
              <a:buNone/>
            </a:pPr>
            <a:endParaRPr lang="es-AR" altLang="es-AR" sz="2400" i="1" dirty="0"/>
          </a:p>
          <a:p>
            <a:pPr eaLnBrk="1" hangingPunct="1">
              <a:lnSpc>
                <a:spcPct val="80000"/>
              </a:lnSpc>
              <a:buFont typeface="Wingdings" panose="05000000000000000000" pitchFamily="2" charset="2"/>
              <a:buChar char="ü"/>
            </a:pPr>
            <a:r>
              <a:rPr lang="es-AR" altLang="es-AR" sz="2800" b="1" u="sng" dirty="0"/>
              <a:t>Rendimiento</a:t>
            </a:r>
            <a:r>
              <a:rPr lang="es-AR" altLang="es-AR" sz="2800" dirty="0"/>
              <a:t>: viaje seguro, rápido, legal, cómodo, maximizar las ganancias</a:t>
            </a:r>
          </a:p>
          <a:p>
            <a:pPr eaLnBrk="1" hangingPunct="1">
              <a:lnSpc>
                <a:spcPct val="80000"/>
              </a:lnSpc>
              <a:buFont typeface="Wingdings" panose="05000000000000000000" pitchFamily="2" charset="2"/>
              <a:buChar char="ü"/>
            </a:pPr>
            <a:r>
              <a:rPr lang="es-AR" altLang="es-AR" sz="2800" b="1" u="sng" dirty="0"/>
              <a:t>Entorno</a:t>
            </a:r>
            <a:r>
              <a:rPr lang="es-AR" altLang="es-AR" sz="2800" dirty="0"/>
              <a:t>: Carreteras, otros tráficos, peatones, clientes</a:t>
            </a:r>
          </a:p>
          <a:p>
            <a:pPr eaLnBrk="1" hangingPunct="1">
              <a:lnSpc>
                <a:spcPct val="80000"/>
              </a:lnSpc>
              <a:buFont typeface="Wingdings" panose="05000000000000000000" pitchFamily="2" charset="2"/>
              <a:buChar char="ü"/>
            </a:pPr>
            <a:r>
              <a:rPr lang="es-AR" altLang="es-AR" sz="2800" b="1" u="sng" dirty="0"/>
              <a:t>Actuadores</a:t>
            </a:r>
            <a:r>
              <a:rPr lang="es-AR" altLang="es-AR" sz="2800" dirty="0"/>
              <a:t>: Volante, acelerador, freno, señal, bocina.</a:t>
            </a:r>
          </a:p>
          <a:p>
            <a:pPr eaLnBrk="1" hangingPunct="1">
              <a:lnSpc>
                <a:spcPct val="80000"/>
              </a:lnSpc>
              <a:buFont typeface="Wingdings" panose="05000000000000000000" pitchFamily="2" charset="2"/>
              <a:buChar char="ü"/>
            </a:pPr>
            <a:r>
              <a:rPr lang="es-AR" altLang="es-AR" sz="2800" b="1" u="sng" dirty="0"/>
              <a:t>Sensores</a:t>
            </a:r>
            <a:r>
              <a:rPr lang="es-AR" altLang="es-AR" sz="2800" dirty="0"/>
              <a:t>: cámaras, sonar, velocímetro, GPS, cuentakilómetros, sensores del motor, teclado</a:t>
            </a:r>
            <a:endParaRPr lang="en-US" altLang="es-AR" sz="2400" dirty="0"/>
          </a:p>
        </p:txBody>
      </p:sp>
      <p:sp>
        <p:nvSpPr>
          <p:cNvPr id="2" name="1 Rectángulo">
            <a:extLst>
              <a:ext uri="{FF2B5EF4-FFF2-40B4-BE49-F238E27FC236}">
                <a16:creationId xmlns:a16="http://schemas.microsoft.com/office/drawing/2014/main" id="{56B1FF59-3C67-4074-99EA-E811E3E1609D}"/>
              </a:ext>
            </a:extLst>
          </p:cNvPr>
          <p:cNvSpPr/>
          <p:nvPr/>
        </p:nvSpPr>
        <p:spPr>
          <a:xfrm>
            <a:off x="1066800" y="1452563"/>
            <a:ext cx="7239000" cy="438150"/>
          </a:xfrm>
          <a:prstGeom prst="rect">
            <a:avLst/>
          </a:prstGeom>
        </p:spPr>
        <p:txBody>
          <a:bodyPr>
            <a:spAutoFit/>
          </a:bodyPr>
          <a:lstStyle/>
          <a:p>
            <a:pPr marL="342900" indent="-342900">
              <a:lnSpc>
                <a:spcPct val="80000"/>
              </a:lnSpc>
              <a:spcBef>
                <a:spcPct val="20000"/>
              </a:spcBef>
              <a:defRPr/>
            </a:pPr>
            <a:r>
              <a:rPr lang="es-ES" sz="2800" kern="0" dirty="0">
                <a:solidFill>
                  <a:srgbClr val="0070C0"/>
                </a:solidFill>
                <a:latin typeface="Arial"/>
              </a:rPr>
              <a:t>Agente: taxista automático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3FCB028-0005-4E90-9FB7-2EC245234E67}"/>
              </a:ext>
            </a:extLst>
          </p:cNvPr>
          <p:cNvSpPr>
            <a:spLocks noGrp="1" noChangeArrowheads="1"/>
          </p:cNvSpPr>
          <p:nvPr>
            <p:ph type="title"/>
          </p:nvPr>
        </p:nvSpPr>
        <p:spPr>
          <a:xfrm>
            <a:off x="533400" y="533400"/>
            <a:ext cx="8229600" cy="1143000"/>
          </a:xfrm>
        </p:spPr>
        <p:txBody>
          <a:bodyPr/>
          <a:lstStyle/>
          <a:p>
            <a:pPr eaLnBrk="1" hangingPunct="1"/>
            <a:r>
              <a:rPr lang="en-US" altLang="es-AR" dirty="0"/>
              <a:t>REAS</a:t>
            </a:r>
          </a:p>
        </p:txBody>
      </p:sp>
      <p:sp>
        <p:nvSpPr>
          <p:cNvPr id="15363" name="Rectangle 3">
            <a:extLst>
              <a:ext uri="{FF2B5EF4-FFF2-40B4-BE49-F238E27FC236}">
                <a16:creationId xmlns:a16="http://schemas.microsoft.com/office/drawing/2014/main" id="{5205A6ED-3219-40CE-B9BE-509AE0D68078}"/>
              </a:ext>
            </a:extLst>
          </p:cNvPr>
          <p:cNvSpPr>
            <a:spLocks noGrp="1" noChangeArrowheads="1"/>
          </p:cNvSpPr>
          <p:nvPr>
            <p:ph type="body" idx="1"/>
          </p:nvPr>
        </p:nvSpPr>
        <p:spPr>
          <a:xfrm>
            <a:off x="457200" y="2342671"/>
            <a:ext cx="8229600" cy="3981930"/>
          </a:xfrm>
        </p:spPr>
        <p:txBody>
          <a:bodyPr/>
          <a:lstStyle/>
          <a:p>
            <a:pPr lvl="1">
              <a:buFont typeface="Wingdings" pitchFamily="2" charset="2"/>
              <a:buChar char="ü"/>
              <a:defRPr/>
            </a:pPr>
            <a:r>
              <a:rPr lang="es-ES" b="1" u="sng" dirty="0"/>
              <a:t>Rendimiento</a:t>
            </a:r>
            <a:r>
              <a:rPr lang="es-ES" dirty="0"/>
              <a:t>: paciente sano, minimizar costos y demandas legales.</a:t>
            </a:r>
          </a:p>
          <a:p>
            <a:pPr lvl="1">
              <a:buFont typeface="Wingdings" pitchFamily="2" charset="2"/>
              <a:buChar char="ü"/>
              <a:defRPr/>
            </a:pPr>
            <a:r>
              <a:rPr lang="es-ES" b="1" u="sng" dirty="0"/>
              <a:t>Entorno</a:t>
            </a:r>
            <a:r>
              <a:rPr lang="es-ES" dirty="0"/>
              <a:t>: paciente, hospital, personal.</a:t>
            </a:r>
          </a:p>
          <a:p>
            <a:pPr lvl="1">
              <a:buFont typeface="Wingdings" pitchFamily="2" charset="2"/>
              <a:buChar char="ü"/>
              <a:defRPr/>
            </a:pPr>
            <a:r>
              <a:rPr lang="es-ES" b="1" u="sng" dirty="0"/>
              <a:t>Actuadores</a:t>
            </a:r>
            <a:r>
              <a:rPr lang="es-ES" dirty="0"/>
              <a:t>: visualización de pantalla, parlante (preguntas, pruebas, diagnósticos, tratamientos, referencias).</a:t>
            </a:r>
          </a:p>
          <a:p>
            <a:pPr lvl="1">
              <a:buFont typeface="Wingdings" pitchFamily="2" charset="2"/>
              <a:buChar char="ü"/>
              <a:defRPr/>
            </a:pPr>
            <a:r>
              <a:rPr lang="es-ES" b="1" u="sng" dirty="0"/>
              <a:t>Sensores</a:t>
            </a:r>
            <a:r>
              <a:rPr lang="es-ES" dirty="0"/>
              <a:t>: teclado, </a:t>
            </a:r>
            <a:r>
              <a:rPr lang="es-ES" dirty="0" err="1"/>
              <a:t>escaner</a:t>
            </a:r>
            <a:r>
              <a:rPr lang="es-ES" dirty="0"/>
              <a:t> (entrada de síntomas, hallazgos, respuestas del paciente)</a:t>
            </a:r>
          </a:p>
        </p:txBody>
      </p:sp>
      <p:sp>
        <p:nvSpPr>
          <p:cNvPr id="3" name="CuadroTexto 2">
            <a:extLst>
              <a:ext uri="{FF2B5EF4-FFF2-40B4-BE49-F238E27FC236}">
                <a16:creationId xmlns:a16="http://schemas.microsoft.com/office/drawing/2014/main" id="{5F6160E4-6E8B-CC41-C320-53BCB1F89ACD}"/>
              </a:ext>
            </a:extLst>
          </p:cNvPr>
          <p:cNvSpPr txBox="1"/>
          <p:nvPr/>
        </p:nvSpPr>
        <p:spPr>
          <a:xfrm>
            <a:off x="1066800" y="1676400"/>
            <a:ext cx="6781800" cy="523220"/>
          </a:xfrm>
          <a:prstGeom prst="rect">
            <a:avLst/>
          </a:prstGeom>
          <a:noFill/>
        </p:spPr>
        <p:txBody>
          <a:bodyPr wrap="square">
            <a:spAutoFit/>
          </a:bodyPr>
          <a:lstStyle/>
          <a:p>
            <a:r>
              <a:rPr lang="es-ES" sz="2800" dirty="0">
                <a:solidFill>
                  <a:srgbClr val="0070C0"/>
                </a:solidFill>
              </a:rPr>
              <a:t>Agente: sistema de diagnostico médico</a:t>
            </a:r>
            <a:endParaRPr lang="es-A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B8960B4-F580-4477-932A-4399127C15EF}"/>
              </a:ext>
            </a:extLst>
          </p:cNvPr>
          <p:cNvSpPr>
            <a:spLocks noGrp="1" noChangeArrowheads="1"/>
          </p:cNvSpPr>
          <p:nvPr>
            <p:ph type="title"/>
          </p:nvPr>
        </p:nvSpPr>
        <p:spPr/>
        <p:txBody>
          <a:bodyPr/>
          <a:lstStyle/>
          <a:p>
            <a:pPr eaLnBrk="1" hangingPunct="1"/>
            <a:r>
              <a:rPr lang="en-US" altLang="es-AR"/>
              <a:t>REAS</a:t>
            </a:r>
          </a:p>
        </p:txBody>
      </p:sp>
      <p:sp>
        <p:nvSpPr>
          <p:cNvPr id="15363" name="Rectangle 3">
            <a:extLst>
              <a:ext uri="{FF2B5EF4-FFF2-40B4-BE49-F238E27FC236}">
                <a16:creationId xmlns:a16="http://schemas.microsoft.com/office/drawing/2014/main" id="{1DA03DA9-4E56-4492-B1D0-81AC5644641B}"/>
              </a:ext>
            </a:extLst>
          </p:cNvPr>
          <p:cNvSpPr>
            <a:spLocks noGrp="1" noChangeArrowheads="1"/>
          </p:cNvSpPr>
          <p:nvPr>
            <p:ph type="body" idx="1"/>
          </p:nvPr>
        </p:nvSpPr>
        <p:spPr>
          <a:xfrm>
            <a:off x="457200" y="2358619"/>
            <a:ext cx="8229600" cy="3737382"/>
          </a:xfrm>
        </p:spPr>
        <p:txBody>
          <a:bodyPr/>
          <a:lstStyle/>
          <a:p>
            <a:pPr eaLnBrk="1" hangingPunct="1">
              <a:buFontTx/>
              <a:buNone/>
            </a:pPr>
            <a:endParaRPr lang="en-US" altLang="es-AR" dirty="0"/>
          </a:p>
          <a:p>
            <a:pPr lvl="1" eaLnBrk="1" hangingPunct="1">
              <a:buFont typeface="Wingdings" panose="05000000000000000000" pitchFamily="2" charset="2"/>
              <a:buChar char="ü"/>
            </a:pPr>
            <a:r>
              <a:rPr lang="en-US" altLang="es-AR" sz="2400" b="1" u="sng" dirty="0" err="1"/>
              <a:t>Rendimiento</a:t>
            </a:r>
            <a:r>
              <a:rPr lang="en-US" altLang="es-AR" sz="2400" dirty="0"/>
              <a:t>: </a:t>
            </a:r>
            <a:r>
              <a:rPr lang="en-US" altLang="es-AR" sz="2400" dirty="0" err="1"/>
              <a:t>porcentaje</a:t>
            </a:r>
            <a:r>
              <a:rPr lang="en-US" altLang="es-AR" sz="2400" dirty="0"/>
              <a:t> de </a:t>
            </a:r>
            <a:r>
              <a:rPr lang="en-US" altLang="es-AR" sz="2400" dirty="0" err="1"/>
              <a:t>partes</a:t>
            </a:r>
            <a:r>
              <a:rPr lang="en-US" altLang="es-AR" sz="2400" dirty="0"/>
              <a:t> </a:t>
            </a:r>
            <a:r>
              <a:rPr lang="en-US" altLang="es-AR" sz="2400" dirty="0" err="1"/>
              <a:t>en</a:t>
            </a:r>
            <a:r>
              <a:rPr lang="en-US" altLang="es-AR" sz="2400" dirty="0"/>
              <a:t> la canasta </a:t>
            </a:r>
            <a:r>
              <a:rPr lang="en-US" altLang="es-AR" sz="2400" dirty="0" err="1"/>
              <a:t>correcta</a:t>
            </a:r>
            <a:endParaRPr lang="en-US" altLang="es-AR" sz="2400" dirty="0"/>
          </a:p>
          <a:p>
            <a:pPr lvl="1" eaLnBrk="1" hangingPunct="1">
              <a:buFont typeface="Wingdings" panose="05000000000000000000" pitchFamily="2" charset="2"/>
              <a:buChar char="ü"/>
            </a:pPr>
            <a:r>
              <a:rPr lang="en-US" altLang="es-AR" sz="2400" b="1" u="sng" dirty="0" err="1"/>
              <a:t>Entorno</a:t>
            </a:r>
            <a:r>
              <a:rPr lang="en-US" altLang="es-AR" sz="2400" dirty="0"/>
              <a:t>: </a:t>
            </a:r>
            <a:r>
              <a:rPr lang="en-US" altLang="es-AR" sz="2400" dirty="0" err="1"/>
              <a:t>cinta</a:t>
            </a:r>
            <a:r>
              <a:rPr lang="en-US" altLang="es-AR" sz="2400" dirty="0"/>
              <a:t> </a:t>
            </a:r>
            <a:r>
              <a:rPr lang="en-US" altLang="es-AR" sz="2400" dirty="0" err="1"/>
              <a:t>transportadora</a:t>
            </a:r>
            <a:r>
              <a:rPr lang="en-US" altLang="es-AR" sz="2400" dirty="0"/>
              <a:t> con las </a:t>
            </a:r>
            <a:r>
              <a:rPr lang="en-US" altLang="es-AR" sz="2400" dirty="0" err="1"/>
              <a:t>partes</a:t>
            </a:r>
            <a:r>
              <a:rPr lang="en-US" altLang="es-AR" sz="2400" dirty="0"/>
              <a:t>, las canastas</a:t>
            </a:r>
          </a:p>
          <a:p>
            <a:pPr lvl="1" eaLnBrk="1" hangingPunct="1">
              <a:buFont typeface="Wingdings" panose="05000000000000000000" pitchFamily="2" charset="2"/>
              <a:buChar char="ü"/>
            </a:pPr>
            <a:r>
              <a:rPr lang="en-US" altLang="es-AR" sz="2400" b="1" u="sng" dirty="0" err="1"/>
              <a:t>Actuadores</a:t>
            </a:r>
            <a:r>
              <a:rPr lang="en-US" altLang="es-AR" sz="2400" dirty="0"/>
              <a:t>: </a:t>
            </a:r>
            <a:r>
              <a:rPr lang="en-US" altLang="es-AR" sz="2400" dirty="0" err="1"/>
              <a:t>brazos</a:t>
            </a:r>
            <a:r>
              <a:rPr lang="en-US" altLang="es-AR" sz="2400" dirty="0"/>
              <a:t> y manos </a:t>
            </a:r>
            <a:r>
              <a:rPr lang="en-US" altLang="es-AR" sz="2400" dirty="0" err="1"/>
              <a:t>robóticas</a:t>
            </a:r>
            <a:endParaRPr lang="en-US" altLang="es-AR" sz="2400" dirty="0"/>
          </a:p>
          <a:p>
            <a:pPr lvl="1" eaLnBrk="1" hangingPunct="1">
              <a:buFont typeface="Wingdings" panose="05000000000000000000" pitchFamily="2" charset="2"/>
              <a:buChar char="ü"/>
            </a:pPr>
            <a:r>
              <a:rPr lang="en-US" altLang="es-AR" sz="2400" b="1" u="sng" dirty="0" err="1"/>
              <a:t>Sensores</a:t>
            </a:r>
            <a:r>
              <a:rPr lang="en-US" altLang="es-AR" sz="2400" dirty="0"/>
              <a:t>: </a:t>
            </a:r>
            <a:r>
              <a:rPr lang="en-US" altLang="es-AR" sz="2400" dirty="0" err="1"/>
              <a:t>cámara</a:t>
            </a:r>
            <a:r>
              <a:rPr lang="en-US" altLang="es-AR" sz="2400" dirty="0"/>
              <a:t>, </a:t>
            </a:r>
            <a:r>
              <a:rPr lang="en-US" altLang="es-AR" sz="2400" dirty="0" err="1"/>
              <a:t>sensores</a:t>
            </a:r>
            <a:r>
              <a:rPr lang="en-US" altLang="es-AR" sz="2400" dirty="0"/>
              <a:t> de </a:t>
            </a:r>
            <a:r>
              <a:rPr lang="en-US" altLang="es-AR" sz="2400" dirty="0" err="1"/>
              <a:t>proximidad</a:t>
            </a:r>
            <a:r>
              <a:rPr lang="en-US" altLang="es-AR" sz="2400" dirty="0"/>
              <a:t>, </a:t>
            </a:r>
            <a:r>
              <a:rPr lang="en-US" altLang="es-AR" sz="2400" dirty="0" err="1"/>
              <a:t>otros</a:t>
            </a:r>
            <a:r>
              <a:rPr lang="en-US" altLang="es-AR" sz="2400" dirty="0"/>
              <a:t> </a:t>
            </a:r>
            <a:r>
              <a:rPr lang="en-US" altLang="es-AR" sz="2400" dirty="0" err="1"/>
              <a:t>sensores</a:t>
            </a:r>
            <a:endParaRPr lang="en-US" altLang="es-AR" sz="2400" dirty="0"/>
          </a:p>
        </p:txBody>
      </p:sp>
      <p:sp>
        <p:nvSpPr>
          <p:cNvPr id="3" name="CuadroTexto 2">
            <a:extLst>
              <a:ext uri="{FF2B5EF4-FFF2-40B4-BE49-F238E27FC236}">
                <a16:creationId xmlns:a16="http://schemas.microsoft.com/office/drawing/2014/main" id="{481EDD85-8637-38D9-3778-A606187BE308}"/>
              </a:ext>
            </a:extLst>
          </p:cNvPr>
          <p:cNvSpPr txBox="1"/>
          <p:nvPr/>
        </p:nvSpPr>
        <p:spPr>
          <a:xfrm>
            <a:off x="434162" y="1828800"/>
            <a:ext cx="5814237" cy="523220"/>
          </a:xfrm>
          <a:prstGeom prst="rect">
            <a:avLst/>
          </a:prstGeom>
          <a:noFill/>
        </p:spPr>
        <p:txBody>
          <a:bodyPr wrap="square">
            <a:spAutoFit/>
          </a:bodyPr>
          <a:lstStyle/>
          <a:p>
            <a:pPr algn="ctr" eaLnBrk="1" hangingPunct="1">
              <a:buFontTx/>
              <a:buNone/>
            </a:pPr>
            <a:r>
              <a:rPr lang="en-US" altLang="es-AR" sz="2800" dirty="0" err="1">
                <a:solidFill>
                  <a:srgbClr val="0070C0"/>
                </a:solidFill>
              </a:rPr>
              <a:t>Agente</a:t>
            </a:r>
            <a:r>
              <a:rPr lang="en-US" altLang="es-AR" sz="2800" dirty="0">
                <a:solidFill>
                  <a:srgbClr val="0070C0"/>
                </a:solidFill>
              </a:rPr>
              <a:t>: robot Part-picking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0DED620-7433-436E-81D7-7DC19BD9577F}"/>
              </a:ext>
            </a:extLst>
          </p:cNvPr>
          <p:cNvSpPr>
            <a:spLocks noGrp="1" noChangeArrowheads="1"/>
          </p:cNvSpPr>
          <p:nvPr>
            <p:ph type="title"/>
          </p:nvPr>
        </p:nvSpPr>
        <p:spPr/>
        <p:txBody>
          <a:bodyPr/>
          <a:lstStyle/>
          <a:p>
            <a:pPr eaLnBrk="1" hangingPunct="1"/>
            <a:r>
              <a:rPr lang="en-US" altLang="es-AR"/>
              <a:t>REAS</a:t>
            </a:r>
          </a:p>
        </p:txBody>
      </p:sp>
      <p:sp>
        <p:nvSpPr>
          <p:cNvPr id="16387" name="Rectangle 3">
            <a:extLst>
              <a:ext uri="{FF2B5EF4-FFF2-40B4-BE49-F238E27FC236}">
                <a16:creationId xmlns:a16="http://schemas.microsoft.com/office/drawing/2014/main" id="{FD46D15B-56D4-45CD-85C3-B22BE890FB68}"/>
              </a:ext>
            </a:extLst>
          </p:cNvPr>
          <p:cNvSpPr>
            <a:spLocks noGrp="1" noChangeArrowheads="1"/>
          </p:cNvSpPr>
          <p:nvPr>
            <p:ph type="body" idx="1"/>
          </p:nvPr>
        </p:nvSpPr>
        <p:spPr>
          <a:xfrm>
            <a:off x="533400" y="2275821"/>
            <a:ext cx="8229600" cy="3362980"/>
          </a:xfrm>
        </p:spPr>
        <p:txBody>
          <a:bodyPr/>
          <a:lstStyle/>
          <a:p>
            <a:pPr algn="ctr" eaLnBrk="1" hangingPunct="1">
              <a:buFontTx/>
              <a:buNone/>
            </a:pPr>
            <a:endParaRPr lang="es-ES" altLang="es-AR" dirty="0">
              <a:solidFill>
                <a:srgbClr val="0070C0"/>
              </a:solidFill>
            </a:endParaRPr>
          </a:p>
          <a:p>
            <a:pPr lvl="1" eaLnBrk="1" hangingPunct="1">
              <a:buFont typeface="Wingdings" panose="05000000000000000000" pitchFamily="2" charset="2"/>
              <a:buChar char="ü"/>
            </a:pPr>
            <a:r>
              <a:rPr lang="es-ES" altLang="es-AR" sz="2400" b="1" u="sng" dirty="0"/>
              <a:t>Rendimiento</a:t>
            </a:r>
            <a:r>
              <a:rPr lang="es-ES" altLang="es-AR" sz="2400" dirty="0"/>
              <a:t>: maximizar la calificación del alumno en la prueba de ingles</a:t>
            </a:r>
          </a:p>
          <a:p>
            <a:pPr lvl="1" eaLnBrk="1" hangingPunct="1">
              <a:buFont typeface="Wingdings" panose="05000000000000000000" pitchFamily="2" charset="2"/>
              <a:buChar char="ü"/>
            </a:pPr>
            <a:r>
              <a:rPr lang="es-ES" altLang="es-AR" sz="2400" b="1" u="sng" dirty="0"/>
              <a:t>Entorno</a:t>
            </a:r>
            <a:r>
              <a:rPr lang="es-ES" altLang="es-AR" sz="2400" dirty="0"/>
              <a:t>: estudiantes</a:t>
            </a:r>
          </a:p>
          <a:p>
            <a:pPr lvl="1" eaLnBrk="1" hangingPunct="1">
              <a:buFont typeface="Wingdings" panose="05000000000000000000" pitchFamily="2" charset="2"/>
              <a:buChar char="ü"/>
            </a:pPr>
            <a:r>
              <a:rPr lang="es-ES" altLang="es-AR" sz="2400" b="1" u="sng" dirty="0"/>
              <a:t>Actuadores</a:t>
            </a:r>
            <a:r>
              <a:rPr lang="es-ES" altLang="es-AR" sz="2400" dirty="0"/>
              <a:t>: pantalla (se muestran ejercicios, sugerencias y correcciones)</a:t>
            </a:r>
          </a:p>
          <a:p>
            <a:pPr lvl="1" eaLnBrk="1" hangingPunct="1">
              <a:buFont typeface="Wingdings" panose="05000000000000000000" pitchFamily="2" charset="2"/>
              <a:buChar char="ü"/>
            </a:pPr>
            <a:r>
              <a:rPr lang="es-ES" altLang="es-AR" sz="2400" b="1" u="sng" dirty="0"/>
              <a:t>Sensores</a:t>
            </a:r>
            <a:r>
              <a:rPr lang="es-ES" altLang="es-AR" sz="2400" dirty="0"/>
              <a:t>: teclado, mouse, pantalla </a:t>
            </a:r>
            <a:r>
              <a:rPr lang="es-ES" altLang="es-AR" sz="2400" dirty="0" err="1"/>
              <a:t>tactil</a:t>
            </a:r>
            <a:endParaRPr lang="es-ES" altLang="es-AR" sz="2400" dirty="0"/>
          </a:p>
        </p:txBody>
      </p:sp>
      <p:sp>
        <p:nvSpPr>
          <p:cNvPr id="3" name="CuadroTexto 2">
            <a:extLst>
              <a:ext uri="{FF2B5EF4-FFF2-40B4-BE49-F238E27FC236}">
                <a16:creationId xmlns:a16="http://schemas.microsoft.com/office/drawing/2014/main" id="{589BBEB6-4498-1991-CB7F-D4D3ED1CC005}"/>
              </a:ext>
            </a:extLst>
          </p:cNvPr>
          <p:cNvSpPr txBox="1"/>
          <p:nvPr/>
        </p:nvSpPr>
        <p:spPr>
          <a:xfrm>
            <a:off x="458972" y="1752600"/>
            <a:ext cx="7161028" cy="523220"/>
          </a:xfrm>
          <a:prstGeom prst="rect">
            <a:avLst/>
          </a:prstGeom>
          <a:noFill/>
        </p:spPr>
        <p:txBody>
          <a:bodyPr wrap="square">
            <a:spAutoFit/>
          </a:bodyPr>
          <a:lstStyle/>
          <a:p>
            <a:pPr algn="ctr" eaLnBrk="1" hangingPunct="1">
              <a:buFontTx/>
              <a:buNone/>
            </a:pPr>
            <a:r>
              <a:rPr lang="es-ES" altLang="es-AR" sz="2800" dirty="0">
                <a:solidFill>
                  <a:srgbClr val="0070C0"/>
                </a:solidFill>
              </a:rPr>
              <a:t>Agente: tutor de Inglés en línea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3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1264F64-93CD-41C1-8326-C006E4C89870}"/>
              </a:ext>
            </a:extLst>
          </p:cNvPr>
          <p:cNvSpPr>
            <a:spLocks noGrp="1" noChangeArrowheads="1"/>
          </p:cNvSpPr>
          <p:nvPr>
            <p:ph type="title"/>
          </p:nvPr>
        </p:nvSpPr>
        <p:spPr/>
        <p:txBody>
          <a:bodyPr/>
          <a:lstStyle/>
          <a:p>
            <a:pPr eaLnBrk="1" hangingPunct="1"/>
            <a:r>
              <a:rPr lang="en-US" altLang="es-AR"/>
              <a:t>Tipos de Entorno</a:t>
            </a:r>
          </a:p>
        </p:txBody>
      </p:sp>
      <p:sp>
        <p:nvSpPr>
          <p:cNvPr id="17411" name="Rectangle 3">
            <a:extLst>
              <a:ext uri="{FF2B5EF4-FFF2-40B4-BE49-F238E27FC236}">
                <a16:creationId xmlns:a16="http://schemas.microsoft.com/office/drawing/2014/main" id="{1ED88CBB-D62F-4B43-B2B3-0FDF0743E096}"/>
              </a:ext>
            </a:extLst>
          </p:cNvPr>
          <p:cNvSpPr>
            <a:spLocks noGrp="1" noChangeArrowheads="1"/>
          </p:cNvSpPr>
          <p:nvPr>
            <p:ph type="body" idx="1"/>
          </p:nvPr>
        </p:nvSpPr>
        <p:spPr>
          <a:xfrm>
            <a:off x="609600" y="1371600"/>
            <a:ext cx="8229600" cy="4800600"/>
          </a:xfrm>
        </p:spPr>
        <p:txBody>
          <a:bodyPr/>
          <a:lstStyle/>
          <a:p>
            <a:pPr>
              <a:buFont typeface="Wingdings" panose="05000000000000000000" pitchFamily="2" charset="2"/>
              <a:buChar char="Ø"/>
            </a:pPr>
            <a:r>
              <a:rPr lang="es-AR" altLang="es-AR" sz="2400">
                <a:solidFill>
                  <a:srgbClr val="0070C0"/>
                </a:solidFill>
              </a:rPr>
              <a:t>Totalmente observable (vs.parcialmente observable</a:t>
            </a:r>
            <a:r>
              <a:rPr lang="es-AR" altLang="es-AR" sz="2400"/>
              <a:t>)</a:t>
            </a:r>
          </a:p>
          <a:p>
            <a:pPr lvl="1">
              <a:buFont typeface="Wingdings" panose="05000000000000000000" pitchFamily="2" charset="2"/>
              <a:buChar char="Ø"/>
            </a:pPr>
            <a:r>
              <a:rPr lang="es-AR" altLang="es-AR" sz="2000"/>
              <a:t> los sensores de un agente le dan acceso al estado completo del entorno en cada momento.</a:t>
            </a:r>
          </a:p>
          <a:p>
            <a:pPr>
              <a:buFont typeface="Wingdings" panose="05000000000000000000" pitchFamily="2" charset="2"/>
              <a:buChar char="Ø"/>
            </a:pPr>
            <a:r>
              <a:rPr lang="es-AR" altLang="es-AR" sz="2400">
                <a:solidFill>
                  <a:srgbClr val="0070C0"/>
                </a:solidFill>
              </a:rPr>
              <a:t>Determinista (vs. estocástico)</a:t>
            </a:r>
            <a:endParaRPr lang="es-AR" altLang="es-AR" sz="2400"/>
          </a:p>
          <a:p>
            <a:pPr lvl="1">
              <a:buFont typeface="Wingdings" panose="05000000000000000000" pitchFamily="2" charset="2"/>
              <a:buChar char="Ø"/>
            </a:pPr>
            <a:r>
              <a:rPr lang="es-AR" altLang="es-AR" sz="2000"/>
              <a:t>El siguiente estado del entorno está completamente determinado por el estado actual y la acción ejecutada por el agente.   </a:t>
            </a:r>
          </a:p>
          <a:p>
            <a:pPr>
              <a:buFont typeface="Wingdings" panose="05000000000000000000" pitchFamily="2" charset="2"/>
              <a:buChar char="Ø"/>
            </a:pPr>
            <a:r>
              <a:rPr lang="es-AR" altLang="es-AR" sz="2400">
                <a:solidFill>
                  <a:srgbClr val="0070C0"/>
                </a:solidFill>
              </a:rPr>
              <a:t>Episodico (vs. secuencial)</a:t>
            </a:r>
          </a:p>
          <a:p>
            <a:pPr lvl="1">
              <a:buFont typeface="Wingdings" panose="05000000000000000000" pitchFamily="2" charset="2"/>
              <a:buChar char="Ø"/>
            </a:pPr>
            <a:r>
              <a:rPr lang="es-AR" altLang="es-AR" sz="2000"/>
              <a:t> a experiencia del agente se divide en "episodios" atómicos (cada episodio consiste en que el agente perciba y luego realice una sola acción), y la elección de la acción en cada episodio depende solo del episodio en sí.</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D8D958A-B24F-4644-AA25-4FE55297A44D}"/>
              </a:ext>
            </a:extLst>
          </p:cNvPr>
          <p:cNvSpPr>
            <a:spLocks noGrp="1" noChangeArrowheads="1"/>
          </p:cNvSpPr>
          <p:nvPr>
            <p:ph type="title"/>
          </p:nvPr>
        </p:nvSpPr>
        <p:spPr/>
        <p:txBody>
          <a:bodyPr/>
          <a:lstStyle/>
          <a:p>
            <a:pPr eaLnBrk="1" hangingPunct="1"/>
            <a:r>
              <a:rPr lang="en-US" altLang="es-AR"/>
              <a:t>Tipos de Entorno</a:t>
            </a:r>
          </a:p>
        </p:txBody>
      </p:sp>
      <p:sp>
        <p:nvSpPr>
          <p:cNvPr id="18435" name="Rectangle 3">
            <a:extLst>
              <a:ext uri="{FF2B5EF4-FFF2-40B4-BE49-F238E27FC236}">
                <a16:creationId xmlns:a16="http://schemas.microsoft.com/office/drawing/2014/main" id="{D0F3C81C-6E2D-4BEE-9A52-2308350F4757}"/>
              </a:ext>
            </a:extLst>
          </p:cNvPr>
          <p:cNvSpPr>
            <a:spLocks noGrp="1" noChangeArrowheads="1"/>
          </p:cNvSpPr>
          <p:nvPr>
            <p:ph type="body" idx="1"/>
          </p:nvPr>
        </p:nvSpPr>
        <p:spPr/>
        <p:txBody>
          <a:bodyPr/>
          <a:lstStyle/>
          <a:p>
            <a:pPr>
              <a:buFont typeface="Wingdings" panose="05000000000000000000" pitchFamily="2" charset="2"/>
              <a:buChar char="Ø"/>
            </a:pPr>
            <a:r>
              <a:rPr lang="es-AR" altLang="es-AR" sz="2400">
                <a:solidFill>
                  <a:srgbClr val="0070C0"/>
                </a:solidFill>
              </a:rPr>
              <a:t>Estático (vs. dinámico)</a:t>
            </a:r>
          </a:p>
          <a:p>
            <a:pPr lvl="1">
              <a:buFont typeface="Wingdings" panose="05000000000000000000" pitchFamily="2" charset="2"/>
              <a:buChar char="Ø"/>
            </a:pPr>
            <a:r>
              <a:rPr lang="es-AR" altLang="es-AR" sz="2000"/>
              <a:t>El entorno no cambia mientras un agente delibera. (El entorno es semidinámico si el entorno en sí no cambia con el paso del tiempo, pero el puntaje de desempeño del agente sí lo hace)</a:t>
            </a:r>
          </a:p>
          <a:p>
            <a:pPr>
              <a:buFont typeface="Wingdings" panose="05000000000000000000" pitchFamily="2" charset="2"/>
              <a:buChar char="Ø"/>
            </a:pPr>
            <a:r>
              <a:rPr lang="es-AR" altLang="es-AR" sz="2400">
                <a:solidFill>
                  <a:srgbClr val="0070C0"/>
                </a:solidFill>
              </a:rPr>
              <a:t>Discreto (vs. continuo)</a:t>
            </a:r>
          </a:p>
          <a:p>
            <a:pPr lvl="1">
              <a:buFont typeface="Wingdings" panose="05000000000000000000" pitchFamily="2" charset="2"/>
              <a:buChar char="Ø"/>
            </a:pPr>
            <a:r>
              <a:rPr lang="es-AR" altLang="es-AR" sz="2000"/>
              <a:t>Un número limitado de percepciones y acciones distintas, claramente definidas.</a:t>
            </a:r>
          </a:p>
          <a:p>
            <a:pPr>
              <a:buFont typeface="Wingdings" panose="05000000000000000000" pitchFamily="2" charset="2"/>
              <a:buChar char="Ø"/>
            </a:pPr>
            <a:r>
              <a:rPr lang="es-AR" altLang="es-AR" sz="2400">
                <a:solidFill>
                  <a:srgbClr val="0070C0"/>
                </a:solidFill>
              </a:rPr>
              <a:t>Agente único (vs. multiagente)</a:t>
            </a:r>
          </a:p>
          <a:p>
            <a:pPr lvl="1">
              <a:buFont typeface="Wingdings" panose="05000000000000000000" pitchFamily="2" charset="2"/>
              <a:buChar char="Ø"/>
            </a:pPr>
            <a:r>
              <a:rPr lang="es-AR" altLang="es-AR" sz="2000"/>
              <a:t>Un agente que opera solo en un entorno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3B1DB0D-C093-4491-9C92-3374F4DC5B05}"/>
              </a:ext>
            </a:extLst>
          </p:cNvPr>
          <p:cNvSpPr>
            <a:spLocks noGrp="1" noChangeArrowheads="1"/>
          </p:cNvSpPr>
          <p:nvPr>
            <p:ph type="title"/>
          </p:nvPr>
        </p:nvSpPr>
        <p:spPr/>
        <p:txBody>
          <a:bodyPr/>
          <a:lstStyle/>
          <a:p>
            <a:pPr eaLnBrk="1" hangingPunct="1"/>
            <a:r>
              <a:rPr lang="en-US" altLang="es-AR"/>
              <a:t>Tipos de Entorno. </a:t>
            </a:r>
            <a:r>
              <a:rPr lang="en-US" altLang="es-AR" sz="2000"/>
              <a:t>Ejemplos</a:t>
            </a:r>
          </a:p>
        </p:txBody>
      </p:sp>
      <p:pic>
        <p:nvPicPr>
          <p:cNvPr id="19459" name="Picture 2">
            <a:extLst>
              <a:ext uri="{FF2B5EF4-FFF2-40B4-BE49-F238E27FC236}">
                <a16:creationId xmlns:a16="http://schemas.microsoft.com/office/drawing/2014/main" id="{4CD3CA5D-48FE-4BE1-9C36-D1CBCC61D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8382000"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1 Rectángulo">
            <a:extLst>
              <a:ext uri="{FF2B5EF4-FFF2-40B4-BE49-F238E27FC236}">
                <a16:creationId xmlns:a16="http://schemas.microsoft.com/office/drawing/2014/main" id="{2932E19C-EC12-484D-8DB6-5AE3566760DA}"/>
              </a:ext>
            </a:extLst>
          </p:cNvPr>
          <p:cNvSpPr>
            <a:spLocks noChangeArrowheads="1"/>
          </p:cNvSpPr>
          <p:nvPr/>
        </p:nvSpPr>
        <p:spPr bwMode="auto">
          <a:xfrm>
            <a:off x="533400" y="4564520"/>
            <a:ext cx="8229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80000"/>
              </a:lnSpc>
              <a:defRPr/>
            </a:pPr>
            <a:r>
              <a:rPr lang="en-US" dirty="0">
                <a:latin typeface="Arial" charset="0"/>
              </a:rPr>
              <a:t>	</a:t>
            </a:r>
          </a:p>
          <a:p>
            <a:pPr>
              <a:lnSpc>
                <a:spcPct val="80000"/>
              </a:lnSpc>
              <a:defRPr/>
            </a:pPr>
            <a:r>
              <a:rPr lang="es-ES" dirty="0">
                <a:latin typeface="Arial" charset="0"/>
              </a:rPr>
              <a:t>El tipo de entorno determina fuertemente al diseño del agente.
</a:t>
            </a:r>
          </a:p>
          <a:p>
            <a:pPr>
              <a:lnSpc>
                <a:spcPct val="80000"/>
              </a:lnSpc>
              <a:defRPr/>
            </a:pPr>
            <a:r>
              <a:rPr lang="es-ES" dirty="0">
                <a:latin typeface="Arial" charset="0"/>
              </a:rPr>
              <a:t>El mundo real es:</a:t>
            </a:r>
          </a:p>
          <a:p>
            <a:pPr marL="2571750" lvl="5" indent="-285750">
              <a:lnSpc>
                <a:spcPct val="80000"/>
              </a:lnSpc>
              <a:buFont typeface="Wingdings" pitchFamily="2" charset="2"/>
              <a:buChar char="ü"/>
              <a:defRPr/>
            </a:pPr>
            <a:r>
              <a:rPr lang="en-US" dirty="0" err="1">
                <a:latin typeface="Arial" charset="0"/>
              </a:rPr>
              <a:t>Parcialmente</a:t>
            </a:r>
            <a:r>
              <a:rPr lang="en-US" dirty="0">
                <a:latin typeface="Arial" charset="0"/>
              </a:rPr>
              <a:t> observable</a:t>
            </a:r>
          </a:p>
          <a:p>
            <a:pPr marL="2571750" lvl="5" indent="-285750">
              <a:lnSpc>
                <a:spcPct val="80000"/>
              </a:lnSpc>
              <a:buFont typeface="Wingdings" pitchFamily="2" charset="2"/>
              <a:buChar char="ü"/>
              <a:defRPr/>
            </a:pPr>
            <a:r>
              <a:rPr lang="en-US" dirty="0">
                <a:latin typeface="Arial" charset="0"/>
              </a:rPr>
              <a:t>stochastic </a:t>
            </a:r>
          </a:p>
          <a:p>
            <a:pPr marL="2571750" lvl="5" indent="-285750">
              <a:lnSpc>
                <a:spcPct val="80000"/>
              </a:lnSpc>
              <a:buFont typeface="Wingdings" pitchFamily="2" charset="2"/>
              <a:buChar char="ü"/>
              <a:defRPr/>
            </a:pPr>
            <a:r>
              <a:rPr lang="en-US" dirty="0" err="1">
                <a:latin typeface="Arial" charset="0"/>
              </a:rPr>
              <a:t>Secuencial</a:t>
            </a:r>
            <a:endParaRPr lang="en-US" dirty="0">
              <a:latin typeface="Arial" charset="0"/>
            </a:endParaRPr>
          </a:p>
          <a:p>
            <a:pPr marL="2571750" lvl="5" indent="-285750">
              <a:lnSpc>
                <a:spcPct val="80000"/>
              </a:lnSpc>
              <a:buFont typeface="Wingdings" pitchFamily="2" charset="2"/>
              <a:buChar char="ü"/>
              <a:defRPr/>
            </a:pPr>
            <a:r>
              <a:rPr lang="en-US" dirty="0" err="1">
                <a:latin typeface="Arial" charset="0"/>
              </a:rPr>
              <a:t>dinámico</a:t>
            </a:r>
            <a:endParaRPr lang="en-US" dirty="0">
              <a:latin typeface="Arial" charset="0"/>
            </a:endParaRPr>
          </a:p>
          <a:p>
            <a:pPr marL="2571750" lvl="5" indent="-285750">
              <a:lnSpc>
                <a:spcPct val="80000"/>
              </a:lnSpc>
              <a:buFont typeface="Wingdings" pitchFamily="2" charset="2"/>
              <a:buChar char="ü"/>
              <a:defRPr/>
            </a:pPr>
            <a:r>
              <a:rPr lang="en-US" dirty="0">
                <a:latin typeface="Arial" charset="0"/>
              </a:rPr>
              <a:t>Continuo</a:t>
            </a:r>
          </a:p>
          <a:p>
            <a:pPr marL="2571750" lvl="5" indent="-285750">
              <a:lnSpc>
                <a:spcPct val="80000"/>
              </a:lnSpc>
              <a:buFont typeface="Wingdings" pitchFamily="2" charset="2"/>
              <a:buChar char="ü"/>
              <a:defRPr/>
            </a:pPr>
            <a:r>
              <a:rPr lang="en-US" dirty="0">
                <a:latin typeface="Arial" charset="0"/>
              </a:rPr>
              <a:t>multi-</a:t>
            </a:r>
            <a:r>
              <a:rPr lang="en-US" dirty="0" err="1">
                <a:latin typeface="Arial" charset="0"/>
              </a:rPr>
              <a:t>agente</a:t>
            </a:r>
            <a:endParaRPr lang="es-AR" dirty="0">
              <a:latin typeface="Arial"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2AF89B0-058E-4F72-8526-C2DEE2C1B2F1}"/>
              </a:ext>
            </a:extLst>
          </p:cNvPr>
          <p:cNvSpPr>
            <a:spLocks noGrp="1" noChangeArrowheads="1"/>
          </p:cNvSpPr>
          <p:nvPr>
            <p:ph type="title"/>
          </p:nvPr>
        </p:nvSpPr>
        <p:spPr/>
        <p:txBody>
          <a:bodyPr/>
          <a:lstStyle/>
          <a:p>
            <a:pPr eaLnBrk="1" hangingPunct="1"/>
            <a:r>
              <a:rPr lang="es-ES" altLang="es-AR"/>
              <a:t>Función y programa del Agente</a:t>
            </a:r>
          </a:p>
        </p:txBody>
      </p:sp>
      <p:sp>
        <p:nvSpPr>
          <p:cNvPr id="20483" name="Rectangle 3">
            <a:extLst>
              <a:ext uri="{FF2B5EF4-FFF2-40B4-BE49-F238E27FC236}">
                <a16:creationId xmlns:a16="http://schemas.microsoft.com/office/drawing/2014/main" id="{5B3986EB-C8A3-4EF1-B585-A426988D116C}"/>
              </a:ext>
            </a:extLst>
          </p:cNvPr>
          <p:cNvSpPr>
            <a:spLocks noGrp="1" noChangeArrowheads="1"/>
          </p:cNvSpPr>
          <p:nvPr>
            <p:ph type="body" idx="1"/>
          </p:nvPr>
        </p:nvSpPr>
        <p:spPr/>
        <p:txBody>
          <a:bodyPr/>
          <a:lstStyle/>
          <a:p>
            <a:r>
              <a:rPr lang="es-AR" altLang="es-AR"/>
              <a:t>Un agente está completamente especificado por la función que asigna secuencias de percepción a acciones</a:t>
            </a:r>
            <a:br>
              <a:rPr lang="es-AR" altLang="es-AR"/>
            </a:br>
            <a:br>
              <a:rPr lang="es-AR" altLang="es-AR"/>
            </a:br>
            <a:r>
              <a:rPr lang="es-AR" altLang="es-AR" b="1"/>
              <a:t>Objetivo</a:t>
            </a:r>
            <a:r>
              <a:rPr lang="es-AR" altLang="es-AR"/>
              <a:t>: encontrar una manera de implementar la función de agente racional de manera </a:t>
            </a:r>
            <a:r>
              <a:rPr lang="es-AR" altLang="es-AR" b="1"/>
              <a:t>concisa y flexible</a:t>
            </a:r>
            <a:r>
              <a:rPr lang="es-AR" altLang="es-AR"/>
              <a:t>.</a:t>
            </a:r>
          </a:p>
          <a:p>
            <a:pPr eaLnBrk="1" hangingPunct="1">
              <a:buFontTx/>
              <a:buNone/>
            </a:pPr>
            <a:r>
              <a:rPr lang="en-US" altLang="es-A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8484CB0-1DF3-4FFF-B51D-53B670169A54}"/>
              </a:ext>
            </a:extLst>
          </p:cNvPr>
          <p:cNvSpPr>
            <a:spLocks noGrp="1" noChangeArrowheads="1"/>
          </p:cNvSpPr>
          <p:nvPr>
            <p:ph type="title"/>
          </p:nvPr>
        </p:nvSpPr>
        <p:spPr/>
        <p:txBody>
          <a:bodyPr/>
          <a:lstStyle/>
          <a:p>
            <a:pPr eaLnBrk="1" hangingPunct="1"/>
            <a:r>
              <a:rPr lang="en-US" altLang="es-AR"/>
              <a:t>Table-lookup agent</a:t>
            </a:r>
          </a:p>
        </p:txBody>
      </p:sp>
      <p:pic>
        <p:nvPicPr>
          <p:cNvPr id="21507" name="Picture 4">
            <a:extLst>
              <a:ext uri="{FF2B5EF4-FFF2-40B4-BE49-F238E27FC236}">
                <a16:creationId xmlns:a16="http://schemas.microsoft.com/office/drawing/2014/main" id="{54B57657-5FFA-4AC5-BFC9-ED8D7E303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38" y="1371600"/>
            <a:ext cx="9250362"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5">
            <a:extLst>
              <a:ext uri="{FF2B5EF4-FFF2-40B4-BE49-F238E27FC236}">
                <a16:creationId xmlns:a16="http://schemas.microsoft.com/office/drawing/2014/main" id="{6A9416D1-3AA9-4AE7-80B8-F1E93DCBD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150" y="3962400"/>
            <a:ext cx="6211888"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4AA9A93-3EDE-4760-9613-F14FBA2AB043}"/>
              </a:ext>
            </a:extLst>
          </p:cNvPr>
          <p:cNvSpPr>
            <a:spLocks noGrp="1" noChangeArrowheads="1"/>
          </p:cNvSpPr>
          <p:nvPr>
            <p:ph type="title"/>
          </p:nvPr>
        </p:nvSpPr>
        <p:spPr/>
        <p:txBody>
          <a:bodyPr/>
          <a:lstStyle/>
          <a:p>
            <a:pPr eaLnBrk="1" hangingPunct="1"/>
            <a:r>
              <a:rPr lang="en-US" altLang="es-AR"/>
              <a:t>Table-lookup agent</a:t>
            </a:r>
          </a:p>
        </p:txBody>
      </p:sp>
      <p:sp>
        <p:nvSpPr>
          <p:cNvPr id="22531" name="Rectangle 3">
            <a:extLst>
              <a:ext uri="{FF2B5EF4-FFF2-40B4-BE49-F238E27FC236}">
                <a16:creationId xmlns:a16="http://schemas.microsoft.com/office/drawing/2014/main" id="{68984C5F-84C5-4792-B30B-89B9E88E6B8B}"/>
              </a:ext>
            </a:extLst>
          </p:cNvPr>
          <p:cNvSpPr>
            <a:spLocks noGrp="1" noChangeArrowheads="1"/>
          </p:cNvSpPr>
          <p:nvPr>
            <p:ph idx="1"/>
          </p:nvPr>
        </p:nvSpPr>
        <p:spPr/>
        <p:txBody>
          <a:bodyPr/>
          <a:lstStyle/>
          <a:p>
            <a:pPr marL="0" indent="0">
              <a:buFontTx/>
              <a:buNone/>
            </a:pPr>
            <a:r>
              <a:rPr lang="es-AR" altLang="es-AR" sz="2800"/>
              <a:t>Inconvenientes:</a:t>
            </a:r>
          </a:p>
          <a:p>
            <a:pPr lvl="1">
              <a:buFont typeface="Wingdings" panose="05000000000000000000" pitchFamily="2" charset="2"/>
              <a:buChar char="Ø"/>
            </a:pPr>
            <a:r>
              <a:rPr lang="es-AR" altLang="es-AR" sz="2400"/>
              <a:t>Tabla demasiado grande</a:t>
            </a:r>
          </a:p>
          <a:p>
            <a:pPr lvl="1">
              <a:buFont typeface="Wingdings" panose="05000000000000000000" pitchFamily="2" charset="2"/>
              <a:buChar char="Ø"/>
            </a:pPr>
            <a:r>
              <a:rPr lang="es-AR" altLang="es-AR" sz="2400"/>
              <a:t>Construir la tabla toma mucho tiempo</a:t>
            </a:r>
          </a:p>
          <a:p>
            <a:pPr lvl="1">
              <a:buFont typeface="Wingdings" panose="05000000000000000000" pitchFamily="2" charset="2"/>
              <a:buChar char="Ø"/>
            </a:pPr>
            <a:r>
              <a:rPr lang="es-AR" altLang="es-AR" sz="2400"/>
              <a:t>Sin autonomía</a:t>
            </a:r>
          </a:p>
          <a:p>
            <a:pPr lvl="1">
              <a:buFont typeface="Wingdings" panose="05000000000000000000" pitchFamily="2" charset="2"/>
              <a:buChar char="Ø"/>
            </a:pPr>
            <a:r>
              <a:rPr lang="es-AR" altLang="es-AR" sz="2400"/>
              <a:t>Incluso con el aprendizaje, necesita mucho tiempo para aprender las entradas de la tabla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BDE0B11-E960-462D-9DFB-592EEC63B5CC}"/>
              </a:ext>
            </a:extLst>
          </p:cNvPr>
          <p:cNvSpPr>
            <a:spLocks noGrp="1" noChangeArrowheads="1"/>
          </p:cNvSpPr>
          <p:nvPr>
            <p:ph type="title"/>
          </p:nvPr>
        </p:nvSpPr>
        <p:spPr/>
        <p:txBody>
          <a:bodyPr/>
          <a:lstStyle/>
          <a:p>
            <a:pPr eaLnBrk="1" hangingPunct="1"/>
            <a:r>
              <a:rPr lang="es-ES" altLang="es-AR"/>
              <a:t>Programa del agente para el agente Aspiradora</a:t>
            </a:r>
          </a:p>
        </p:txBody>
      </p:sp>
      <p:pic>
        <p:nvPicPr>
          <p:cNvPr id="23555" name="Picture 4">
            <a:extLst>
              <a:ext uri="{FF2B5EF4-FFF2-40B4-BE49-F238E27FC236}">
                <a16:creationId xmlns:a16="http://schemas.microsoft.com/office/drawing/2014/main" id="{11F89061-0C39-42C2-A848-BBE6D2EA13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 y="2362200"/>
            <a:ext cx="8956675" cy="15573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1 CuadroTexto">
            <a:extLst>
              <a:ext uri="{FF2B5EF4-FFF2-40B4-BE49-F238E27FC236}">
                <a16:creationId xmlns:a16="http://schemas.microsoft.com/office/drawing/2014/main" id="{9EB05479-1200-49B1-B13D-60CA7030139D}"/>
              </a:ext>
            </a:extLst>
          </p:cNvPr>
          <p:cNvSpPr txBox="1"/>
          <p:nvPr/>
        </p:nvSpPr>
        <p:spPr>
          <a:xfrm>
            <a:off x="609600" y="4857750"/>
            <a:ext cx="2268538" cy="1201738"/>
          </a:xfrm>
          <a:prstGeom prst="rect">
            <a:avLst/>
          </a:prstGeom>
          <a:noFill/>
        </p:spPr>
        <p:txBody>
          <a:bodyPr wrap="none">
            <a:spAutoFit/>
          </a:bodyPr>
          <a:lstStyle/>
          <a:p>
            <a:pPr>
              <a:defRPr/>
            </a:pPr>
            <a:r>
              <a:rPr lang="es-ES" b="1" dirty="0">
                <a:latin typeface="Arial" charset="0"/>
              </a:rPr>
              <a:t>Ventajas</a:t>
            </a:r>
            <a:r>
              <a:rPr lang="es-ES" dirty="0">
                <a:latin typeface="Arial" charset="0"/>
              </a:rPr>
              <a:t>: </a:t>
            </a:r>
          </a:p>
          <a:p>
            <a:pPr>
              <a:defRPr/>
            </a:pPr>
            <a:endParaRPr lang="es-ES" dirty="0">
              <a:latin typeface="Arial" charset="0"/>
            </a:endParaRPr>
          </a:p>
          <a:p>
            <a:pPr marL="285750" indent="-285750">
              <a:buFont typeface="Wingdings" pitchFamily="2" charset="2"/>
              <a:buChar char="Ø"/>
              <a:defRPr/>
            </a:pPr>
            <a:r>
              <a:rPr lang="es-ES" dirty="0">
                <a:latin typeface="Arial" charset="0"/>
              </a:rPr>
              <a:t>Compacto </a:t>
            </a:r>
          </a:p>
          <a:p>
            <a:pPr marL="285750" indent="-285750">
              <a:buFont typeface="Wingdings" pitchFamily="2" charset="2"/>
              <a:buChar char="Ø"/>
              <a:defRPr/>
            </a:pPr>
            <a:r>
              <a:rPr lang="es-ES" dirty="0">
                <a:latin typeface="Arial" charset="0"/>
              </a:rPr>
              <a:t> fácil de modificar</a:t>
            </a:r>
            <a:endParaRPr lang="es-AR" dirty="0">
              <a:latin typeface="Arial"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ECCA92A-87B8-4B21-A76E-3557B01CD8F1}"/>
              </a:ext>
            </a:extLst>
          </p:cNvPr>
          <p:cNvSpPr>
            <a:spLocks noGrp="1" noChangeArrowheads="1"/>
          </p:cNvSpPr>
          <p:nvPr>
            <p:ph type="title"/>
          </p:nvPr>
        </p:nvSpPr>
        <p:spPr/>
        <p:txBody>
          <a:bodyPr/>
          <a:lstStyle/>
          <a:p>
            <a:pPr eaLnBrk="1" hangingPunct="1"/>
            <a:r>
              <a:rPr lang="en-US" altLang="es-AR"/>
              <a:t>Tipos de Agente</a:t>
            </a:r>
          </a:p>
        </p:txBody>
      </p:sp>
      <p:sp>
        <p:nvSpPr>
          <p:cNvPr id="24579" name="Rectangle 3">
            <a:extLst>
              <a:ext uri="{FF2B5EF4-FFF2-40B4-BE49-F238E27FC236}">
                <a16:creationId xmlns:a16="http://schemas.microsoft.com/office/drawing/2014/main" id="{CC2F149E-5433-499C-B2BF-A03A4364CECE}"/>
              </a:ext>
            </a:extLst>
          </p:cNvPr>
          <p:cNvSpPr>
            <a:spLocks noGrp="1" noChangeArrowheads="1"/>
          </p:cNvSpPr>
          <p:nvPr>
            <p:ph type="body" idx="1"/>
          </p:nvPr>
        </p:nvSpPr>
        <p:spPr/>
        <p:txBody>
          <a:bodyPr/>
          <a:lstStyle/>
          <a:p>
            <a:pPr eaLnBrk="1" hangingPunct="1">
              <a:buFontTx/>
              <a:buNone/>
            </a:pPr>
            <a:r>
              <a:rPr lang="en-US" altLang="es-AR"/>
              <a:t>Tipos básicos:
</a:t>
            </a:r>
          </a:p>
          <a:p>
            <a:pPr eaLnBrk="1" hangingPunct="1"/>
            <a:r>
              <a:rPr lang="en-US" altLang="es-AR"/>
              <a:t>Agente Reactivo simple</a:t>
            </a:r>
          </a:p>
          <a:p>
            <a:pPr eaLnBrk="1" hangingPunct="1"/>
            <a:r>
              <a:rPr lang="en-US" altLang="es-AR"/>
              <a:t>Agente Reactivo basado en modelo</a:t>
            </a:r>
          </a:p>
          <a:p>
            <a:pPr eaLnBrk="1" hangingPunct="1"/>
            <a:r>
              <a:rPr lang="en-US" altLang="es-AR"/>
              <a:t>Agente Reactivo basado en objetivo</a:t>
            </a:r>
          </a:p>
          <a:p>
            <a:pPr eaLnBrk="1" hangingPunct="1"/>
            <a:r>
              <a:rPr lang="en-US" altLang="es-AR"/>
              <a:t>Agente Reactivo basado en utilidad</a:t>
            </a:r>
          </a:p>
          <a:p>
            <a:pPr eaLnBrk="1" hangingPunct="1"/>
            <a:r>
              <a:rPr lang="en-US" altLang="es-AR"/>
              <a:t>Agentes que aprenden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7687278-A835-4F18-85DA-BE3AD016E358}"/>
              </a:ext>
            </a:extLst>
          </p:cNvPr>
          <p:cNvSpPr>
            <a:spLocks noGrp="1" noChangeArrowheads="1"/>
          </p:cNvSpPr>
          <p:nvPr>
            <p:ph type="title"/>
          </p:nvPr>
        </p:nvSpPr>
        <p:spPr>
          <a:xfrm>
            <a:off x="457200" y="274638"/>
            <a:ext cx="8229600" cy="792162"/>
          </a:xfrm>
        </p:spPr>
        <p:txBody>
          <a:bodyPr/>
          <a:lstStyle/>
          <a:p>
            <a:pPr eaLnBrk="1" hangingPunct="1"/>
            <a:r>
              <a:rPr lang="en-US" altLang="es-AR"/>
              <a:t>Agente reactivo simple</a:t>
            </a:r>
          </a:p>
        </p:txBody>
      </p:sp>
      <p:pic>
        <p:nvPicPr>
          <p:cNvPr id="25603" name="Picture 4" descr="simple-reflex-agent">
            <a:extLst>
              <a:ext uri="{FF2B5EF4-FFF2-40B4-BE49-F238E27FC236}">
                <a16:creationId xmlns:a16="http://schemas.microsoft.com/office/drawing/2014/main" id="{4E630C3A-3E9A-446F-8332-BA57CA7299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371600"/>
            <a:ext cx="6781800" cy="4318000"/>
          </a:xfrm>
          <a:noFill/>
        </p:spPr>
      </p:pic>
      <p:sp>
        <p:nvSpPr>
          <p:cNvPr id="25604" name="1 Rectángulo">
            <a:extLst>
              <a:ext uri="{FF2B5EF4-FFF2-40B4-BE49-F238E27FC236}">
                <a16:creationId xmlns:a16="http://schemas.microsoft.com/office/drawing/2014/main" id="{93EC0DFF-33FB-43BF-9D18-3907B94CE92B}"/>
              </a:ext>
            </a:extLst>
          </p:cNvPr>
          <p:cNvSpPr>
            <a:spLocks noChangeArrowheads="1"/>
          </p:cNvSpPr>
          <p:nvPr/>
        </p:nvSpPr>
        <p:spPr bwMode="auto">
          <a:xfrm>
            <a:off x="609600" y="5867400"/>
            <a:ext cx="7924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AR"/>
              <a:t>Son los agentes que seleccionan las acciones sobre la base de las</a:t>
            </a:r>
          </a:p>
          <a:p>
            <a:pPr eaLnBrk="1" hangingPunct="1"/>
            <a:r>
              <a:rPr lang="es-AR" altLang="es-AR"/>
              <a:t>percepciones actuales, ignorando el resto de las percepciones históricas.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CAC16CC-1C1E-4521-8895-F4DA89945C9F}"/>
              </a:ext>
            </a:extLst>
          </p:cNvPr>
          <p:cNvSpPr>
            <a:spLocks noGrp="1" noChangeArrowheads="1"/>
          </p:cNvSpPr>
          <p:nvPr>
            <p:ph type="title"/>
          </p:nvPr>
        </p:nvSpPr>
        <p:spPr>
          <a:xfrm>
            <a:off x="457200" y="274638"/>
            <a:ext cx="8229600" cy="868362"/>
          </a:xfrm>
        </p:spPr>
        <p:txBody>
          <a:bodyPr/>
          <a:lstStyle/>
          <a:p>
            <a:pPr eaLnBrk="1" hangingPunct="1"/>
            <a:r>
              <a:rPr lang="en-US" altLang="es-AR"/>
              <a:t>Agente reactivo simple</a:t>
            </a:r>
          </a:p>
        </p:txBody>
      </p:sp>
      <p:pic>
        <p:nvPicPr>
          <p:cNvPr id="26627" name="Picture 4">
            <a:extLst>
              <a:ext uri="{FF2B5EF4-FFF2-40B4-BE49-F238E27FC236}">
                <a16:creationId xmlns:a16="http://schemas.microsoft.com/office/drawing/2014/main" id="{DF1BD4E3-4955-45B7-8261-BC35C1F8F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81200"/>
            <a:ext cx="85344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1 CuadroTexto">
            <a:extLst>
              <a:ext uri="{FF2B5EF4-FFF2-40B4-BE49-F238E27FC236}">
                <a16:creationId xmlns:a16="http://schemas.microsoft.com/office/drawing/2014/main" id="{A28D2142-4D1C-4939-A859-B69B4CAF5B0A}"/>
              </a:ext>
            </a:extLst>
          </p:cNvPr>
          <p:cNvSpPr txBox="1">
            <a:spLocks noChangeArrowheads="1"/>
          </p:cNvSpPr>
          <p:nvPr/>
        </p:nvSpPr>
        <p:spPr bwMode="auto">
          <a:xfrm>
            <a:off x="1371600" y="4572000"/>
            <a:ext cx="6507163"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AR" u="sng"/>
              <a:t>Ejemplo</a:t>
            </a:r>
            <a:r>
              <a:rPr lang="es-ES" altLang="es-AR"/>
              <a:t>:</a:t>
            </a:r>
          </a:p>
          <a:p>
            <a:pPr eaLnBrk="1" hangingPunct="1"/>
            <a:endParaRPr lang="es-ES" altLang="es-AR"/>
          </a:p>
          <a:p>
            <a:pPr eaLnBrk="1" hangingPunct="1"/>
            <a:r>
              <a:rPr lang="es-ES" altLang="es-AR"/>
              <a:t>Estado: 	estoy en A y está limpio</a:t>
            </a:r>
          </a:p>
          <a:p>
            <a:pPr eaLnBrk="1" hangingPunct="1"/>
            <a:r>
              <a:rPr lang="es-ES" altLang="es-AR"/>
              <a:t>Regla : 	Si [A, limpio] entonces accion es mover a la Derecha</a:t>
            </a:r>
          </a:p>
          <a:p>
            <a:pPr eaLnBrk="1" hangingPunct="1"/>
            <a:r>
              <a:rPr lang="es-ES" altLang="es-AR"/>
              <a:t>Acción:	 mover a la Derecha</a:t>
            </a:r>
          </a:p>
          <a:p>
            <a:pPr eaLnBrk="1" hangingPunct="1"/>
            <a:endParaRPr lang="es-AR" alt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A6A708B-8CE8-4ABD-84BF-6903C9861711}"/>
              </a:ext>
            </a:extLst>
          </p:cNvPr>
          <p:cNvSpPr>
            <a:spLocks noGrp="1" noChangeArrowheads="1"/>
          </p:cNvSpPr>
          <p:nvPr>
            <p:ph type="title"/>
          </p:nvPr>
        </p:nvSpPr>
        <p:spPr>
          <a:xfrm>
            <a:off x="457200" y="274638"/>
            <a:ext cx="8229600" cy="792162"/>
          </a:xfrm>
        </p:spPr>
        <p:txBody>
          <a:bodyPr/>
          <a:lstStyle/>
          <a:p>
            <a:pPr eaLnBrk="1" hangingPunct="1"/>
            <a:r>
              <a:rPr lang="es-AR" altLang="es-AR"/>
              <a:t>Agente basado en modelo</a:t>
            </a:r>
            <a:endParaRPr lang="en-US" altLang="es-AR"/>
          </a:p>
        </p:txBody>
      </p:sp>
      <p:sp>
        <p:nvSpPr>
          <p:cNvPr id="27651" name="2 CuadroTexto">
            <a:extLst>
              <a:ext uri="{FF2B5EF4-FFF2-40B4-BE49-F238E27FC236}">
                <a16:creationId xmlns:a16="http://schemas.microsoft.com/office/drawing/2014/main" id="{36FD807F-3E28-4BE5-BBDE-96FA5EAF700D}"/>
              </a:ext>
            </a:extLst>
          </p:cNvPr>
          <p:cNvSpPr txBox="1">
            <a:spLocks noChangeArrowheads="1"/>
          </p:cNvSpPr>
          <p:nvPr/>
        </p:nvSpPr>
        <p:spPr bwMode="auto">
          <a:xfrm>
            <a:off x="265113" y="6124575"/>
            <a:ext cx="88915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AR"/>
              <a:t>Por ejemplo: la aspiradora puede guardar un mapa de la superficie que va limpiando,</a:t>
            </a:r>
          </a:p>
          <a:p>
            <a:pPr eaLnBrk="1" hangingPunct="1"/>
            <a:r>
              <a:rPr lang="es-ES" altLang="es-AR"/>
              <a:t>Para no volver a pasar por cuadros que ya están limpios. </a:t>
            </a:r>
            <a:endParaRPr lang="es-AR" altLang="es-AR"/>
          </a:p>
        </p:txBody>
      </p:sp>
      <p:sp>
        <p:nvSpPr>
          <p:cNvPr id="4" name="3 Rectángulo">
            <a:extLst>
              <a:ext uri="{FF2B5EF4-FFF2-40B4-BE49-F238E27FC236}">
                <a16:creationId xmlns:a16="http://schemas.microsoft.com/office/drawing/2014/main" id="{52671FD9-C4B2-49A5-B30E-6036DA93F911}"/>
              </a:ext>
            </a:extLst>
          </p:cNvPr>
          <p:cNvSpPr/>
          <p:nvPr/>
        </p:nvSpPr>
        <p:spPr>
          <a:xfrm>
            <a:off x="6096000" y="1698625"/>
            <a:ext cx="2057400" cy="242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pic>
        <p:nvPicPr>
          <p:cNvPr id="27653" name="Picture 6">
            <a:extLst>
              <a:ext uri="{FF2B5EF4-FFF2-40B4-BE49-F238E27FC236}">
                <a16:creationId xmlns:a16="http://schemas.microsoft.com/office/drawing/2014/main" id="{51BFCAD1-FA0A-4F9E-956A-D3FC78233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1941513"/>
            <a:ext cx="6696075"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4" name="1 Rectángulo">
            <a:extLst>
              <a:ext uri="{FF2B5EF4-FFF2-40B4-BE49-F238E27FC236}">
                <a16:creationId xmlns:a16="http://schemas.microsoft.com/office/drawing/2014/main" id="{E83A614F-A9EF-42D4-8601-E4739CCB0FDA}"/>
              </a:ext>
            </a:extLst>
          </p:cNvPr>
          <p:cNvSpPr>
            <a:spLocks noChangeArrowheads="1"/>
          </p:cNvSpPr>
          <p:nvPr/>
        </p:nvSpPr>
        <p:spPr bwMode="auto">
          <a:xfrm>
            <a:off x="265113" y="1019175"/>
            <a:ext cx="865028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AR"/>
              <a:t>Son agentes que determinan sus acciones no solo a partir de la percepción actual, sino que tienen en cuenta también el estado actual del mundo,como evoluciona el mundo y los efectos que causan sus acciones.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8B9AEFF-B59F-47C0-B6F8-755313AAF10B}"/>
              </a:ext>
            </a:extLst>
          </p:cNvPr>
          <p:cNvSpPr>
            <a:spLocks noGrp="1" noChangeArrowheads="1"/>
          </p:cNvSpPr>
          <p:nvPr>
            <p:ph type="title"/>
          </p:nvPr>
        </p:nvSpPr>
        <p:spPr/>
        <p:txBody>
          <a:bodyPr/>
          <a:lstStyle/>
          <a:p>
            <a:pPr eaLnBrk="1" hangingPunct="1"/>
            <a:r>
              <a:rPr lang="es-AR" altLang="es-AR"/>
              <a:t>Agente basado en modelo</a:t>
            </a:r>
            <a:endParaRPr lang="en-US" altLang="es-AR"/>
          </a:p>
        </p:txBody>
      </p:sp>
      <p:pic>
        <p:nvPicPr>
          <p:cNvPr id="28675" name="Picture 4">
            <a:extLst>
              <a:ext uri="{FF2B5EF4-FFF2-40B4-BE49-F238E27FC236}">
                <a16:creationId xmlns:a16="http://schemas.microsoft.com/office/drawing/2014/main" id="{875683DC-B4D2-4A1F-B219-E8953E98EC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8" y="1933575"/>
            <a:ext cx="8872537" cy="24860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986E5B7-84CB-45B1-9DE2-9E2511173F4B}"/>
              </a:ext>
            </a:extLst>
          </p:cNvPr>
          <p:cNvSpPr>
            <a:spLocks noGrp="1" noChangeArrowheads="1"/>
          </p:cNvSpPr>
          <p:nvPr>
            <p:ph type="title"/>
          </p:nvPr>
        </p:nvSpPr>
        <p:spPr>
          <a:xfrm>
            <a:off x="457200" y="274638"/>
            <a:ext cx="8229600" cy="841375"/>
          </a:xfrm>
        </p:spPr>
        <p:txBody>
          <a:bodyPr/>
          <a:lstStyle/>
          <a:p>
            <a:pPr eaLnBrk="1" hangingPunct="1"/>
            <a:r>
              <a:rPr lang="en-US" altLang="es-AR"/>
              <a:t>Agente basado en objetivo</a:t>
            </a:r>
          </a:p>
        </p:txBody>
      </p:sp>
      <p:sp>
        <p:nvSpPr>
          <p:cNvPr id="29699" name="Rectangle 3">
            <a:extLst>
              <a:ext uri="{FF2B5EF4-FFF2-40B4-BE49-F238E27FC236}">
                <a16:creationId xmlns:a16="http://schemas.microsoft.com/office/drawing/2014/main" id="{C082CFD8-DF52-45EC-98D9-37DB047D3932}"/>
              </a:ext>
            </a:extLst>
          </p:cNvPr>
          <p:cNvSpPr>
            <a:spLocks noGrp="1" noChangeArrowheads="1"/>
          </p:cNvSpPr>
          <p:nvPr>
            <p:ph type="body" idx="4294967295"/>
          </p:nvPr>
        </p:nvSpPr>
        <p:spPr>
          <a:xfrm>
            <a:off x="0" y="1600200"/>
            <a:ext cx="8229600" cy="4525963"/>
          </a:xfrm>
        </p:spPr>
        <p:txBody>
          <a:bodyPr/>
          <a:lstStyle/>
          <a:p>
            <a:pPr eaLnBrk="1" hangingPunct="1">
              <a:buFontTx/>
              <a:buNone/>
            </a:pPr>
            <a:r>
              <a:rPr lang="en-US" altLang="es-AR"/>
              <a:t>
</a:t>
            </a:r>
          </a:p>
        </p:txBody>
      </p:sp>
      <p:sp>
        <p:nvSpPr>
          <p:cNvPr id="29700" name="1 CuadroTexto">
            <a:extLst>
              <a:ext uri="{FF2B5EF4-FFF2-40B4-BE49-F238E27FC236}">
                <a16:creationId xmlns:a16="http://schemas.microsoft.com/office/drawing/2014/main" id="{6FD98528-D8CB-49B1-928F-3F77234F4D29}"/>
              </a:ext>
            </a:extLst>
          </p:cNvPr>
          <p:cNvSpPr txBox="1">
            <a:spLocks noChangeArrowheads="1"/>
          </p:cNvSpPr>
          <p:nvPr/>
        </p:nvSpPr>
        <p:spPr bwMode="auto">
          <a:xfrm>
            <a:off x="22225" y="6019800"/>
            <a:ext cx="95218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AR" dirty="0"/>
              <a:t>Ej. En el cruce de carreteras, el taxista puede girar a la </a:t>
            </a:r>
            <a:r>
              <a:rPr lang="es-ES" altLang="es-AR" dirty="0" err="1"/>
              <a:t>izq</a:t>
            </a:r>
            <a:r>
              <a:rPr lang="es-ES" altLang="es-AR" dirty="0"/>
              <a:t> , a la derecha o seguir adelante.</a:t>
            </a:r>
          </a:p>
          <a:p>
            <a:pPr eaLnBrk="1" hangingPunct="1"/>
            <a:r>
              <a:rPr lang="es-ES" altLang="es-AR" dirty="0"/>
              <a:t>La decisión correcta depende de dónde quiere ir el pasajero (la meta o </a:t>
            </a:r>
            <a:r>
              <a:rPr lang="es-ES" altLang="es-AR" dirty="0" err="1"/>
              <a:t>Goal</a:t>
            </a:r>
            <a:r>
              <a:rPr lang="es-ES" altLang="es-AR" dirty="0"/>
              <a:t>).</a:t>
            </a:r>
            <a:endParaRPr lang="es-AR" altLang="es-AR" dirty="0"/>
          </a:p>
        </p:txBody>
      </p:sp>
      <p:pic>
        <p:nvPicPr>
          <p:cNvPr id="29701" name="Picture 6">
            <a:extLst>
              <a:ext uri="{FF2B5EF4-FFF2-40B4-BE49-F238E27FC236}">
                <a16:creationId xmlns:a16="http://schemas.microsoft.com/office/drawing/2014/main" id="{5EE5128F-CC9D-44D4-9079-C5CBFA80B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471" r="8868"/>
          <a:stretch>
            <a:fillRect/>
          </a:stretch>
        </p:blipFill>
        <p:spPr bwMode="auto">
          <a:xfrm>
            <a:off x="1752600" y="1855788"/>
            <a:ext cx="6324600" cy="3944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Rectángulo">
            <a:extLst>
              <a:ext uri="{FF2B5EF4-FFF2-40B4-BE49-F238E27FC236}">
                <a16:creationId xmlns:a16="http://schemas.microsoft.com/office/drawing/2014/main" id="{FF4AEA03-FB15-47A1-ADCB-2D3B598C931E}"/>
              </a:ext>
            </a:extLst>
          </p:cNvPr>
          <p:cNvSpPr/>
          <p:nvPr/>
        </p:nvSpPr>
        <p:spPr>
          <a:xfrm>
            <a:off x="1098550" y="1236663"/>
            <a:ext cx="1035050" cy="211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29703" name="1 Rectángulo">
            <a:extLst>
              <a:ext uri="{FF2B5EF4-FFF2-40B4-BE49-F238E27FC236}">
                <a16:creationId xmlns:a16="http://schemas.microsoft.com/office/drawing/2014/main" id="{B058AC50-634A-48C6-B8A9-CC539693652C}"/>
              </a:ext>
            </a:extLst>
          </p:cNvPr>
          <p:cNvSpPr>
            <a:spLocks noChangeArrowheads="1"/>
          </p:cNvSpPr>
          <p:nvPr/>
        </p:nvSpPr>
        <p:spPr bwMode="auto">
          <a:xfrm>
            <a:off x="228600" y="1103313"/>
            <a:ext cx="876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AR"/>
              <a:t>Estos agentes, a diferencia de los reactivos simples, tienen en consideración que sucederá si realizan determinada acción (como los basados en modelos) pero a su vez se preguntan si esa acción a realizar los acercara a cumplir su meta determinada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C4ABA20-64A9-4993-953E-82A6BCA3FE1C}"/>
              </a:ext>
            </a:extLst>
          </p:cNvPr>
          <p:cNvSpPr>
            <a:spLocks noGrp="1" noChangeArrowheads="1"/>
          </p:cNvSpPr>
          <p:nvPr>
            <p:ph type="title"/>
          </p:nvPr>
        </p:nvSpPr>
        <p:spPr>
          <a:xfrm>
            <a:off x="457200" y="274638"/>
            <a:ext cx="8229600" cy="563562"/>
          </a:xfrm>
        </p:spPr>
        <p:txBody>
          <a:bodyPr/>
          <a:lstStyle/>
          <a:p>
            <a:pPr eaLnBrk="1" hangingPunct="1"/>
            <a:r>
              <a:rPr lang="en-US" altLang="es-AR"/>
              <a:t>Agente basado en utilidad</a:t>
            </a:r>
          </a:p>
        </p:txBody>
      </p:sp>
      <p:pic>
        <p:nvPicPr>
          <p:cNvPr id="30723" name="Picture 4">
            <a:extLst>
              <a:ext uri="{FF2B5EF4-FFF2-40B4-BE49-F238E27FC236}">
                <a16:creationId xmlns:a16="http://schemas.microsoft.com/office/drawing/2014/main" id="{C0B17A79-B6E8-442A-86B6-D11E7C578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325" y="2073275"/>
            <a:ext cx="5932488" cy="379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Rectángulo">
            <a:extLst>
              <a:ext uri="{FF2B5EF4-FFF2-40B4-BE49-F238E27FC236}">
                <a16:creationId xmlns:a16="http://schemas.microsoft.com/office/drawing/2014/main" id="{C1CBD10F-961A-46F8-8BAD-B44C67116C13}"/>
              </a:ext>
            </a:extLst>
          </p:cNvPr>
          <p:cNvSpPr/>
          <p:nvPr/>
        </p:nvSpPr>
        <p:spPr>
          <a:xfrm>
            <a:off x="304800" y="5638800"/>
            <a:ext cx="12954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30725" name="1 Rectángulo">
            <a:extLst>
              <a:ext uri="{FF2B5EF4-FFF2-40B4-BE49-F238E27FC236}">
                <a16:creationId xmlns:a16="http://schemas.microsoft.com/office/drawing/2014/main" id="{7152D9B0-1B96-4600-8A0E-04C3F01E356D}"/>
              </a:ext>
            </a:extLst>
          </p:cNvPr>
          <p:cNvSpPr>
            <a:spLocks noChangeArrowheads="1"/>
          </p:cNvSpPr>
          <p:nvPr/>
        </p:nvSpPr>
        <p:spPr bwMode="auto">
          <a:xfrm>
            <a:off x="327025" y="990600"/>
            <a:ext cx="85883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AR"/>
              <a:t>Estos agentes complejizan la visión binaria de los agentes basados en objetivo, cuando más de una secuencia de acciones los llevan a su meta. Evalúan la probabilidad de que una secuencia sea más útil que otras y seleccionan la mejor.</a:t>
            </a:r>
          </a:p>
        </p:txBody>
      </p:sp>
      <p:sp>
        <p:nvSpPr>
          <p:cNvPr id="30726" name="1 CuadroTexto">
            <a:extLst>
              <a:ext uri="{FF2B5EF4-FFF2-40B4-BE49-F238E27FC236}">
                <a16:creationId xmlns:a16="http://schemas.microsoft.com/office/drawing/2014/main" id="{F16A94F5-BE1B-40EE-AED7-32C48D10E991}"/>
              </a:ext>
            </a:extLst>
          </p:cNvPr>
          <p:cNvSpPr txBox="1">
            <a:spLocks noChangeArrowheads="1"/>
          </p:cNvSpPr>
          <p:nvPr/>
        </p:nvSpPr>
        <p:spPr bwMode="auto">
          <a:xfrm>
            <a:off x="152400" y="6040438"/>
            <a:ext cx="8763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AR"/>
              <a:t>Ej. En el cruce de carreteras, la decisión correcta depende de dónde quiere ir el pasajero (objetivo), pero también de cual ruta es mas corta (utilidad).</a:t>
            </a:r>
            <a:endParaRPr lang="es-AR" alt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011B535-91BF-4106-923A-09D48A577206}"/>
              </a:ext>
            </a:extLst>
          </p:cNvPr>
          <p:cNvSpPr>
            <a:spLocks noGrp="1" noChangeArrowheads="1"/>
          </p:cNvSpPr>
          <p:nvPr>
            <p:ph type="title"/>
          </p:nvPr>
        </p:nvSpPr>
        <p:spPr>
          <a:xfrm>
            <a:off x="457200" y="274638"/>
            <a:ext cx="8229600" cy="792162"/>
          </a:xfrm>
        </p:spPr>
        <p:txBody>
          <a:bodyPr/>
          <a:lstStyle/>
          <a:p>
            <a:pPr eaLnBrk="1" hangingPunct="1"/>
            <a:r>
              <a:rPr lang="en-US" altLang="es-AR"/>
              <a:t>Agente que aprende</a:t>
            </a:r>
          </a:p>
        </p:txBody>
      </p:sp>
      <p:pic>
        <p:nvPicPr>
          <p:cNvPr id="31747" name="Picture 4">
            <a:extLst>
              <a:ext uri="{FF2B5EF4-FFF2-40B4-BE49-F238E27FC236}">
                <a16:creationId xmlns:a16="http://schemas.microsoft.com/office/drawing/2014/main" id="{2B963D92-791D-4F84-9E4E-953463509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140075"/>
            <a:ext cx="6248400" cy="371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a:extLst>
              <a:ext uri="{FF2B5EF4-FFF2-40B4-BE49-F238E27FC236}">
                <a16:creationId xmlns:a16="http://schemas.microsoft.com/office/drawing/2014/main" id="{68D836ED-1420-45C1-96DF-9F5BD289BB30}"/>
              </a:ext>
            </a:extLst>
          </p:cNvPr>
          <p:cNvSpPr/>
          <p:nvPr/>
        </p:nvSpPr>
        <p:spPr>
          <a:xfrm>
            <a:off x="228600" y="1219200"/>
            <a:ext cx="8458200" cy="2032000"/>
          </a:xfrm>
          <a:prstGeom prst="rect">
            <a:avLst/>
          </a:prstGeom>
        </p:spPr>
        <p:txBody>
          <a:bodyPr>
            <a:spAutoFit/>
          </a:bodyPr>
          <a:lstStyle/>
          <a:p>
            <a:pPr>
              <a:defRPr/>
            </a:pPr>
            <a:r>
              <a:rPr lang="es-AR" sz="1400" dirty="0">
                <a:latin typeface="Arial" charset="0"/>
              </a:rPr>
              <a:t>Los agentes pueden mejorar su eficacia con la ayuda de mecanismos de aprendizaje.</a:t>
            </a:r>
          </a:p>
          <a:p>
            <a:pPr>
              <a:defRPr/>
            </a:pPr>
            <a:r>
              <a:rPr lang="es-AR" sz="1400" dirty="0">
                <a:latin typeface="Arial" charset="0"/>
              </a:rPr>
              <a:t>Estos agentes están compuestos por 4 componentes: </a:t>
            </a:r>
          </a:p>
          <a:p>
            <a:pPr marL="285750" indent="-285750">
              <a:buFont typeface="Arial" pitchFamily="34" charset="0"/>
              <a:buChar char="•"/>
              <a:defRPr/>
            </a:pPr>
            <a:r>
              <a:rPr lang="es-AR" sz="1400" b="1" dirty="0">
                <a:latin typeface="Arial" charset="0"/>
              </a:rPr>
              <a:t>El elemento de actuación</a:t>
            </a:r>
            <a:r>
              <a:rPr lang="es-AR" sz="1400" dirty="0">
                <a:latin typeface="Arial" charset="0"/>
              </a:rPr>
              <a:t>, que es el encargado de seleccionar las acciones a realizar; </a:t>
            </a:r>
          </a:p>
          <a:p>
            <a:pPr marL="285750" indent="-285750">
              <a:buFont typeface="Arial" pitchFamily="34" charset="0"/>
              <a:buChar char="•"/>
              <a:defRPr/>
            </a:pPr>
            <a:r>
              <a:rPr lang="es-AR" sz="1400" b="1" dirty="0">
                <a:latin typeface="Arial" charset="0"/>
              </a:rPr>
              <a:t>El elemento de aprendizaje</a:t>
            </a:r>
            <a:r>
              <a:rPr lang="es-AR" sz="1400" dirty="0">
                <a:latin typeface="Arial" charset="0"/>
              </a:rPr>
              <a:t>, que modifica al elemento de actuación;</a:t>
            </a:r>
          </a:p>
          <a:p>
            <a:pPr marL="285750" indent="-285750">
              <a:buFont typeface="Arial" pitchFamily="34" charset="0"/>
              <a:buChar char="•"/>
              <a:defRPr/>
            </a:pPr>
            <a:r>
              <a:rPr lang="es-AR" sz="1400" b="1" dirty="0">
                <a:latin typeface="Arial" charset="0"/>
              </a:rPr>
              <a:t>La crítica</a:t>
            </a:r>
            <a:r>
              <a:rPr lang="es-AR" sz="1400" dirty="0">
                <a:latin typeface="Arial" charset="0"/>
              </a:rPr>
              <a:t>, que realimenta al elemento de aprendizaje con críticas sobre la actuación del agente, para que se determine como modificar el elemento de actuación; </a:t>
            </a:r>
          </a:p>
          <a:p>
            <a:pPr marL="285750" indent="-285750">
              <a:buFont typeface="Arial" pitchFamily="34" charset="0"/>
              <a:buChar char="•"/>
              <a:defRPr/>
            </a:pPr>
            <a:r>
              <a:rPr lang="es-AR" sz="1400" dirty="0">
                <a:latin typeface="Arial" charset="0"/>
              </a:rPr>
              <a:t>E</a:t>
            </a:r>
            <a:r>
              <a:rPr lang="es-AR" sz="1400" b="1" dirty="0">
                <a:latin typeface="Arial" charset="0"/>
              </a:rPr>
              <a:t>l generador de problemas</a:t>
            </a:r>
            <a:r>
              <a:rPr lang="es-AR" sz="1400" dirty="0">
                <a:latin typeface="Arial" charset="0"/>
              </a:rPr>
              <a:t>, que es el responsable de sugerir acciones que guiaran al agente hacia experiencias nuevas e informativas que quizá no sean las más útiles a corto plazo, pero pueden generar utilidad a largo plazo.</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757</TotalTime>
  <Words>1560</Words>
  <Application>Microsoft Office PowerPoint</Application>
  <PresentationFormat>Presentación en pantalla (4:3)</PresentationFormat>
  <Paragraphs>184</Paragraphs>
  <Slides>32</Slides>
  <Notes>3</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32</vt:i4>
      </vt:variant>
    </vt:vector>
  </HeadingPairs>
  <TitlesOfParts>
    <vt:vector size="39" baseType="lpstr">
      <vt:lpstr>Arial</vt:lpstr>
      <vt:lpstr>Calibri</vt:lpstr>
      <vt:lpstr>Calibri Light</vt:lpstr>
      <vt:lpstr>Monotype Corsiva</vt:lpstr>
      <vt:lpstr>Wingdings</vt:lpstr>
      <vt:lpstr>Default Design</vt:lpstr>
      <vt:lpstr>Simple Light</vt:lpstr>
      <vt:lpstr>Agentes Inteligentes</vt:lpstr>
      <vt:lpstr>Outline</vt:lpstr>
      <vt:lpstr>Presentación de PowerPoint</vt:lpstr>
      <vt:lpstr>Presentación de PowerPoint</vt:lpstr>
      <vt:lpstr>Presentación de PowerPoint</vt:lpstr>
      <vt:lpstr>Agentes</vt:lpstr>
      <vt:lpstr>Agentes y entornos</vt:lpstr>
      <vt:lpstr>El mundo de la Aspiradora</vt:lpstr>
      <vt:lpstr>El agente Aspiradora</vt:lpstr>
      <vt:lpstr>Agente Racional</vt:lpstr>
      <vt:lpstr>Agente Racional</vt:lpstr>
      <vt:lpstr>Agente Racional</vt:lpstr>
      <vt:lpstr>REAS / PEAS</vt:lpstr>
      <vt:lpstr>REAS</vt:lpstr>
      <vt:lpstr>REAS</vt:lpstr>
      <vt:lpstr>REAS</vt:lpstr>
      <vt:lpstr>REAS</vt:lpstr>
      <vt:lpstr>Tipos de Entorno</vt:lpstr>
      <vt:lpstr>Tipos de Entorno</vt:lpstr>
      <vt:lpstr>Tipos de Entorno. Ejemplos</vt:lpstr>
      <vt:lpstr>Función y programa del Agente</vt:lpstr>
      <vt:lpstr>Table-lookup agent</vt:lpstr>
      <vt:lpstr>Table-lookup agent</vt:lpstr>
      <vt:lpstr>Programa del agente para el agente Aspiradora</vt:lpstr>
      <vt:lpstr>Tipos de Agente</vt:lpstr>
      <vt:lpstr>Agente reactivo simple</vt:lpstr>
      <vt:lpstr>Agente reactivo simple</vt:lpstr>
      <vt:lpstr>Agente basado en modelo</vt:lpstr>
      <vt:lpstr>Agente basado en modelo</vt:lpstr>
      <vt:lpstr>Agente basado en objetivo</vt:lpstr>
      <vt:lpstr>Agente basado en utilidad</vt:lpstr>
      <vt:lpstr>Agente que aprende</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Pons, Claudia Fabiana</cp:lastModifiedBy>
  <cp:revision>84</cp:revision>
  <dcterms:created xsi:type="dcterms:W3CDTF">2003-12-17T02:32:09Z</dcterms:created>
  <dcterms:modified xsi:type="dcterms:W3CDTF">2025-10-28T17:28:08Z</dcterms:modified>
</cp:coreProperties>
</file>