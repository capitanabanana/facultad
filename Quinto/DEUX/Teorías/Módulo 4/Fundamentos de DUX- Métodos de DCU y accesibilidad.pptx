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335" r:id="rId3"/>
    <p:sldId id="336" r:id="rId4"/>
    <p:sldId id="337" r:id="rId5"/>
    <p:sldId id="338" r:id="rId6"/>
    <p:sldId id="374" r:id="rId7"/>
    <p:sldId id="375" r:id="rId8"/>
    <p:sldId id="346" r:id="rId9"/>
    <p:sldId id="432" r:id="rId10"/>
    <p:sldId id="347" r:id="rId11"/>
    <p:sldId id="434" r:id="rId12"/>
    <p:sldId id="436" r:id="rId13"/>
    <p:sldId id="437" r:id="rId14"/>
    <p:sldId id="438" r:id="rId15"/>
    <p:sldId id="439" r:id="rId16"/>
    <p:sldId id="433" r:id="rId17"/>
    <p:sldId id="342" r:id="rId18"/>
    <p:sldId id="348" r:id="rId19"/>
    <p:sldId id="349" r:id="rId20"/>
    <p:sldId id="424" r:id="rId21"/>
    <p:sldId id="386" r:id="rId22"/>
    <p:sldId id="387" r:id="rId23"/>
    <p:sldId id="322" r:id="rId24"/>
    <p:sldId id="425" r:id="rId25"/>
    <p:sldId id="388" r:id="rId26"/>
    <p:sldId id="427" r:id="rId27"/>
    <p:sldId id="377" r:id="rId28"/>
    <p:sldId id="378" r:id="rId29"/>
    <p:sldId id="379" r:id="rId30"/>
    <p:sldId id="380" r:id="rId31"/>
    <p:sldId id="381" r:id="rId32"/>
    <p:sldId id="428" r:id="rId33"/>
    <p:sldId id="384" r:id="rId34"/>
    <p:sldId id="385" r:id="rId35"/>
    <p:sldId id="392" r:id="rId36"/>
    <p:sldId id="423" r:id="rId37"/>
    <p:sldId id="422" r:id="rId38"/>
    <p:sldId id="404" r:id="rId39"/>
    <p:sldId id="403" r:id="rId40"/>
    <p:sldId id="402" r:id="rId41"/>
    <p:sldId id="323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430" r:id="rId53"/>
    <p:sldId id="419" r:id="rId54"/>
    <p:sldId id="420" r:id="rId55"/>
    <p:sldId id="429" r:id="rId56"/>
    <p:sldId id="421" r:id="rId57"/>
    <p:sldId id="431" r:id="rId5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0108" autoAdjust="0"/>
  </p:normalViewPr>
  <p:slideViewPr>
    <p:cSldViewPr>
      <p:cViewPr varScale="1">
        <p:scale>
          <a:sx n="54" d="100"/>
          <a:sy n="54" d="100"/>
        </p:scale>
        <p:origin x="-1752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D585A-83C0-4DC5-AD87-1B390BF603B5}" type="datetimeFigureOut">
              <a:rPr lang="es-ES" smtClean="0"/>
              <a:pPr/>
              <a:t>31/05/2026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4B2D0-877A-496D-90A5-A829459120F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a252cda2b4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658813"/>
            <a:ext cx="3165475" cy="2373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64" name="Google Shape;564;ga252cda2b4_0_404:notes"/>
          <p:cNvSpPr txBox="1">
            <a:spLocks noGrp="1"/>
          </p:cNvSpPr>
          <p:nvPr>
            <p:ph type="body" idx="1"/>
          </p:nvPr>
        </p:nvSpPr>
        <p:spPr>
          <a:xfrm>
            <a:off x="1415218" y="3262478"/>
            <a:ext cx="6322029" cy="263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c8cd5799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658813"/>
            <a:ext cx="3165475" cy="2373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1" name="Google Shape;591;gac8cd57990_0_53:notes"/>
          <p:cNvSpPr txBox="1">
            <a:spLocks noGrp="1"/>
          </p:cNvSpPr>
          <p:nvPr>
            <p:ph type="body" idx="1"/>
          </p:nvPr>
        </p:nvSpPr>
        <p:spPr>
          <a:xfrm>
            <a:off x="1415218" y="3262478"/>
            <a:ext cx="6322029" cy="263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636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97BB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636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497BB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37862"/>
            <a:ext cx="9143999" cy="3200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636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88386" y="1519061"/>
            <a:ext cx="3341370" cy="418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636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57755" cy="6858000"/>
          </a:xfrm>
          <a:custGeom>
            <a:avLst/>
            <a:gdLst/>
            <a:ahLst/>
            <a:cxnLst/>
            <a:rect l="l" t="t" r="r" b="b"/>
            <a:pathLst>
              <a:path w="2357755" h="6858000">
                <a:moveTo>
                  <a:pt x="2357394" y="6857985"/>
                </a:moveTo>
                <a:lnTo>
                  <a:pt x="0" y="6857985"/>
                </a:lnTo>
                <a:lnTo>
                  <a:pt x="0" y="0"/>
                </a:lnTo>
                <a:lnTo>
                  <a:pt x="2357394" y="0"/>
                </a:lnTo>
                <a:lnTo>
                  <a:pt x="2357394" y="6857985"/>
                </a:lnTo>
                <a:close/>
              </a:path>
            </a:pathLst>
          </a:custGeom>
          <a:solidFill>
            <a:srgbClr val="4F8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57755" cy="6858000"/>
          </a:xfrm>
          <a:custGeom>
            <a:avLst/>
            <a:gdLst/>
            <a:ahLst/>
            <a:cxnLst/>
            <a:rect l="l" t="t" r="r" b="b"/>
            <a:pathLst>
              <a:path w="2357755" h="6858000">
                <a:moveTo>
                  <a:pt x="0" y="0"/>
                </a:moveTo>
                <a:lnTo>
                  <a:pt x="2357394" y="0"/>
                </a:lnTo>
                <a:lnTo>
                  <a:pt x="2357394" y="6857985"/>
                </a:lnTo>
                <a:lnTo>
                  <a:pt x="0" y="6857985"/>
                </a:lnTo>
                <a:lnTo>
                  <a:pt x="0" y="0"/>
                </a:lnTo>
                <a:close/>
              </a:path>
            </a:pathLst>
          </a:custGeom>
          <a:ln w="19024">
            <a:solidFill>
              <a:srgbClr val="5259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 1" type="blank">
  <p:cSld name="En blanco 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537862"/>
            <a:ext cx="9143971" cy="32012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837582" y="6537862"/>
            <a:ext cx="286385" cy="266700"/>
          </a:xfrm>
          <a:custGeom>
            <a:avLst/>
            <a:gdLst/>
            <a:ahLst/>
            <a:cxnLst/>
            <a:rect l="l" t="t" r="r" b="b"/>
            <a:pathLst>
              <a:path w="286384" h="266700">
                <a:moveTo>
                  <a:pt x="285899" y="266698"/>
                </a:moveTo>
                <a:lnTo>
                  <a:pt x="0" y="266698"/>
                </a:lnTo>
                <a:lnTo>
                  <a:pt x="0" y="0"/>
                </a:lnTo>
                <a:lnTo>
                  <a:pt x="285899" y="0"/>
                </a:lnTo>
                <a:lnTo>
                  <a:pt x="285899" y="2666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3071" y="329034"/>
            <a:ext cx="6145703" cy="48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636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458" y="1623398"/>
            <a:ext cx="4383405" cy="1633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97BB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26579" y="6595658"/>
            <a:ext cx="297064" cy="201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425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‹Nº›</a:t>
            </a:fld>
            <a:endParaRPr spc="-50" dirty="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ccesibilidad@info.unlp.edu.ar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WCAG22/quickref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community/accessibility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igma.com/design/9vPqzcO3pdoZZFwn4BZ0oa/LUCY-2---Library?node-id=1281-172368&amp;p=f&amp;t=XF3T6LYLKVD2OnqM-0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0318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537862"/>
            <a:ext cx="9144000" cy="320675"/>
            <a:chOff x="0" y="6537862"/>
            <a:chExt cx="9144000" cy="3206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37862"/>
              <a:ext cx="9143999" cy="3200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837582" y="6537862"/>
              <a:ext cx="286385" cy="266700"/>
            </a:xfrm>
            <a:custGeom>
              <a:avLst/>
              <a:gdLst/>
              <a:ahLst/>
              <a:cxnLst/>
              <a:rect l="l" t="t" r="r" b="b"/>
              <a:pathLst>
                <a:path w="286384" h="266700">
                  <a:moveTo>
                    <a:pt x="285899" y="266698"/>
                  </a:moveTo>
                  <a:lnTo>
                    <a:pt x="0" y="266698"/>
                  </a:lnTo>
                  <a:lnTo>
                    <a:pt x="0" y="0"/>
                  </a:lnTo>
                  <a:lnTo>
                    <a:pt x="285899" y="0"/>
                  </a:lnTo>
                  <a:lnTo>
                    <a:pt x="285899" y="2666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29220" y="655264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63725" y="1638248"/>
            <a:ext cx="4620895" cy="2060051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65"/>
              </a:spcBef>
              <a:tabLst>
                <a:tab pos="835660" algn="l"/>
              </a:tabLst>
            </a:pPr>
            <a:r>
              <a:rPr lang="es-MX" sz="4400" b="0" dirty="0" smtClean="0">
                <a:solidFill>
                  <a:srgbClr val="000000"/>
                </a:solidFill>
                <a:latin typeface="Calibri"/>
                <a:cs typeface="Calibri"/>
              </a:rPr>
              <a:t>Accesibilidad y el </a:t>
            </a:r>
            <a:r>
              <a:rPr sz="4400" b="0" smtClean="0">
                <a:solidFill>
                  <a:srgbClr val="000000"/>
                </a:solidFill>
                <a:latin typeface="Calibri"/>
                <a:cs typeface="Calibri"/>
              </a:rPr>
              <a:t>Diseño</a:t>
            </a:r>
            <a:r>
              <a:rPr sz="4400" b="0" spc="-155" smtClean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Centrado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sz="4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el</a:t>
            </a:r>
            <a:r>
              <a:rPr sz="4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Usuario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99" y="1520900"/>
            <a:ext cx="3715350" cy="24198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00774" y="6076806"/>
            <a:ext cx="6976109" cy="7302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Licencia</a:t>
            </a:r>
            <a:r>
              <a:rPr sz="1200" spc="-4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Creative</a:t>
            </a:r>
            <a:r>
              <a:rPr sz="1200" spc="-4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Arial"/>
                <a:cs typeface="Arial"/>
              </a:rPr>
              <a:t>Commons</a:t>
            </a:r>
            <a:endParaRPr sz="1200">
              <a:latin typeface="Arial"/>
              <a:cs typeface="Arial"/>
            </a:endParaRPr>
          </a:p>
          <a:p>
            <a:pPr marL="12700" marR="5080" indent="1905" algn="ctr">
              <a:lnSpc>
                <a:spcPct val="104800"/>
              </a:lnSpc>
              <a:spcBef>
                <a:spcPts val="409"/>
              </a:spcBef>
            </a:pPr>
            <a:r>
              <a:rPr lang="es-MX" sz="1400" dirty="0" smtClean="0">
                <a:latin typeface="Arial"/>
                <a:cs typeface="Arial"/>
              </a:rPr>
              <a:t>Accesibilidad y el </a:t>
            </a:r>
            <a:r>
              <a:rPr sz="1400" smtClean="0">
                <a:latin typeface="Arial"/>
                <a:cs typeface="Arial"/>
              </a:rPr>
              <a:t>Diseño</a:t>
            </a:r>
            <a:r>
              <a:rPr sz="1400" spc="-25" smtClean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centrado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usuario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.</a:t>
            </a:r>
            <a:r>
              <a:rPr sz="1200" spc="-2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Desarrollado</a:t>
            </a:r>
            <a:r>
              <a:rPr sz="1200" spc="-2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por</a:t>
            </a:r>
            <a:r>
              <a:rPr sz="1200" spc="-2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LINTI-</a:t>
            </a:r>
            <a:r>
              <a:rPr sz="1200" spc="-2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00080"/>
                </a:solidFill>
                <a:latin typeface="Arial"/>
                <a:cs typeface="Arial"/>
              </a:rPr>
              <a:t>UNLP. </a:t>
            </a:r>
            <a:r>
              <a:rPr sz="1200" spc="-35" dirty="0">
                <a:solidFill>
                  <a:srgbClr val="000080"/>
                </a:solidFill>
                <a:latin typeface="Arial"/>
                <a:cs typeface="Arial"/>
              </a:rPr>
              <a:t>Se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encuentra</a:t>
            </a:r>
            <a:r>
              <a:rPr sz="1200" spc="-2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bajo</a:t>
            </a:r>
            <a:r>
              <a:rPr sz="1200" spc="-1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una</a:t>
            </a:r>
            <a:r>
              <a:rPr sz="1200" spc="-1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Licencia</a:t>
            </a:r>
            <a:r>
              <a:rPr sz="1200" spc="31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Creative</a:t>
            </a:r>
            <a:r>
              <a:rPr sz="1200" spc="-1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Commons</a:t>
            </a:r>
            <a:r>
              <a:rPr sz="1200" spc="-8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Arial"/>
                <a:cs typeface="Arial"/>
              </a:rPr>
              <a:t>Atribución-NoComercial-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CompartirIgual</a:t>
            </a:r>
            <a:r>
              <a:rPr sz="1200" spc="-1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0080"/>
                </a:solidFill>
                <a:latin typeface="Arial"/>
                <a:cs typeface="Arial"/>
              </a:rPr>
              <a:t>3.0</a:t>
            </a:r>
            <a:r>
              <a:rPr sz="1200" spc="-1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Arial"/>
                <a:cs typeface="Arial"/>
              </a:rPr>
              <a:t>Unported.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29285" y="4164214"/>
            <a:ext cx="279654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0" marR="5715" indent="107950" algn="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Ivana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Harari </a:t>
            </a:r>
            <a:r>
              <a:rPr sz="1700" dirty="0">
                <a:latin typeface="Arial"/>
                <a:cs typeface="Arial"/>
              </a:rPr>
              <a:t>Andrea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Keiliff</a:t>
            </a:r>
            <a:endParaRPr sz="1700">
              <a:latin typeface="Arial"/>
              <a:cs typeface="Arial"/>
            </a:endParaRPr>
          </a:p>
          <a:p>
            <a:pPr marR="8890" algn="r">
              <a:lnSpc>
                <a:spcPct val="100000"/>
              </a:lnSpc>
              <a:spcBef>
                <a:spcPts val="660"/>
              </a:spcBef>
            </a:pPr>
            <a:r>
              <a:rPr lang="es-MX" sz="1700" dirty="0" err="1" smtClean="0">
                <a:latin typeface="Arial"/>
                <a:cs typeface="Arial"/>
              </a:rPr>
              <a:t>Ma.Emilia</a:t>
            </a:r>
            <a:r>
              <a:rPr lang="es-MX" sz="1700" dirty="0" smtClean="0">
                <a:latin typeface="Arial"/>
                <a:cs typeface="Arial"/>
              </a:rPr>
              <a:t> </a:t>
            </a:r>
            <a:r>
              <a:rPr lang="es-MX" sz="1700" dirty="0" err="1" smtClean="0">
                <a:latin typeface="Arial"/>
                <a:cs typeface="Arial"/>
              </a:rPr>
              <a:t>Martinez</a:t>
            </a:r>
            <a:endParaRPr sz="17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34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accesibilidad@info.unlp.edu.ar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2"/>
          <p:cNvSpPr txBox="1"/>
          <p:nvPr/>
        </p:nvSpPr>
        <p:spPr>
          <a:xfrm>
            <a:off x="535764" y="1478305"/>
            <a:ext cx="7434250" cy="167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Considera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las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particularidades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diseño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23544" marR="0" lvl="0" indent="-371474" algn="l" rtl="0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4485"/>
              </a:buClr>
              <a:buSzPts val="1500"/>
              <a:buFont typeface="Arial"/>
              <a:buChar char="■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Hay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importantes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fase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[Jones 92’]: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2369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Comienzo</a:t>
            </a:r>
            <a:r>
              <a:rPr lang="en-US" sz="1500" b="1" dirty="0">
                <a:latin typeface="Tahoma"/>
                <a:ea typeface="Tahoma"/>
                <a:cs typeface="Tahoma"/>
                <a:sym typeface="Tahoma"/>
              </a:rPr>
              <a:t> del </a:t>
            </a: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5" name="Google Shape;575;p42"/>
          <p:cNvSpPr/>
          <p:nvPr/>
        </p:nvSpPr>
        <p:spPr>
          <a:xfrm>
            <a:off x="2666994" y="3124193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952498"/>
                </a:moveTo>
                <a:lnTo>
                  <a:pt x="1180172" y="0"/>
                </a:lnTo>
                <a:lnTo>
                  <a:pt x="2381245" y="952498"/>
                </a:lnTo>
                <a:lnTo>
                  <a:pt x="0" y="952498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6" name="Google Shape;576;p42"/>
          <p:cNvSpPr/>
          <p:nvPr/>
        </p:nvSpPr>
        <p:spPr>
          <a:xfrm>
            <a:off x="2666994" y="4681515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0"/>
                </a:moveTo>
                <a:lnTo>
                  <a:pt x="1189972" y="952498"/>
                </a:lnTo>
                <a:lnTo>
                  <a:pt x="2381245" y="0"/>
                </a:lnTo>
                <a:lnTo>
                  <a:pt x="0" y="0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" name="Google Shape;577;p42"/>
          <p:cNvGrpSpPr/>
          <p:nvPr/>
        </p:nvGrpSpPr>
        <p:grpSpPr>
          <a:xfrm>
            <a:off x="5253165" y="3676642"/>
            <a:ext cx="164174" cy="1411096"/>
            <a:chOff x="5253164" y="3676642"/>
            <a:chExt cx="164174" cy="1411096"/>
          </a:xfrm>
        </p:grpSpPr>
        <p:sp>
          <p:nvSpPr>
            <p:cNvPr id="578" name="Google Shape;578;p42"/>
            <p:cNvSpPr/>
            <p:nvPr/>
          </p:nvSpPr>
          <p:spPr>
            <a:xfrm>
              <a:off x="5333989" y="3676642"/>
              <a:ext cx="1270" cy="1219200"/>
            </a:xfrm>
            <a:custGeom>
              <a:avLst/>
              <a:gdLst/>
              <a:ahLst/>
              <a:cxnLst/>
              <a:rect l="l" t="t" r="r" b="b"/>
              <a:pathLst>
                <a:path w="1270" h="1219200" extrusionOk="0">
                  <a:moveTo>
                    <a:pt x="0" y="0"/>
                  </a:moveTo>
                  <a:lnTo>
                    <a:pt x="1274" y="1218897"/>
                  </a:lnTo>
                </a:path>
              </a:pathLst>
            </a:custGeom>
            <a:noFill/>
            <a:ln w="38125" cap="flat" cmpd="sng">
              <a:solidFill>
                <a:srgbClr val="0B52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9" name="Google Shape;579;p42"/>
            <p:cNvSpPr/>
            <p:nvPr/>
          </p:nvSpPr>
          <p:spPr>
            <a:xfrm>
              <a:off x="5253164" y="4876389"/>
              <a:ext cx="164174" cy="2113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80" name="Google Shape;580;p42"/>
          <p:cNvSpPr txBox="1"/>
          <p:nvPr/>
        </p:nvSpPr>
        <p:spPr>
          <a:xfrm>
            <a:off x="3251448" y="5675618"/>
            <a:ext cx="13450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Tahoma"/>
                <a:ea typeface="Tahoma"/>
                <a:cs typeface="Tahoma"/>
                <a:sym typeface="Tahoma"/>
              </a:rPr>
              <a:t>Fin del 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1" name="Google Shape;581;p42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582" name="Google Shape;582;p42"/>
          <p:cNvSpPr txBox="1"/>
          <p:nvPr/>
        </p:nvSpPr>
        <p:spPr>
          <a:xfrm>
            <a:off x="3273418" y="3599172"/>
            <a:ext cx="1159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Divergencia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3" name="Google Shape;583;p42"/>
          <p:cNvSpPr txBox="1"/>
          <p:nvPr/>
        </p:nvSpPr>
        <p:spPr>
          <a:xfrm>
            <a:off x="2666994" y="4140816"/>
            <a:ext cx="2381000" cy="312300"/>
          </a:xfrm>
          <a:prstGeom prst="rect">
            <a:avLst/>
          </a:pr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0625" rIns="0" bIns="0" anchor="t" anchorCtr="0">
            <a:spAutoFit/>
          </a:bodyPr>
          <a:lstStyle/>
          <a:p>
            <a:pPr marL="466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Transformación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4" name="Google Shape;584;p42"/>
          <p:cNvSpPr txBox="1"/>
          <p:nvPr/>
        </p:nvSpPr>
        <p:spPr>
          <a:xfrm>
            <a:off x="3197218" y="4818370"/>
            <a:ext cx="13240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Convergencia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5" name="Google Shape;585;p42"/>
          <p:cNvSpPr txBox="1"/>
          <p:nvPr/>
        </p:nvSpPr>
        <p:spPr>
          <a:xfrm>
            <a:off x="5559413" y="3370573"/>
            <a:ext cx="147325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ahoma"/>
                <a:ea typeface="Tahoma"/>
                <a:cs typeface="Tahoma"/>
                <a:sym typeface="Tahoma"/>
              </a:rPr>
              <a:t>Recolección de la  información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6" name="Google Shape;586;p42"/>
          <p:cNvSpPr txBox="1"/>
          <p:nvPr/>
        </p:nvSpPr>
        <p:spPr>
          <a:xfrm>
            <a:off x="5559413" y="4170671"/>
            <a:ext cx="171875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ahoma"/>
                <a:ea typeface="Tahoma"/>
                <a:cs typeface="Tahoma"/>
                <a:sym typeface="Tahoma"/>
              </a:rPr>
              <a:t>Procesamiento de la  información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7" name="Google Shape;587;p42"/>
          <p:cNvSpPr txBox="1"/>
          <p:nvPr/>
        </p:nvSpPr>
        <p:spPr>
          <a:xfrm>
            <a:off x="5559412" y="4970769"/>
            <a:ext cx="2042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ahoma"/>
                <a:ea typeface="Tahoma"/>
                <a:cs typeface="Tahoma"/>
                <a:sym typeface="Tahoma"/>
              </a:rPr>
              <a:t>Gestación de una nueva  versión de 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9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"/>
          <p:cNvSpPr txBox="1"/>
          <p:nvPr/>
        </p:nvSpPr>
        <p:spPr>
          <a:xfrm>
            <a:off x="535764" y="1478305"/>
            <a:ext cx="7434250" cy="150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Considera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las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particularidades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diseño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23544" marR="0" lvl="0" indent="-371474" algn="l" rtl="0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4485"/>
              </a:buClr>
              <a:buSzPts val="1500"/>
              <a:buFont typeface="Arial"/>
              <a:buChar char="■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Hay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importantes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fase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[Jones 92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’]: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marL="2369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Comienzo</a:t>
            </a:r>
            <a:r>
              <a:rPr lang="en-US" sz="1500" b="1" dirty="0">
                <a:latin typeface="Tahoma"/>
                <a:ea typeface="Tahoma"/>
                <a:cs typeface="Tahoma"/>
                <a:sym typeface="Tahoma"/>
              </a:rPr>
              <a:t> del </a:t>
            </a: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4" name="Google Shape;594;p43"/>
          <p:cNvSpPr/>
          <p:nvPr/>
        </p:nvSpPr>
        <p:spPr>
          <a:xfrm>
            <a:off x="2666994" y="3124193"/>
            <a:ext cx="2381250" cy="2510154"/>
          </a:xfrm>
          <a:custGeom>
            <a:avLst/>
            <a:gdLst/>
            <a:ahLst/>
            <a:cxnLst/>
            <a:rect l="l" t="t" r="r" b="b"/>
            <a:pathLst>
              <a:path w="2381250" h="2510154" extrusionOk="0">
                <a:moveTo>
                  <a:pt x="0" y="952498"/>
                </a:moveTo>
                <a:lnTo>
                  <a:pt x="1180172" y="0"/>
                </a:lnTo>
                <a:lnTo>
                  <a:pt x="2381245" y="952498"/>
                </a:lnTo>
                <a:lnTo>
                  <a:pt x="0" y="952498"/>
                </a:lnTo>
                <a:close/>
              </a:path>
              <a:path w="2381250" h="2510154" extrusionOk="0">
                <a:moveTo>
                  <a:pt x="0" y="1016622"/>
                </a:moveTo>
                <a:lnTo>
                  <a:pt x="2381245" y="1016622"/>
                </a:lnTo>
                <a:lnTo>
                  <a:pt x="2381245" y="1492871"/>
                </a:lnTo>
                <a:lnTo>
                  <a:pt x="0" y="1492871"/>
                </a:lnTo>
                <a:lnTo>
                  <a:pt x="0" y="1016622"/>
                </a:lnTo>
                <a:close/>
              </a:path>
              <a:path w="2381250" h="2510154" extrusionOk="0">
                <a:moveTo>
                  <a:pt x="0" y="1557321"/>
                </a:moveTo>
                <a:lnTo>
                  <a:pt x="1189972" y="2509819"/>
                </a:lnTo>
                <a:lnTo>
                  <a:pt x="2381245" y="1557321"/>
                </a:lnTo>
                <a:lnTo>
                  <a:pt x="0" y="1557321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" name="Google Shape;595;p43"/>
          <p:cNvGrpSpPr/>
          <p:nvPr/>
        </p:nvGrpSpPr>
        <p:grpSpPr>
          <a:xfrm>
            <a:off x="5253165" y="3676642"/>
            <a:ext cx="164174" cy="1411096"/>
            <a:chOff x="5253164" y="3676642"/>
            <a:chExt cx="164174" cy="1411096"/>
          </a:xfrm>
        </p:grpSpPr>
        <p:sp>
          <p:nvSpPr>
            <p:cNvPr id="596" name="Google Shape;596;p43"/>
            <p:cNvSpPr/>
            <p:nvPr/>
          </p:nvSpPr>
          <p:spPr>
            <a:xfrm>
              <a:off x="5333989" y="3676642"/>
              <a:ext cx="1270" cy="1219200"/>
            </a:xfrm>
            <a:custGeom>
              <a:avLst/>
              <a:gdLst/>
              <a:ahLst/>
              <a:cxnLst/>
              <a:rect l="l" t="t" r="r" b="b"/>
              <a:pathLst>
                <a:path w="1270" h="1219200" extrusionOk="0">
                  <a:moveTo>
                    <a:pt x="0" y="0"/>
                  </a:moveTo>
                  <a:lnTo>
                    <a:pt x="1274" y="1218897"/>
                  </a:lnTo>
                </a:path>
              </a:pathLst>
            </a:custGeom>
            <a:noFill/>
            <a:ln w="38125" cap="flat" cmpd="sng">
              <a:solidFill>
                <a:srgbClr val="0B52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5253164" y="4876389"/>
              <a:ext cx="164174" cy="2113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8" name="Google Shape;598;p43"/>
          <p:cNvSpPr txBox="1"/>
          <p:nvPr/>
        </p:nvSpPr>
        <p:spPr>
          <a:xfrm>
            <a:off x="3251448" y="5675618"/>
            <a:ext cx="13450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Tahoma"/>
                <a:ea typeface="Tahoma"/>
                <a:cs typeface="Tahoma"/>
                <a:sym typeface="Tahoma"/>
              </a:rPr>
              <a:t>Fin del 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9" name="Google Shape;599;p43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600" name="Google Shape;600;p43"/>
          <p:cNvSpPr txBox="1"/>
          <p:nvPr/>
        </p:nvSpPr>
        <p:spPr>
          <a:xfrm>
            <a:off x="3273418" y="3599172"/>
            <a:ext cx="1159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Divergencia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1" name="Google Shape;601;p43"/>
          <p:cNvSpPr txBox="1"/>
          <p:nvPr/>
        </p:nvSpPr>
        <p:spPr>
          <a:xfrm>
            <a:off x="5694259" y="3134483"/>
            <a:ext cx="2515750" cy="219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347345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Manejo de información  masiva y heterogéa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774065" lvl="0" indent="0" algn="l" rtl="0">
              <a:lnSpc>
                <a:spcPct val="1012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Muchos factores a  considerar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7857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Manejo de incertidumbre y  ambigüedad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186690" lvl="0" indent="0" algn="l" rtl="0">
              <a:lnSpc>
                <a:spcPct val="11785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Espacio de búsqueda de  toda posible solución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4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4"/>
          <p:cNvSpPr txBox="1"/>
          <p:nvPr/>
        </p:nvSpPr>
        <p:spPr>
          <a:xfrm>
            <a:off x="535764" y="1478305"/>
            <a:ext cx="7434250" cy="150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Considera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las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particularidades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diseño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23544" marR="0" lvl="0" indent="-371474" algn="l" rtl="0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4485"/>
              </a:buClr>
              <a:buSzPts val="1500"/>
              <a:buFont typeface="Arial"/>
              <a:buChar char="■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Hay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importantes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fase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[Jones 92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’]: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marL="2369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Comienzo</a:t>
            </a:r>
            <a:r>
              <a:rPr lang="en-US" sz="1500" b="1" dirty="0">
                <a:latin typeface="Tahoma"/>
                <a:ea typeface="Tahoma"/>
                <a:cs typeface="Tahoma"/>
                <a:sym typeface="Tahoma"/>
              </a:rPr>
              <a:t> del </a:t>
            </a: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2666994" y="3124193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952498"/>
                </a:moveTo>
                <a:lnTo>
                  <a:pt x="1180172" y="0"/>
                </a:lnTo>
                <a:lnTo>
                  <a:pt x="2381245" y="952498"/>
                </a:lnTo>
                <a:lnTo>
                  <a:pt x="0" y="952498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9" name="Google Shape;609;p44"/>
          <p:cNvSpPr/>
          <p:nvPr/>
        </p:nvSpPr>
        <p:spPr>
          <a:xfrm>
            <a:off x="2666994" y="4681515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0"/>
                </a:moveTo>
                <a:lnTo>
                  <a:pt x="1189972" y="952498"/>
                </a:lnTo>
                <a:lnTo>
                  <a:pt x="2381245" y="0"/>
                </a:lnTo>
                <a:lnTo>
                  <a:pt x="0" y="0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" name="Google Shape;610;p44"/>
          <p:cNvGrpSpPr/>
          <p:nvPr/>
        </p:nvGrpSpPr>
        <p:grpSpPr>
          <a:xfrm>
            <a:off x="5253165" y="3676642"/>
            <a:ext cx="164174" cy="1411096"/>
            <a:chOff x="5253164" y="3676642"/>
            <a:chExt cx="164174" cy="1411096"/>
          </a:xfrm>
        </p:grpSpPr>
        <p:sp>
          <p:nvSpPr>
            <p:cNvPr id="611" name="Google Shape;611;p44"/>
            <p:cNvSpPr/>
            <p:nvPr/>
          </p:nvSpPr>
          <p:spPr>
            <a:xfrm>
              <a:off x="5333989" y="3676642"/>
              <a:ext cx="1270" cy="1219200"/>
            </a:xfrm>
            <a:custGeom>
              <a:avLst/>
              <a:gdLst/>
              <a:ahLst/>
              <a:cxnLst/>
              <a:rect l="l" t="t" r="r" b="b"/>
              <a:pathLst>
                <a:path w="1270" h="1219200" extrusionOk="0">
                  <a:moveTo>
                    <a:pt x="0" y="0"/>
                  </a:moveTo>
                  <a:lnTo>
                    <a:pt x="1274" y="1218897"/>
                  </a:lnTo>
                </a:path>
              </a:pathLst>
            </a:custGeom>
            <a:noFill/>
            <a:ln w="38125" cap="flat" cmpd="sng">
              <a:solidFill>
                <a:srgbClr val="0B52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2" name="Google Shape;612;p44"/>
            <p:cNvSpPr/>
            <p:nvPr/>
          </p:nvSpPr>
          <p:spPr>
            <a:xfrm>
              <a:off x="5253164" y="4876389"/>
              <a:ext cx="164174" cy="2113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3" name="Google Shape;613;p44"/>
          <p:cNvSpPr txBox="1"/>
          <p:nvPr/>
        </p:nvSpPr>
        <p:spPr>
          <a:xfrm>
            <a:off x="3251448" y="5675618"/>
            <a:ext cx="13450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Tahoma"/>
                <a:ea typeface="Tahoma"/>
                <a:cs typeface="Tahoma"/>
                <a:sym typeface="Tahoma"/>
              </a:rPr>
              <a:t>Fin del 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4" name="Google Shape;614;p44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615" name="Google Shape;615;p44"/>
          <p:cNvSpPr txBox="1"/>
          <p:nvPr/>
        </p:nvSpPr>
        <p:spPr>
          <a:xfrm>
            <a:off x="3273418" y="3599172"/>
            <a:ext cx="1159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Divergencia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2666994" y="4140816"/>
            <a:ext cx="2381000" cy="312300"/>
          </a:xfrm>
          <a:prstGeom prst="rect">
            <a:avLst/>
          </a:pr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0625" rIns="0" bIns="0" anchor="t" anchorCtr="0">
            <a:spAutoFit/>
          </a:bodyPr>
          <a:lstStyle/>
          <a:p>
            <a:pPr marL="466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Transformación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7" name="Google Shape;617;p44"/>
          <p:cNvSpPr txBox="1"/>
          <p:nvPr/>
        </p:nvSpPr>
        <p:spPr>
          <a:xfrm>
            <a:off x="5694259" y="3617082"/>
            <a:ext cx="2742750" cy="170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Proceso de síntesis, descarte,  reﬁnamiento de la  información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8255" lvl="0" indent="0" algn="l" rtl="0">
              <a:lnSpc>
                <a:spcPct val="11785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Empleo de aspectos teóricos,  heurísticas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480059" lvl="0" indent="0" algn="l" rtl="0">
              <a:lnSpc>
                <a:spcPct val="11785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Análisis de estándares y  recomendaciones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6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5"/>
          <p:cNvSpPr txBox="1"/>
          <p:nvPr/>
        </p:nvSpPr>
        <p:spPr>
          <a:xfrm>
            <a:off x="535764" y="1478305"/>
            <a:ext cx="7434250" cy="150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6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Considera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las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particularidades</a:t>
            </a:r>
            <a:r>
              <a:rPr lang="en-US" sz="2000" b="1" dirty="0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2000" b="1" dirty="0" err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diseño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23544" marR="0" lvl="0" indent="-371474" algn="l" rtl="0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4485"/>
              </a:buClr>
              <a:buSzPts val="1500"/>
              <a:buFont typeface="Arial"/>
              <a:buChar char="■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Hay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importantes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fase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[Jones 92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’]: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marL="2369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Comienzo</a:t>
            </a:r>
            <a:r>
              <a:rPr lang="en-US" sz="1500" b="1" dirty="0">
                <a:latin typeface="Tahoma"/>
                <a:ea typeface="Tahoma"/>
                <a:cs typeface="Tahoma"/>
                <a:sym typeface="Tahoma"/>
              </a:rPr>
              <a:t> del </a:t>
            </a:r>
            <a:r>
              <a:rPr lang="en-US" sz="1500" b="1" dirty="0" err="1">
                <a:latin typeface="Tahoma"/>
                <a:ea typeface="Tahoma"/>
                <a:cs typeface="Tahoma"/>
                <a:sym typeface="Tahoma"/>
              </a:rPr>
              <a:t>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4" name="Google Shape;624;p45"/>
          <p:cNvSpPr/>
          <p:nvPr/>
        </p:nvSpPr>
        <p:spPr>
          <a:xfrm>
            <a:off x="2666994" y="3124193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952498"/>
                </a:moveTo>
                <a:lnTo>
                  <a:pt x="1180172" y="0"/>
                </a:lnTo>
                <a:lnTo>
                  <a:pt x="2381245" y="952498"/>
                </a:lnTo>
                <a:lnTo>
                  <a:pt x="0" y="952498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25" name="Google Shape;625;p45"/>
          <p:cNvSpPr/>
          <p:nvPr/>
        </p:nvSpPr>
        <p:spPr>
          <a:xfrm>
            <a:off x="2666994" y="4681515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 extrusionOk="0">
                <a:moveTo>
                  <a:pt x="0" y="0"/>
                </a:moveTo>
                <a:lnTo>
                  <a:pt x="1189972" y="952498"/>
                </a:lnTo>
                <a:lnTo>
                  <a:pt x="2381245" y="0"/>
                </a:lnTo>
                <a:lnTo>
                  <a:pt x="0" y="0"/>
                </a:lnTo>
                <a:close/>
              </a:path>
            </a:pathLst>
          </a:cu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" name="Google Shape;626;p45"/>
          <p:cNvGrpSpPr/>
          <p:nvPr/>
        </p:nvGrpSpPr>
        <p:grpSpPr>
          <a:xfrm>
            <a:off x="5253165" y="3676642"/>
            <a:ext cx="164174" cy="1411096"/>
            <a:chOff x="5253164" y="3676642"/>
            <a:chExt cx="164174" cy="1411096"/>
          </a:xfrm>
        </p:grpSpPr>
        <p:sp>
          <p:nvSpPr>
            <p:cNvPr id="627" name="Google Shape;627;p45"/>
            <p:cNvSpPr/>
            <p:nvPr/>
          </p:nvSpPr>
          <p:spPr>
            <a:xfrm>
              <a:off x="5333989" y="3676642"/>
              <a:ext cx="1270" cy="1219200"/>
            </a:xfrm>
            <a:custGeom>
              <a:avLst/>
              <a:gdLst/>
              <a:ahLst/>
              <a:cxnLst/>
              <a:rect l="l" t="t" r="r" b="b"/>
              <a:pathLst>
                <a:path w="1270" h="1219200" extrusionOk="0">
                  <a:moveTo>
                    <a:pt x="0" y="0"/>
                  </a:moveTo>
                  <a:lnTo>
                    <a:pt x="1274" y="1218897"/>
                  </a:lnTo>
                </a:path>
              </a:pathLst>
            </a:custGeom>
            <a:noFill/>
            <a:ln w="38125" cap="flat" cmpd="sng">
              <a:solidFill>
                <a:srgbClr val="0B52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5253164" y="4876389"/>
              <a:ext cx="164174" cy="2113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29" name="Google Shape;629;p45"/>
          <p:cNvSpPr txBox="1"/>
          <p:nvPr/>
        </p:nvSpPr>
        <p:spPr>
          <a:xfrm>
            <a:off x="2916725" y="5675618"/>
            <a:ext cx="2014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Tahoma"/>
                <a:ea typeface="Tahoma"/>
                <a:cs typeface="Tahoma"/>
                <a:sym typeface="Tahoma"/>
              </a:rPr>
              <a:t>Resultado del diseño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0" name="Google Shape;630;p45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631" name="Google Shape;631;p45"/>
          <p:cNvSpPr txBox="1"/>
          <p:nvPr/>
        </p:nvSpPr>
        <p:spPr>
          <a:xfrm>
            <a:off x="3273418" y="3599172"/>
            <a:ext cx="1159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Divergencia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2" name="Google Shape;632;p45"/>
          <p:cNvSpPr txBox="1"/>
          <p:nvPr/>
        </p:nvSpPr>
        <p:spPr>
          <a:xfrm>
            <a:off x="2666994" y="4140816"/>
            <a:ext cx="2381000" cy="312300"/>
          </a:xfrm>
          <a:prstGeom prst="rect">
            <a:avLst/>
          </a:prstGeom>
          <a:noFill/>
          <a:ln w="38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0625" rIns="0" bIns="0" anchor="t" anchorCtr="0">
            <a:spAutoFit/>
          </a:bodyPr>
          <a:lstStyle/>
          <a:p>
            <a:pPr marL="466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Transformación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3" name="Google Shape;633;p45"/>
          <p:cNvSpPr txBox="1"/>
          <p:nvPr/>
        </p:nvSpPr>
        <p:spPr>
          <a:xfrm>
            <a:off x="3197218" y="4818370"/>
            <a:ext cx="13240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C4487"/>
                </a:solidFill>
                <a:latin typeface="Tahoma"/>
                <a:ea typeface="Tahoma"/>
                <a:cs typeface="Tahoma"/>
                <a:sym typeface="Tahoma"/>
              </a:rPr>
              <a:t>Convergencia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4" name="Google Shape;634;p45"/>
          <p:cNvSpPr txBox="1"/>
          <p:nvPr/>
        </p:nvSpPr>
        <p:spPr>
          <a:xfrm>
            <a:off x="5694259" y="4760080"/>
            <a:ext cx="2514750" cy="162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360045" lvl="0" indent="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Camino a una solución  prototipica.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785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73662"/>
                </a:solidFill>
                <a:latin typeface="Arial"/>
                <a:ea typeface="Arial"/>
                <a:cs typeface="Arial"/>
                <a:sym typeface="Arial"/>
              </a:rPr>
              <a:t>Generación de una versión  de diseño que satsfaga las  condiciones y los factores  analizados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7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4"/>
          <p:cNvSpPr txBox="1"/>
          <p:nvPr/>
        </p:nvSpPr>
        <p:spPr>
          <a:xfrm>
            <a:off x="535766" y="1660444"/>
            <a:ext cx="66660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cy" sz="2000" b="1">
                <a:solidFill>
                  <a:srgbClr val="4A7DBA"/>
                </a:solidFill>
                <a:latin typeface="Roboto"/>
                <a:ea typeface="Roboto"/>
                <a:cs typeface="Roboto"/>
                <a:sym typeface="Roboto"/>
              </a:rPr>
              <a:t>Para comprobar la correspondencia directa</a:t>
            </a:r>
            <a:endParaRPr sz="2000" b="1" i="0" u="none" strike="noStrike" cap="none">
              <a:solidFill>
                <a:srgbClr val="4A7DB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428596" y="2071678"/>
            <a:ext cx="80892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8137" marR="0" lvl="3" indent="-3508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6"/>
              </a:buClr>
              <a:buSzPts val="1510"/>
              <a:buFont typeface="Calibri"/>
              <a:buChar char="■"/>
            </a:pPr>
            <a:r>
              <a:rPr lang="cy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correspondencia directa -definida por Hutchins y Norman, 86’- determina el grado de representatividad de los objetos que intervienen en el proceso interactivo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8" name="Google Shape;56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832350"/>
            <a:ext cx="75438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4"/>
          <p:cNvSpPr txBox="1"/>
          <p:nvPr/>
        </p:nvSpPr>
        <p:spPr>
          <a:xfrm>
            <a:off x="4800600" y="597535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SISTEMA INTERACTIVO</a:t>
            </a:r>
            <a:endParaRPr/>
          </a:p>
        </p:txBody>
      </p:sp>
      <p:pic>
        <p:nvPicPr>
          <p:cNvPr id="570" name="Google Shape;570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" y="4718050"/>
            <a:ext cx="12954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3308350"/>
            <a:ext cx="5334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4"/>
          <p:cNvSpPr txBox="1"/>
          <p:nvPr/>
        </p:nvSpPr>
        <p:spPr>
          <a:xfrm>
            <a:off x="838200" y="5975350"/>
            <a:ext cx="1295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USUARIO</a:t>
            </a:r>
            <a:endParaRPr/>
          </a:p>
        </p:txBody>
      </p:sp>
      <p:sp>
        <p:nvSpPr>
          <p:cNvPr id="573" name="Google Shape;573;p54"/>
          <p:cNvSpPr txBox="1"/>
          <p:nvPr/>
        </p:nvSpPr>
        <p:spPr>
          <a:xfrm>
            <a:off x="5562600" y="3994150"/>
            <a:ext cx="1524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DISEÑADOR</a:t>
            </a:r>
            <a:endParaRPr/>
          </a:p>
        </p:txBody>
      </p:sp>
      <p:sp>
        <p:nvSpPr>
          <p:cNvPr id="574" name="Google Shape;574;p54"/>
          <p:cNvSpPr txBox="1"/>
          <p:nvPr/>
        </p:nvSpPr>
        <p:spPr>
          <a:xfrm>
            <a:off x="6858000" y="3384550"/>
            <a:ext cx="15240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tarea</a:t>
            </a:r>
            <a:endParaRPr/>
          </a:p>
        </p:txBody>
      </p:sp>
      <p:sp>
        <p:nvSpPr>
          <p:cNvPr id="575" name="Google Shape;575;p54"/>
          <p:cNvSpPr txBox="1"/>
          <p:nvPr/>
        </p:nvSpPr>
        <p:spPr>
          <a:xfrm>
            <a:off x="7162800" y="4565650"/>
            <a:ext cx="19812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semánticos</a:t>
            </a:r>
            <a:endParaRPr/>
          </a:p>
        </p:txBody>
      </p:sp>
      <p:sp>
        <p:nvSpPr>
          <p:cNvPr id="576" name="Google Shape;576;p54"/>
          <p:cNvSpPr txBox="1"/>
          <p:nvPr/>
        </p:nvSpPr>
        <p:spPr>
          <a:xfrm>
            <a:off x="3905250" y="4565650"/>
            <a:ext cx="19812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sintácticos</a:t>
            </a:r>
            <a:endParaRPr/>
          </a:p>
        </p:txBody>
      </p:sp>
      <p:sp>
        <p:nvSpPr>
          <p:cNvPr id="577" name="Google Shape;577;p54"/>
          <p:cNvSpPr txBox="1"/>
          <p:nvPr/>
        </p:nvSpPr>
        <p:spPr>
          <a:xfrm>
            <a:off x="1828800" y="4565650"/>
            <a:ext cx="20763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interactivos</a:t>
            </a:r>
            <a:endParaRPr/>
          </a:p>
        </p:txBody>
      </p:sp>
      <p:cxnSp>
        <p:nvCxnSpPr>
          <p:cNvPr id="578" name="Google Shape;578;p54"/>
          <p:cNvCxnSpPr/>
          <p:nvPr/>
        </p:nvCxnSpPr>
        <p:spPr>
          <a:xfrm flipH="1">
            <a:off x="6472162" y="3536950"/>
            <a:ext cx="390600" cy="15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79" name="Google Shape;579;p54"/>
          <p:cNvCxnSpPr/>
          <p:nvPr/>
        </p:nvCxnSpPr>
        <p:spPr>
          <a:xfrm>
            <a:off x="80772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80" name="Google Shape;580;p54"/>
          <p:cNvCxnSpPr/>
          <p:nvPr/>
        </p:nvCxnSpPr>
        <p:spPr>
          <a:xfrm>
            <a:off x="46482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81" name="Google Shape;581;p54"/>
          <p:cNvCxnSpPr/>
          <p:nvPr/>
        </p:nvCxnSpPr>
        <p:spPr>
          <a:xfrm>
            <a:off x="30480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82" name="Google Shape;582;p54"/>
          <p:cNvSpPr txBox="1"/>
          <p:nvPr/>
        </p:nvSpPr>
        <p:spPr>
          <a:xfrm>
            <a:off x="381000" y="4146550"/>
            <a:ext cx="12192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reales</a:t>
            </a:r>
            <a:endParaRPr/>
          </a:p>
        </p:txBody>
      </p:sp>
      <p:sp>
        <p:nvSpPr>
          <p:cNvPr id="583" name="Google Shape;583;p54"/>
          <p:cNvSpPr/>
          <p:nvPr/>
        </p:nvSpPr>
        <p:spPr>
          <a:xfrm>
            <a:off x="3124200" y="4489450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912" h="48" extrusionOk="0">
                <a:moveTo>
                  <a:pt x="0" y="48"/>
                </a:moveTo>
                <a:cubicBezTo>
                  <a:pt x="188" y="24"/>
                  <a:pt x="376" y="0"/>
                  <a:pt x="528" y="0"/>
                </a:cubicBezTo>
                <a:cubicBezTo>
                  <a:pt x="680" y="0"/>
                  <a:pt x="840" y="40"/>
                  <a:pt x="912" y="48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54"/>
          <p:cNvSpPr/>
          <p:nvPr/>
        </p:nvSpPr>
        <p:spPr>
          <a:xfrm>
            <a:off x="3048000" y="4241800"/>
            <a:ext cx="4191000" cy="304800"/>
          </a:xfrm>
          <a:custGeom>
            <a:avLst/>
            <a:gdLst/>
            <a:ahLst/>
            <a:cxnLst/>
            <a:rect l="l" t="t" r="r" b="b"/>
            <a:pathLst>
              <a:path w="2640" h="192" extrusionOk="0">
                <a:moveTo>
                  <a:pt x="0" y="192"/>
                </a:moveTo>
                <a:cubicBezTo>
                  <a:pt x="92" y="96"/>
                  <a:pt x="184" y="0"/>
                  <a:pt x="624" y="0"/>
                </a:cubicBezTo>
                <a:cubicBezTo>
                  <a:pt x="1064" y="0"/>
                  <a:pt x="1852" y="96"/>
                  <a:pt x="2640" y="192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54"/>
          <p:cNvSpPr/>
          <p:nvPr/>
        </p:nvSpPr>
        <p:spPr>
          <a:xfrm>
            <a:off x="7696200" y="3689350"/>
            <a:ext cx="546100" cy="838200"/>
          </a:xfrm>
          <a:custGeom>
            <a:avLst/>
            <a:gdLst/>
            <a:ahLst/>
            <a:cxnLst/>
            <a:rect l="l" t="t" r="r" b="b"/>
            <a:pathLst>
              <a:path w="344" h="528" extrusionOk="0">
                <a:moveTo>
                  <a:pt x="0" y="0"/>
                </a:moveTo>
                <a:cubicBezTo>
                  <a:pt x="116" y="100"/>
                  <a:pt x="232" y="200"/>
                  <a:pt x="288" y="288"/>
                </a:cubicBezTo>
                <a:cubicBezTo>
                  <a:pt x="344" y="376"/>
                  <a:pt x="340" y="452"/>
                  <a:pt x="336" y="528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54"/>
          <p:cNvSpPr/>
          <p:nvPr/>
        </p:nvSpPr>
        <p:spPr>
          <a:xfrm>
            <a:off x="1899775" y="3054350"/>
            <a:ext cx="5263027" cy="433837"/>
          </a:xfrm>
          <a:custGeom>
            <a:avLst/>
            <a:gdLst/>
            <a:ahLst/>
            <a:cxnLst/>
            <a:rect l="l" t="t" r="r" b="b"/>
            <a:pathLst>
              <a:path w="3840" h="688" extrusionOk="0">
                <a:moveTo>
                  <a:pt x="0" y="688"/>
                </a:moveTo>
                <a:cubicBezTo>
                  <a:pt x="132" y="528"/>
                  <a:pt x="264" y="368"/>
                  <a:pt x="672" y="256"/>
                </a:cubicBezTo>
                <a:cubicBezTo>
                  <a:pt x="1080" y="144"/>
                  <a:pt x="1920" y="32"/>
                  <a:pt x="2448" y="16"/>
                </a:cubicBezTo>
                <a:cubicBezTo>
                  <a:pt x="2976" y="0"/>
                  <a:pt x="3408" y="80"/>
                  <a:pt x="3840" y="160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54"/>
          <p:cNvSpPr txBox="1"/>
          <p:nvPr/>
        </p:nvSpPr>
        <p:spPr>
          <a:xfrm>
            <a:off x="838200" y="3536950"/>
            <a:ext cx="1295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>
                <a:latin typeface="Tahoma"/>
                <a:ea typeface="Tahoma"/>
                <a:cs typeface="Tahoma"/>
                <a:sym typeface="Tahoma"/>
              </a:rPr>
              <a:t>CLIENTE</a:t>
            </a:r>
            <a:endParaRPr/>
          </a:p>
        </p:txBody>
      </p:sp>
      <p:pic>
        <p:nvPicPr>
          <p:cNvPr id="25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26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cxnSp>
        <p:nvCxnSpPr>
          <p:cNvPr id="28" name="27 Conector recto"/>
          <p:cNvCxnSpPr/>
          <p:nvPr/>
        </p:nvCxnSpPr>
        <p:spPr>
          <a:xfrm rot="16200000" flipH="1">
            <a:off x="6965173" y="2964653"/>
            <a:ext cx="214314" cy="1428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rot="10800000" flipV="1">
            <a:off x="6929454" y="3143248"/>
            <a:ext cx="214314" cy="1428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46 Grupo"/>
          <p:cNvGrpSpPr/>
          <p:nvPr/>
        </p:nvGrpSpPr>
        <p:grpSpPr>
          <a:xfrm>
            <a:off x="8037292" y="4357694"/>
            <a:ext cx="357190" cy="142876"/>
            <a:chOff x="8001024" y="4357694"/>
            <a:chExt cx="357190" cy="142876"/>
          </a:xfrm>
        </p:grpSpPr>
        <p:cxnSp>
          <p:nvCxnSpPr>
            <p:cNvPr id="35" name="34 Conector recto"/>
            <p:cNvCxnSpPr/>
            <p:nvPr/>
          </p:nvCxnSpPr>
          <p:spPr>
            <a:xfrm>
              <a:off x="8001024" y="4357694"/>
              <a:ext cx="214314" cy="14287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36 Conector recto"/>
            <p:cNvCxnSpPr/>
            <p:nvPr/>
          </p:nvCxnSpPr>
          <p:spPr>
            <a:xfrm rot="5400000">
              <a:off x="8215338" y="4357694"/>
              <a:ext cx="142876" cy="14287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5"/>
          <p:cNvSpPr txBox="1"/>
          <p:nvPr/>
        </p:nvSpPr>
        <p:spPr>
          <a:xfrm>
            <a:off x="535766" y="1660444"/>
            <a:ext cx="66660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cy" sz="2000" b="1">
                <a:solidFill>
                  <a:srgbClr val="4A7DBA"/>
                </a:solidFill>
                <a:latin typeface="Roboto"/>
                <a:ea typeface="Roboto"/>
                <a:cs typeface="Roboto"/>
                <a:sym typeface="Roboto"/>
              </a:rPr>
              <a:t>Para comprobar la correspondencia directa</a:t>
            </a:r>
            <a:endParaRPr sz="2000" b="1" i="0" u="none" strike="noStrike" cap="none">
              <a:solidFill>
                <a:srgbClr val="4A7DB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5"/>
          <p:cNvSpPr/>
          <p:nvPr/>
        </p:nvSpPr>
        <p:spPr>
          <a:xfrm>
            <a:off x="535775" y="2105475"/>
            <a:ext cx="80892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8137" marR="0" lvl="3" indent="-3508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6"/>
              </a:buClr>
              <a:buSzPts val="1510"/>
              <a:buFont typeface="Calibri"/>
              <a:buChar char="■"/>
            </a:pPr>
            <a:r>
              <a:rPr lang="cy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diseña generalmente desde el interés del cliente, desde la perspectiva funcional o desde la estética.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38137" marR="0" lvl="3" indent="-3508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6"/>
              </a:buClr>
              <a:buSzPts val="1510"/>
              <a:buFont typeface="Calibri"/>
              <a:buChar char="■"/>
            </a:pPr>
            <a:r>
              <a:rPr lang="cy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 diseñar desde la perspectiva de los usuarios.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832350"/>
            <a:ext cx="75438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5"/>
          <p:cNvSpPr txBox="1"/>
          <p:nvPr/>
        </p:nvSpPr>
        <p:spPr>
          <a:xfrm>
            <a:off x="4800600" y="597535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SISTEMA INTERACTIVO</a:t>
            </a:r>
            <a:endParaRPr/>
          </a:p>
        </p:txBody>
      </p:sp>
      <p:pic>
        <p:nvPicPr>
          <p:cNvPr id="597" name="Google Shape;59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" y="4718050"/>
            <a:ext cx="12954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3308350"/>
            <a:ext cx="5334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55"/>
          <p:cNvSpPr txBox="1"/>
          <p:nvPr/>
        </p:nvSpPr>
        <p:spPr>
          <a:xfrm>
            <a:off x="838200" y="5975350"/>
            <a:ext cx="1295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USUARIO</a:t>
            </a:r>
            <a:endParaRPr/>
          </a:p>
        </p:txBody>
      </p:sp>
      <p:sp>
        <p:nvSpPr>
          <p:cNvPr id="600" name="Google Shape;600;p55"/>
          <p:cNvSpPr txBox="1"/>
          <p:nvPr/>
        </p:nvSpPr>
        <p:spPr>
          <a:xfrm>
            <a:off x="5562600" y="3994150"/>
            <a:ext cx="1524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DISEÑADOR</a:t>
            </a:r>
            <a:endParaRPr/>
          </a:p>
        </p:txBody>
      </p:sp>
      <p:sp>
        <p:nvSpPr>
          <p:cNvPr id="601" name="Google Shape;601;p55"/>
          <p:cNvSpPr txBox="1"/>
          <p:nvPr/>
        </p:nvSpPr>
        <p:spPr>
          <a:xfrm>
            <a:off x="6858000" y="3384550"/>
            <a:ext cx="15240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tarea</a:t>
            </a:r>
            <a:endParaRPr/>
          </a:p>
        </p:txBody>
      </p:sp>
      <p:sp>
        <p:nvSpPr>
          <p:cNvPr id="602" name="Google Shape;602;p55"/>
          <p:cNvSpPr txBox="1"/>
          <p:nvPr/>
        </p:nvSpPr>
        <p:spPr>
          <a:xfrm>
            <a:off x="7162800" y="4565650"/>
            <a:ext cx="19812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semánticos</a:t>
            </a:r>
            <a:endParaRPr/>
          </a:p>
        </p:txBody>
      </p:sp>
      <p:sp>
        <p:nvSpPr>
          <p:cNvPr id="603" name="Google Shape;603;p55"/>
          <p:cNvSpPr txBox="1"/>
          <p:nvPr/>
        </p:nvSpPr>
        <p:spPr>
          <a:xfrm>
            <a:off x="3905250" y="4565650"/>
            <a:ext cx="19812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sintácticos</a:t>
            </a:r>
            <a:endParaRPr/>
          </a:p>
        </p:txBody>
      </p:sp>
      <p:sp>
        <p:nvSpPr>
          <p:cNvPr id="604" name="Google Shape;604;p55"/>
          <p:cNvSpPr txBox="1"/>
          <p:nvPr/>
        </p:nvSpPr>
        <p:spPr>
          <a:xfrm>
            <a:off x="1828800" y="4565650"/>
            <a:ext cx="20763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</a:t>
            </a:r>
            <a:r>
              <a:rPr lang="cy" sz="1500" b="1" i="0" u="none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interactivos</a:t>
            </a:r>
            <a:endParaRPr/>
          </a:p>
        </p:txBody>
      </p:sp>
      <p:cxnSp>
        <p:nvCxnSpPr>
          <p:cNvPr id="605" name="Google Shape;605;p55"/>
          <p:cNvCxnSpPr/>
          <p:nvPr/>
        </p:nvCxnSpPr>
        <p:spPr>
          <a:xfrm flipH="1">
            <a:off x="6472162" y="3536950"/>
            <a:ext cx="390600" cy="15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06" name="Google Shape;606;p55"/>
          <p:cNvCxnSpPr/>
          <p:nvPr/>
        </p:nvCxnSpPr>
        <p:spPr>
          <a:xfrm>
            <a:off x="80772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07" name="Google Shape;607;p55"/>
          <p:cNvCxnSpPr/>
          <p:nvPr/>
        </p:nvCxnSpPr>
        <p:spPr>
          <a:xfrm>
            <a:off x="46482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08" name="Google Shape;608;p55"/>
          <p:cNvCxnSpPr/>
          <p:nvPr/>
        </p:nvCxnSpPr>
        <p:spPr>
          <a:xfrm>
            <a:off x="3048000" y="4832350"/>
            <a:ext cx="1500" cy="228600"/>
          </a:xfrm>
          <a:prstGeom prst="straightConnector1">
            <a:avLst/>
          </a:prstGeom>
          <a:noFill/>
          <a:ln w="12600" cap="sq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09" name="Google Shape;609;p55"/>
          <p:cNvSpPr txBox="1"/>
          <p:nvPr/>
        </p:nvSpPr>
        <p:spPr>
          <a:xfrm>
            <a:off x="381000" y="4146550"/>
            <a:ext cx="12192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Tahoma"/>
              <a:buNone/>
            </a:pPr>
            <a:r>
              <a:rPr lang="cy" sz="1500" b="0" i="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Objetos reales</a:t>
            </a:r>
            <a:endParaRPr/>
          </a:p>
        </p:txBody>
      </p:sp>
      <p:sp>
        <p:nvSpPr>
          <p:cNvPr id="610" name="Google Shape;610;p55"/>
          <p:cNvSpPr/>
          <p:nvPr/>
        </p:nvSpPr>
        <p:spPr>
          <a:xfrm>
            <a:off x="3124200" y="4489450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912" h="48" extrusionOk="0">
                <a:moveTo>
                  <a:pt x="0" y="48"/>
                </a:moveTo>
                <a:cubicBezTo>
                  <a:pt x="188" y="24"/>
                  <a:pt x="376" y="0"/>
                  <a:pt x="528" y="0"/>
                </a:cubicBezTo>
                <a:cubicBezTo>
                  <a:pt x="680" y="0"/>
                  <a:pt x="840" y="40"/>
                  <a:pt x="912" y="48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55"/>
          <p:cNvSpPr/>
          <p:nvPr/>
        </p:nvSpPr>
        <p:spPr>
          <a:xfrm>
            <a:off x="3048000" y="4241800"/>
            <a:ext cx="4191000" cy="304800"/>
          </a:xfrm>
          <a:custGeom>
            <a:avLst/>
            <a:gdLst/>
            <a:ahLst/>
            <a:cxnLst/>
            <a:rect l="l" t="t" r="r" b="b"/>
            <a:pathLst>
              <a:path w="2640" h="192" extrusionOk="0">
                <a:moveTo>
                  <a:pt x="0" y="192"/>
                </a:moveTo>
                <a:cubicBezTo>
                  <a:pt x="92" y="96"/>
                  <a:pt x="184" y="0"/>
                  <a:pt x="624" y="0"/>
                </a:cubicBezTo>
                <a:cubicBezTo>
                  <a:pt x="1064" y="0"/>
                  <a:pt x="1852" y="96"/>
                  <a:pt x="2640" y="192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7696200" y="3689350"/>
            <a:ext cx="546100" cy="838200"/>
          </a:xfrm>
          <a:custGeom>
            <a:avLst/>
            <a:gdLst/>
            <a:ahLst/>
            <a:cxnLst/>
            <a:rect l="l" t="t" r="r" b="b"/>
            <a:pathLst>
              <a:path w="344" h="528" extrusionOk="0">
                <a:moveTo>
                  <a:pt x="0" y="0"/>
                </a:moveTo>
                <a:cubicBezTo>
                  <a:pt x="116" y="100"/>
                  <a:pt x="232" y="200"/>
                  <a:pt x="288" y="288"/>
                </a:cubicBezTo>
                <a:cubicBezTo>
                  <a:pt x="344" y="376"/>
                  <a:pt x="340" y="452"/>
                  <a:pt x="336" y="528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55"/>
          <p:cNvSpPr/>
          <p:nvPr/>
        </p:nvSpPr>
        <p:spPr>
          <a:xfrm>
            <a:off x="1899775" y="3054350"/>
            <a:ext cx="5263027" cy="433837"/>
          </a:xfrm>
          <a:custGeom>
            <a:avLst/>
            <a:gdLst/>
            <a:ahLst/>
            <a:cxnLst/>
            <a:rect l="l" t="t" r="r" b="b"/>
            <a:pathLst>
              <a:path w="3840" h="688" extrusionOk="0">
                <a:moveTo>
                  <a:pt x="0" y="688"/>
                </a:moveTo>
                <a:cubicBezTo>
                  <a:pt x="132" y="528"/>
                  <a:pt x="264" y="368"/>
                  <a:pt x="672" y="256"/>
                </a:cubicBezTo>
                <a:cubicBezTo>
                  <a:pt x="1080" y="144"/>
                  <a:pt x="1920" y="32"/>
                  <a:pt x="2448" y="16"/>
                </a:cubicBezTo>
                <a:cubicBezTo>
                  <a:pt x="2976" y="0"/>
                  <a:pt x="3408" y="80"/>
                  <a:pt x="3840" y="160"/>
                </a:cubicBezTo>
              </a:path>
            </a:pathLst>
          </a:custGeom>
          <a:noFill/>
          <a:ln w="38150" cap="flat" cmpd="sng">
            <a:solidFill>
              <a:srgbClr val="33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55"/>
          <p:cNvSpPr txBox="1"/>
          <p:nvPr/>
        </p:nvSpPr>
        <p:spPr>
          <a:xfrm>
            <a:off x="838200" y="3536950"/>
            <a:ext cx="1295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cy" sz="1600" b="1">
                <a:latin typeface="Tahoma"/>
                <a:ea typeface="Tahoma"/>
                <a:cs typeface="Tahoma"/>
                <a:sym typeface="Tahoma"/>
              </a:rPr>
              <a:t>CLIENTE</a:t>
            </a:r>
            <a:endParaRPr/>
          </a:p>
        </p:txBody>
      </p:sp>
      <p:sp>
        <p:nvSpPr>
          <p:cNvPr id="615" name="Google Shape;615;p55"/>
          <p:cNvSpPr/>
          <p:nvPr/>
        </p:nvSpPr>
        <p:spPr>
          <a:xfrm rot="21235697">
            <a:off x="1914705" y="3676878"/>
            <a:ext cx="3696563" cy="274447"/>
          </a:xfrm>
          <a:custGeom>
            <a:avLst/>
            <a:gdLst/>
            <a:ahLst/>
            <a:cxnLst/>
            <a:rect l="l" t="t" r="r" b="b"/>
            <a:pathLst>
              <a:path w="3840" h="688" extrusionOk="0">
                <a:moveTo>
                  <a:pt x="0" y="688"/>
                </a:moveTo>
                <a:cubicBezTo>
                  <a:pt x="132" y="528"/>
                  <a:pt x="264" y="368"/>
                  <a:pt x="672" y="256"/>
                </a:cubicBezTo>
                <a:cubicBezTo>
                  <a:pt x="1080" y="144"/>
                  <a:pt x="1920" y="32"/>
                  <a:pt x="2448" y="16"/>
                </a:cubicBezTo>
                <a:cubicBezTo>
                  <a:pt x="2976" y="0"/>
                  <a:pt x="3408" y="80"/>
                  <a:pt x="3840" y="160"/>
                </a:cubicBezTo>
              </a:path>
            </a:pathLst>
          </a:custGeom>
          <a:noFill/>
          <a:ln w="38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27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grpSp>
        <p:nvGrpSpPr>
          <p:cNvPr id="28" name="27 Grupo"/>
          <p:cNvGrpSpPr/>
          <p:nvPr/>
        </p:nvGrpSpPr>
        <p:grpSpPr>
          <a:xfrm rot="16200000">
            <a:off x="5429256" y="3499890"/>
            <a:ext cx="357190" cy="142876"/>
            <a:chOff x="8001024" y="4357694"/>
            <a:chExt cx="357190" cy="142876"/>
          </a:xfrm>
        </p:grpSpPr>
        <p:cxnSp>
          <p:nvCxnSpPr>
            <p:cNvPr id="29" name="28 Conector recto"/>
            <p:cNvCxnSpPr/>
            <p:nvPr/>
          </p:nvCxnSpPr>
          <p:spPr>
            <a:xfrm>
              <a:off x="8001024" y="4357694"/>
              <a:ext cx="214314" cy="14287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29 Conector recto"/>
            <p:cNvCxnSpPr/>
            <p:nvPr/>
          </p:nvCxnSpPr>
          <p:spPr>
            <a:xfrm rot="5400000">
              <a:off x="8215338" y="4357694"/>
              <a:ext cx="142876" cy="14287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00800" y="1804604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usuario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400" y="3146044"/>
            <a:ext cx="2214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contexto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300" y="3836351"/>
            <a:ext cx="2238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9177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mercado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00" y="3146044"/>
            <a:ext cx="19215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10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funcional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7400" y="3749294"/>
            <a:ext cx="2676525" cy="5175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9220" marR="5080" indent="-97155">
              <a:lnSpc>
                <a:spcPct val="101600"/>
              </a:lnSpc>
              <a:spcBef>
                <a:spcPts val="70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Heurísticas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de 	</a:t>
            </a:r>
            <a:r>
              <a:rPr sz="1600" b="1" dirty="0">
                <a:latin typeface="Arial"/>
                <a:cs typeface="Arial"/>
              </a:rPr>
              <a:t>Usabilidad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Accesibilidad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7575" y="4482147"/>
            <a:ext cx="256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410082"/>
                </a:solidFill>
                <a:latin typeface="Arial"/>
                <a:cs typeface="Arial"/>
              </a:rPr>
              <a:t>Diseño</a:t>
            </a:r>
            <a:r>
              <a:rPr sz="4000" b="1" spc="-35" dirty="0">
                <a:solidFill>
                  <a:srgbClr val="410082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410082"/>
                </a:solidFill>
                <a:latin typeface="Arial"/>
                <a:cs typeface="Arial"/>
              </a:rPr>
              <a:t>UX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80112" y="4719480"/>
            <a:ext cx="1979930" cy="1964055"/>
            <a:chOff x="2580112" y="4719480"/>
            <a:chExt cx="1979930" cy="1964055"/>
          </a:xfrm>
        </p:grpSpPr>
        <p:sp>
          <p:nvSpPr>
            <p:cNvPr id="10" name="object 10"/>
            <p:cNvSpPr/>
            <p:nvPr/>
          </p:nvSpPr>
          <p:spPr>
            <a:xfrm>
              <a:off x="4481917" y="5181062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799"/>
                  </a:lnTo>
                </a:path>
              </a:pathLst>
            </a:custGeom>
            <a:ln w="3679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4860" y="5434673"/>
              <a:ext cx="154922" cy="1995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8099" y="4737468"/>
              <a:ext cx="1905635" cy="1927860"/>
            </a:xfrm>
            <a:custGeom>
              <a:avLst/>
              <a:gdLst/>
              <a:ahLst/>
              <a:cxnLst/>
              <a:rect l="l" t="t" r="r" b="b"/>
              <a:pathLst>
                <a:path w="1905635" h="1927859">
                  <a:moveTo>
                    <a:pt x="1905276" y="1515889"/>
                  </a:moveTo>
                  <a:lnTo>
                    <a:pt x="1887006" y="1560138"/>
                  </a:lnTo>
                  <a:lnTo>
                    <a:pt x="1862996" y="1600383"/>
                  </a:lnTo>
                  <a:lnTo>
                    <a:pt x="1834084" y="1636773"/>
                  </a:lnTo>
                  <a:lnTo>
                    <a:pt x="1801110" y="1669455"/>
                  </a:lnTo>
                  <a:lnTo>
                    <a:pt x="1764913" y="1698577"/>
                  </a:lnTo>
                  <a:lnTo>
                    <a:pt x="1726333" y="1724286"/>
                  </a:lnTo>
                  <a:lnTo>
                    <a:pt x="1686209" y="1746731"/>
                  </a:lnTo>
                  <a:lnTo>
                    <a:pt x="1645380" y="1766058"/>
                  </a:lnTo>
                  <a:lnTo>
                    <a:pt x="1597176" y="1787440"/>
                  </a:lnTo>
                  <a:lnTo>
                    <a:pt x="1549751" y="1808732"/>
                  </a:lnTo>
                  <a:lnTo>
                    <a:pt x="1502564" y="1829365"/>
                  </a:lnTo>
                  <a:lnTo>
                    <a:pt x="1455079" y="1848767"/>
                  </a:lnTo>
                  <a:lnTo>
                    <a:pt x="1406753" y="1866370"/>
                  </a:lnTo>
                  <a:lnTo>
                    <a:pt x="1357048" y="1881604"/>
                  </a:lnTo>
                  <a:lnTo>
                    <a:pt x="1308021" y="1893329"/>
                  </a:lnTo>
                  <a:lnTo>
                    <a:pt x="1258564" y="1902214"/>
                  </a:lnTo>
                  <a:lnTo>
                    <a:pt x="1208788" y="1908781"/>
                  </a:lnTo>
                  <a:lnTo>
                    <a:pt x="1158801" y="1913546"/>
                  </a:lnTo>
                  <a:lnTo>
                    <a:pt x="1108714" y="1917032"/>
                  </a:lnTo>
                  <a:lnTo>
                    <a:pt x="1058637" y="1919759"/>
                  </a:lnTo>
                  <a:lnTo>
                    <a:pt x="1010280" y="1922938"/>
                  </a:lnTo>
                  <a:lnTo>
                    <a:pt x="961553" y="1926117"/>
                  </a:lnTo>
                  <a:lnTo>
                    <a:pt x="912806" y="1927857"/>
                  </a:lnTo>
                  <a:lnTo>
                    <a:pt x="864389" y="1926717"/>
                  </a:lnTo>
                  <a:lnTo>
                    <a:pt x="816652" y="1921259"/>
                  </a:lnTo>
                  <a:lnTo>
                    <a:pt x="769945" y="1910039"/>
                  </a:lnTo>
                  <a:lnTo>
                    <a:pt x="725251" y="1895802"/>
                  </a:lnTo>
                  <a:lnTo>
                    <a:pt x="680601" y="1880809"/>
                  </a:lnTo>
                  <a:lnTo>
                    <a:pt x="636391" y="1864525"/>
                  </a:lnTo>
                  <a:lnTo>
                    <a:pt x="593019" y="1846415"/>
                  </a:lnTo>
                  <a:lnTo>
                    <a:pt x="550881" y="1825945"/>
                  </a:lnTo>
                  <a:lnTo>
                    <a:pt x="510374" y="1802576"/>
                  </a:lnTo>
                  <a:lnTo>
                    <a:pt x="471894" y="1775777"/>
                  </a:lnTo>
                  <a:lnTo>
                    <a:pt x="432053" y="1743976"/>
                  </a:lnTo>
                  <a:lnTo>
                    <a:pt x="393558" y="1710403"/>
                  </a:lnTo>
                  <a:lnTo>
                    <a:pt x="356701" y="1674792"/>
                  </a:lnTo>
                  <a:lnTo>
                    <a:pt x="321771" y="1636870"/>
                  </a:lnTo>
                  <a:lnTo>
                    <a:pt x="289057" y="1596366"/>
                  </a:lnTo>
                  <a:lnTo>
                    <a:pt x="258850" y="1553009"/>
                  </a:lnTo>
                  <a:lnTo>
                    <a:pt x="231438" y="1506530"/>
                  </a:lnTo>
                  <a:lnTo>
                    <a:pt x="207580" y="1455780"/>
                  </a:lnTo>
                  <a:lnTo>
                    <a:pt x="189482" y="1405889"/>
                  </a:lnTo>
                  <a:lnTo>
                    <a:pt x="174203" y="1356519"/>
                  </a:lnTo>
                  <a:lnTo>
                    <a:pt x="158805" y="1307328"/>
                  </a:lnTo>
                  <a:lnTo>
                    <a:pt x="140347" y="1257978"/>
                  </a:lnTo>
                  <a:lnTo>
                    <a:pt x="115889" y="1208127"/>
                  </a:lnTo>
                  <a:lnTo>
                    <a:pt x="97687" y="1163696"/>
                  </a:lnTo>
                  <a:lnTo>
                    <a:pt x="88945" y="1116406"/>
                  </a:lnTo>
                  <a:lnTo>
                    <a:pt x="86102" y="1067295"/>
                  </a:lnTo>
                  <a:lnTo>
                    <a:pt x="85599" y="1017405"/>
                  </a:lnTo>
                  <a:lnTo>
                    <a:pt x="83875" y="967774"/>
                  </a:lnTo>
                  <a:lnTo>
                    <a:pt x="77373" y="919443"/>
                  </a:lnTo>
                  <a:lnTo>
                    <a:pt x="64492" y="869621"/>
                  </a:lnTo>
                  <a:lnTo>
                    <a:pt x="48602" y="820349"/>
                  </a:lnTo>
                  <a:lnTo>
                    <a:pt x="31972" y="771277"/>
                  </a:lnTo>
                  <a:lnTo>
                    <a:pt x="16872" y="722055"/>
                  </a:lnTo>
                  <a:lnTo>
                    <a:pt x="5571" y="672333"/>
                  </a:lnTo>
                  <a:lnTo>
                    <a:pt x="340" y="621761"/>
                  </a:lnTo>
                  <a:lnTo>
                    <a:pt x="0" y="572034"/>
                  </a:lnTo>
                  <a:lnTo>
                    <a:pt x="1807" y="522946"/>
                  </a:lnTo>
                  <a:lnTo>
                    <a:pt x="5695" y="473999"/>
                  </a:lnTo>
                  <a:lnTo>
                    <a:pt x="11592" y="424692"/>
                  </a:lnTo>
                  <a:lnTo>
                    <a:pt x="19430" y="374526"/>
                  </a:lnTo>
                  <a:lnTo>
                    <a:pt x="29137" y="322998"/>
                  </a:lnTo>
                  <a:lnTo>
                    <a:pt x="36388" y="282176"/>
                  </a:lnTo>
                  <a:lnTo>
                    <a:pt x="43462" y="240509"/>
                  </a:lnTo>
                  <a:lnTo>
                    <a:pt x="52873" y="199799"/>
                  </a:lnTo>
                  <a:lnTo>
                    <a:pt x="67132" y="161848"/>
                  </a:lnTo>
                  <a:lnTo>
                    <a:pt x="88752" y="128455"/>
                  </a:lnTo>
                  <a:lnTo>
                    <a:pt x="120245" y="101421"/>
                  </a:lnTo>
                  <a:lnTo>
                    <a:pt x="164124" y="82548"/>
                  </a:lnTo>
                  <a:lnTo>
                    <a:pt x="212881" y="68243"/>
                  </a:lnTo>
                  <a:lnTo>
                    <a:pt x="260808" y="53298"/>
                  </a:lnTo>
                  <a:lnTo>
                    <a:pt x="308335" y="38634"/>
                  </a:lnTo>
                  <a:lnTo>
                    <a:pt x="355892" y="25169"/>
                  </a:lnTo>
                  <a:lnTo>
                    <a:pt x="403909" y="13823"/>
                  </a:lnTo>
                  <a:lnTo>
                    <a:pt x="452816" y="5518"/>
                  </a:lnTo>
                  <a:lnTo>
                    <a:pt x="500346" y="1243"/>
                  </a:lnTo>
                  <a:lnTo>
                    <a:pt x="548207" y="0"/>
                  </a:lnTo>
                  <a:lnTo>
                    <a:pt x="596307" y="793"/>
                  </a:lnTo>
                  <a:lnTo>
                    <a:pt x="644557" y="2638"/>
                  </a:lnTo>
                  <a:lnTo>
                    <a:pt x="692869" y="4543"/>
                  </a:lnTo>
                  <a:lnTo>
                    <a:pt x="741148" y="5518"/>
                  </a:lnTo>
                  <a:lnTo>
                    <a:pt x="760586" y="5518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278187" y="2429936"/>
            <a:ext cx="1205865" cy="2164080"/>
            <a:chOff x="3278187" y="2429936"/>
            <a:chExt cx="1205865" cy="2164080"/>
          </a:xfrm>
        </p:grpSpPr>
        <p:sp>
          <p:nvSpPr>
            <p:cNvPr id="14" name="object 14"/>
            <p:cNvSpPr/>
            <p:nvPr/>
          </p:nvSpPr>
          <p:spPr>
            <a:xfrm>
              <a:off x="3296174" y="4050523"/>
              <a:ext cx="597535" cy="430530"/>
            </a:xfrm>
            <a:custGeom>
              <a:avLst/>
              <a:gdLst/>
              <a:ahLst/>
              <a:cxnLst/>
              <a:rect l="l" t="t" r="r" b="b"/>
              <a:pathLst>
                <a:path w="597535" h="430529">
                  <a:moveTo>
                    <a:pt x="0" y="0"/>
                  </a:moveTo>
                  <a:lnTo>
                    <a:pt x="597207" y="429989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639" y="4414259"/>
              <a:ext cx="203324" cy="17971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55987" y="2808286"/>
              <a:ext cx="760730" cy="1395095"/>
            </a:xfrm>
            <a:custGeom>
              <a:avLst/>
              <a:gdLst/>
              <a:ahLst/>
              <a:cxnLst/>
              <a:rect l="l" t="t" r="r" b="b"/>
              <a:pathLst>
                <a:path w="760729" h="1395095">
                  <a:moveTo>
                    <a:pt x="0" y="0"/>
                  </a:moveTo>
                  <a:lnTo>
                    <a:pt x="760310" y="139465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6090" y="4156476"/>
              <a:ext cx="166404" cy="2079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59225" y="2447924"/>
              <a:ext cx="449580" cy="1734185"/>
            </a:xfrm>
            <a:custGeom>
              <a:avLst/>
              <a:gdLst/>
              <a:ahLst/>
              <a:cxnLst/>
              <a:rect l="l" t="t" r="r" b="b"/>
              <a:pathLst>
                <a:path w="449579" h="1734185">
                  <a:moveTo>
                    <a:pt x="0" y="0"/>
                  </a:moveTo>
                  <a:lnTo>
                    <a:pt x="448958" y="1733995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20" y="4149015"/>
              <a:ext cx="151127" cy="2090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11525" y="3384548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7863" y="837864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9343" y="4162368"/>
              <a:ext cx="193566" cy="193566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618042" y="2861626"/>
            <a:ext cx="1243965" cy="1734185"/>
            <a:chOff x="4618042" y="2861626"/>
            <a:chExt cx="1243965" cy="1734185"/>
          </a:xfrm>
        </p:grpSpPr>
        <p:sp>
          <p:nvSpPr>
            <p:cNvPr id="23" name="object 23"/>
            <p:cNvSpPr/>
            <p:nvPr/>
          </p:nvSpPr>
          <p:spPr>
            <a:xfrm>
              <a:off x="4756427" y="3455985"/>
              <a:ext cx="862330" cy="790575"/>
            </a:xfrm>
            <a:custGeom>
              <a:avLst/>
              <a:gdLst/>
              <a:ahLst/>
              <a:cxnLst/>
              <a:rect l="l" t="t" r="r" b="b"/>
              <a:pathLst>
                <a:path w="862329" h="790575">
                  <a:moveTo>
                    <a:pt x="861733" y="0"/>
                  </a:moveTo>
                  <a:lnTo>
                    <a:pt x="0" y="790576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8042" y="4184748"/>
              <a:ext cx="196581" cy="19025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22248" y="3952123"/>
              <a:ext cx="814069" cy="535940"/>
            </a:xfrm>
            <a:custGeom>
              <a:avLst/>
              <a:gdLst/>
              <a:ahLst/>
              <a:cxnLst/>
              <a:rect l="l" t="t" r="r" b="b"/>
              <a:pathLst>
                <a:path w="814070" h="535939">
                  <a:moveTo>
                    <a:pt x="814076" y="0"/>
                  </a:moveTo>
                  <a:lnTo>
                    <a:pt x="0" y="535841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67785" y="4420298"/>
              <a:ext cx="205155" cy="17548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97496" y="2879723"/>
              <a:ext cx="1046480" cy="1038860"/>
            </a:xfrm>
            <a:custGeom>
              <a:avLst/>
              <a:gdLst/>
              <a:ahLst/>
              <a:cxnLst/>
              <a:rect l="l" t="t" r="r" b="b"/>
              <a:pathLst>
                <a:path w="1046479" h="1038860">
                  <a:moveTo>
                    <a:pt x="1046089" y="0"/>
                  </a:moveTo>
                  <a:lnTo>
                    <a:pt x="0" y="103824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3541" y="3857761"/>
              <a:ext cx="193842" cy="19328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2869" y="5471856"/>
            <a:ext cx="4809490" cy="557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4930" indent="-6223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SzPct val="37500"/>
              <a:buFont typeface="Arial"/>
              <a:buChar char="■"/>
              <a:tabLst>
                <a:tab pos="74930" algn="l"/>
              </a:tabLst>
            </a:pP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Revisión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del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944794"/>
                </a:solidFill>
                <a:latin typeface="Calibri"/>
                <a:cs typeface="Calibri"/>
              </a:rPr>
              <a:t>diseño</a:t>
            </a:r>
            <a:endParaRPr sz="1600">
              <a:latin typeface="Calibri"/>
              <a:cs typeface="Calibri"/>
            </a:endParaRPr>
          </a:p>
          <a:p>
            <a:pPr marL="2642870" lvl="1" indent="-263525">
              <a:lnSpc>
                <a:spcPct val="100000"/>
              </a:lnSpc>
              <a:spcBef>
                <a:spcPts val="170"/>
              </a:spcBef>
              <a:buChar char="■"/>
              <a:tabLst>
                <a:tab pos="2642870" algn="l"/>
              </a:tabLst>
            </a:pPr>
            <a:r>
              <a:rPr sz="1600" b="1" dirty="0">
                <a:latin typeface="Arial"/>
                <a:cs typeface="Arial"/>
              </a:rPr>
              <a:t>Evaluación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Diseño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1300" y="2463419"/>
            <a:ext cx="19767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Tipo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Aplicación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9950" y="1795068"/>
            <a:ext cx="2828290" cy="9321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9220" marR="238760" indent="-97155">
              <a:lnSpc>
                <a:spcPct val="101600"/>
              </a:lnSpc>
              <a:spcBef>
                <a:spcPts val="70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sistema/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sitio 	anterior</a:t>
            </a:r>
            <a:endParaRPr sz="1600">
              <a:latin typeface="Arial"/>
              <a:cs typeface="Arial"/>
            </a:endParaRPr>
          </a:p>
          <a:p>
            <a:pPr marL="986155" lvl="1" indent="-156210">
              <a:lnSpc>
                <a:spcPct val="100000"/>
              </a:lnSpc>
              <a:spcBef>
                <a:spcPts val="1345"/>
              </a:spcBef>
              <a:buClr>
                <a:srgbClr val="1155CC"/>
              </a:buClr>
              <a:buSzPct val="68750"/>
              <a:buChar char="■"/>
              <a:tabLst>
                <a:tab pos="986155" algn="l"/>
              </a:tabLst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0" dirty="0">
                <a:latin typeface="Arial"/>
                <a:cs typeface="Arial"/>
              </a:rPr>
              <a:t> estandarización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25504" y="2429936"/>
            <a:ext cx="334645" cy="1209040"/>
            <a:chOff x="4725504" y="2429936"/>
            <a:chExt cx="334645" cy="1209040"/>
          </a:xfrm>
        </p:grpSpPr>
        <p:sp>
          <p:nvSpPr>
            <p:cNvPr id="33" name="object 33"/>
            <p:cNvSpPr/>
            <p:nvPr/>
          </p:nvSpPr>
          <p:spPr>
            <a:xfrm>
              <a:off x="4801360" y="2447924"/>
              <a:ext cx="240665" cy="1014094"/>
            </a:xfrm>
            <a:custGeom>
              <a:avLst/>
              <a:gdLst/>
              <a:ahLst/>
              <a:cxnLst/>
              <a:rect l="l" t="t" r="r" b="b"/>
              <a:pathLst>
                <a:path w="240664" h="1014095">
                  <a:moveTo>
                    <a:pt x="240535" y="0"/>
                  </a:moveTo>
                  <a:lnTo>
                    <a:pt x="0" y="1013832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504" y="3430032"/>
              <a:ext cx="151712" cy="208684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5</a:t>
            </a:r>
          </a:p>
        </p:txBody>
      </p:sp>
      <p:sp>
        <p:nvSpPr>
          <p:cNvPr id="37" name="3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8" name="object 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9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7224" y="1500174"/>
            <a:ext cx="301686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solidFill>
                  <a:schemeClr val="tx2"/>
                </a:solidFill>
                <a:latin typeface="Arial"/>
                <a:cs typeface="Arial"/>
              </a:rPr>
              <a:t>Análisis</a:t>
            </a:r>
            <a:r>
              <a:rPr sz="1600" b="1" spc="-7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chemeClr val="tx2"/>
                </a:solidFill>
                <a:latin typeface="Arial"/>
                <a:cs typeface="Arial"/>
              </a:rPr>
              <a:t>del</a:t>
            </a:r>
            <a:r>
              <a:rPr sz="1600" b="1" spc="-7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600" b="1" spc="-10" smtClean="0">
                <a:solidFill>
                  <a:schemeClr val="tx2"/>
                </a:solidFill>
                <a:latin typeface="Arial"/>
                <a:cs typeface="Arial"/>
              </a:rPr>
              <a:t>usuario</a:t>
            </a:r>
            <a:endParaRPr lang="es-MX" sz="1600" b="1" spc="-10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400" y="3146044"/>
            <a:ext cx="2214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contexto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300" y="3836351"/>
            <a:ext cx="2238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9177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mercado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00" y="3146044"/>
            <a:ext cx="19215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10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funcional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7400" y="3749294"/>
            <a:ext cx="2676525" cy="5175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9220" marR="5080" indent="-97155">
              <a:lnSpc>
                <a:spcPct val="101600"/>
              </a:lnSpc>
              <a:spcBef>
                <a:spcPts val="70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Heurísticas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de 	</a:t>
            </a:r>
            <a:r>
              <a:rPr sz="1600" b="1" dirty="0">
                <a:latin typeface="Arial"/>
                <a:cs typeface="Arial"/>
              </a:rPr>
              <a:t>Usabilidad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Accesibilidad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7575" y="4482147"/>
            <a:ext cx="256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2"/>
                </a:solidFill>
                <a:latin typeface="Arial"/>
                <a:cs typeface="Arial"/>
              </a:rPr>
              <a:t>Diseño</a:t>
            </a:r>
            <a:r>
              <a:rPr sz="4000" b="1" spc="-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chemeClr val="tx2"/>
                </a:solidFill>
                <a:latin typeface="Arial"/>
                <a:cs typeface="Arial"/>
              </a:rPr>
              <a:t>UX</a:t>
            </a:r>
            <a:endParaRPr sz="400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2" name="object 9"/>
          <p:cNvGrpSpPr/>
          <p:nvPr/>
        </p:nvGrpSpPr>
        <p:grpSpPr>
          <a:xfrm>
            <a:off x="2580112" y="4719480"/>
            <a:ext cx="1979930" cy="1964055"/>
            <a:chOff x="2580112" y="4719480"/>
            <a:chExt cx="1979930" cy="1964055"/>
          </a:xfrm>
        </p:grpSpPr>
        <p:sp>
          <p:nvSpPr>
            <p:cNvPr id="10" name="object 10"/>
            <p:cNvSpPr/>
            <p:nvPr/>
          </p:nvSpPr>
          <p:spPr>
            <a:xfrm>
              <a:off x="4481917" y="5181062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799"/>
                  </a:lnTo>
                </a:path>
              </a:pathLst>
            </a:custGeom>
            <a:ln w="3679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4860" y="5434673"/>
              <a:ext cx="154922" cy="1995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8099" y="4737468"/>
              <a:ext cx="1905635" cy="1927860"/>
            </a:xfrm>
            <a:custGeom>
              <a:avLst/>
              <a:gdLst/>
              <a:ahLst/>
              <a:cxnLst/>
              <a:rect l="l" t="t" r="r" b="b"/>
              <a:pathLst>
                <a:path w="1905635" h="1927859">
                  <a:moveTo>
                    <a:pt x="1905276" y="1515889"/>
                  </a:moveTo>
                  <a:lnTo>
                    <a:pt x="1887006" y="1560138"/>
                  </a:lnTo>
                  <a:lnTo>
                    <a:pt x="1862996" y="1600383"/>
                  </a:lnTo>
                  <a:lnTo>
                    <a:pt x="1834084" y="1636773"/>
                  </a:lnTo>
                  <a:lnTo>
                    <a:pt x="1801110" y="1669455"/>
                  </a:lnTo>
                  <a:lnTo>
                    <a:pt x="1764913" y="1698577"/>
                  </a:lnTo>
                  <a:lnTo>
                    <a:pt x="1726333" y="1724286"/>
                  </a:lnTo>
                  <a:lnTo>
                    <a:pt x="1686209" y="1746731"/>
                  </a:lnTo>
                  <a:lnTo>
                    <a:pt x="1645380" y="1766058"/>
                  </a:lnTo>
                  <a:lnTo>
                    <a:pt x="1597176" y="1787440"/>
                  </a:lnTo>
                  <a:lnTo>
                    <a:pt x="1549751" y="1808732"/>
                  </a:lnTo>
                  <a:lnTo>
                    <a:pt x="1502564" y="1829365"/>
                  </a:lnTo>
                  <a:lnTo>
                    <a:pt x="1455079" y="1848767"/>
                  </a:lnTo>
                  <a:lnTo>
                    <a:pt x="1406753" y="1866370"/>
                  </a:lnTo>
                  <a:lnTo>
                    <a:pt x="1357048" y="1881604"/>
                  </a:lnTo>
                  <a:lnTo>
                    <a:pt x="1308021" y="1893329"/>
                  </a:lnTo>
                  <a:lnTo>
                    <a:pt x="1258564" y="1902214"/>
                  </a:lnTo>
                  <a:lnTo>
                    <a:pt x="1208788" y="1908781"/>
                  </a:lnTo>
                  <a:lnTo>
                    <a:pt x="1158801" y="1913546"/>
                  </a:lnTo>
                  <a:lnTo>
                    <a:pt x="1108714" y="1917032"/>
                  </a:lnTo>
                  <a:lnTo>
                    <a:pt x="1058637" y="1919759"/>
                  </a:lnTo>
                  <a:lnTo>
                    <a:pt x="1010280" y="1922938"/>
                  </a:lnTo>
                  <a:lnTo>
                    <a:pt x="961553" y="1926117"/>
                  </a:lnTo>
                  <a:lnTo>
                    <a:pt x="912806" y="1927857"/>
                  </a:lnTo>
                  <a:lnTo>
                    <a:pt x="864389" y="1926717"/>
                  </a:lnTo>
                  <a:lnTo>
                    <a:pt x="816652" y="1921259"/>
                  </a:lnTo>
                  <a:lnTo>
                    <a:pt x="769945" y="1910039"/>
                  </a:lnTo>
                  <a:lnTo>
                    <a:pt x="725251" y="1895802"/>
                  </a:lnTo>
                  <a:lnTo>
                    <a:pt x="680601" y="1880809"/>
                  </a:lnTo>
                  <a:lnTo>
                    <a:pt x="636391" y="1864525"/>
                  </a:lnTo>
                  <a:lnTo>
                    <a:pt x="593019" y="1846415"/>
                  </a:lnTo>
                  <a:lnTo>
                    <a:pt x="550881" y="1825945"/>
                  </a:lnTo>
                  <a:lnTo>
                    <a:pt x="510374" y="1802576"/>
                  </a:lnTo>
                  <a:lnTo>
                    <a:pt x="471894" y="1775777"/>
                  </a:lnTo>
                  <a:lnTo>
                    <a:pt x="432053" y="1743976"/>
                  </a:lnTo>
                  <a:lnTo>
                    <a:pt x="393558" y="1710403"/>
                  </a:lnTo>
                  <a:lnTo>
                    <a:pt x="356701" y="1674792"/>
                  </a:lnTo>
                  <a:lnTo>
                    <a:pt x="321771" y="1636870"/>
                  </a:lnTo>
                  <a:lnTo>
                    <a:pt x="289057" y="1596366"/>
                  </a:lnTo>
                  <a:lnTo>
                    <a:pt x="258850" y="1553009"/>
                  </a:lnTo>
                  <a:lnTo>
                    <a:pt x="231438" y="1506530"/>
                  </a:lnTo>
                  <a:lnTo>
                    <a:pt x="207580" y="1455780"/>
                  </a:lnTo>
                  <a:lnTo>
                    <a:pt x="189482" y="1405889"/>
                  </a:lnTo>
                  <a:lnTo>
                    <a:pt x="174203" y="1356519"/>
                  </a:lnTo>
                  <a:lnTo>
                    <a:pt x="158805" y="1307328"/>
                  </a:lnTo>
                  <a:lnTo>
                    <a:pt x="140347" y="1257978"/>
                  </a:lnTo>
                  <a:lnTo>
                    <a:pt x="115889" y="1208127"/>
                  </a:lnTo>
                  <a:lnTo>
                    <a:pt x="97687" y="1163696"/>
                  </a:lnTo>
                  <a:lnTo>
                    <a:pt x="88945" y="1116406"/>
                  </a:lnTo>
                  <a:lnTo>
                    <a:pt x="86102" y="1067295"/>
                  </a:lnTo>
                  <a:lnTo>
                    <a:pt x="85599" y="1017405"/>
                  </a:lnTo>
                  <a:lnTo>
                    <a:pt x="83875" y="967774"/>
                  </a:lnTo>
                  <a:lnTo>
                    <a:pt x="77373" y="919443"/>
                  </a:lnTo>
                  <a:lnTo>
                    <a:pt x="64492" y="869621"/>
                  </a:lnTo>
                  <a:lnTo>
                    <a:pt x="48602" y="820349"/>
                  </a:lnTo>
                  <a:lnTo>
                    <a:pt x="31972" y="771277"/>
                  </a:lnTo>
                  <a:lnTo>
                    <a:pt x="16872" y="722055"/>
                  </a:lnTo>
                  <a:lnTo>
                    <a:pt x="5571" y="672333"/>
                  </a:lnTo>
                  <a:lnTo>
                    <a:pt x="340" y="621761"/>
                  </a:lnTo>
                  <a:lnTo>
                    <a:pt x="0" y="572034"/>
                  </a:lnTo>
                  <a:lnTo>
                    <a:pt x="1807" y="522946"/>
                  </a:lnTo>
                  <a:lnTo>
                    <a:pt x="5695" y="473999"/>
                  </a:lnTo>
                  <a:lnTo>
                    <a:pt x="11592" y="424692"/>
                  </a:lnTo>
                  <a:lnTo>
                    <a:pt x="19430" y="374526"/>
                  </a:lnTo>
                  <a:lnTo>
                    <a:pt x="29137" y="322998"/>
                  </a:lnTo>
                  <a:lnTo>
                    <a:pt x="36388" y="282176"/>
                  </a:lnTo>
                  <a:lnTo>
                    <a:pt x="43462" y="240509"/>
                  </a:lnTo>
                  <a:lnTo>
                    <a:pt x="52873" y="199799"/>
                  </a:lnTo>
                  <a:lnTo>
                    <a:pt x="67132" y="161848"/>
                  </a:lnTo>
                  <a:lnTo>
                    <a:pt x="88752" y="128455"/>
                  </a:lnTo>
                  <a:lnTo>
                    <a:pt x="120245" y="101421"/>
                  </a:lnTo>
                  <a:lnTo>
                    <a:pt x="164124" y="82548"/>
                  </a:lnTo>
                  <a:lnTo>
                    <a:pt x="212881" y="68243"/>
                  </a:lnTo>
                  <a:lnTo>
                    <a:pt x="260808" y="53298"/>
                  </a:lnTo>
                  <a:lnTo>
                    <a:pt x="308335" y="38634"/>
                  </a:lnTo>
                  <a:lnTo>
                    <a:pt x="355892" y="25169"/>
                  </a:lnTo>
                  <a:lnTo>
                    <a:pt x="403909" y="13823"/>
                  </a:lnTo>
                  <a:lnTo>
                    <a:pt x="452816" y="5518"/>
                  </a:lnTo>
                  <a:lnTo>
                    <a:pt x="500346" y="1243"/>
                  </a:lnTo>
                  <a:lnTo>
                    <a:pt x="548207" y="0"/>
                  </a:lnTo>
                  <a:lnTo>
                    <a:pt x="596307" y="793"/>
                  </a:lnTo>
                  <a:lnTo>
                    <a:pt x="644557" y="2638"/>
                  </a:lnTo>
                  <a:lnTo>
                    <a:pt x="692869" y="4543"/>
                  </a:lnTo>
                  <a:lnTo>
                    <a:pt x="741148" y="5518"/>
                  </a:lnTo>
                  <a:lnTo>
                    <a:pt x="760586" y="5518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13"/>
          <p:cNvGrpSpPr/>
          <p:nvPr/>
        </p:nvGrpSpPr>
        <p:grpSpPr>
          <a:xfrm>
            <a:off x="3278187" y="2429936"/>
            <a:ext cx="1205865" cy="2164080"/>
            <a:chOff x="3278187" y="2429936"/>
            <a:chExt cx="1205865" cy="2164080"/>
          </a:xfrm>
        </p:grpSpPr>
        <p:sp>
          <p:nvSpPr>
            <p:cNvPr id="14" name="object 14"/>
            <p:cNvSpPr/>
            <p:nvPr/>
          </p:nvSpPr>
          <p:spPr>
            <a:xfrm>
              <a:off x="3296174" y="4050523"/>
              <a:ext cx="597535" cy="430530"/>
            </a:xfrm>
            <a:custGeom>
              <a:avLst/>
              <a:gdLst/>
              <a:ahLst/>
              <a:cxnLst/>
              <a:rect l="l" t="t" r="r" b="b"/>
              <a:pathLst>
                <a:path w="597535" h="430529">
                  <a:moveTo>
                    <a:pt x="0" y="0"/>
                  </a:moveTo>
                  <a:lnTo>
                    <a:pt x="597207" y="429989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639" y="4414259"/>
              <a:ext cx="203324" cy="17971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55987" y="2808286"/>
              <a:ext cx="760730" cy="1395095"/>
            </a:xfrm>
            <a:custGeom>
              <a:avLst/>
              <a:gdLst/>
              <a:ahLst/>
              <a:cxnLst/>
              <a:rect l="l" t="t" r="r" b="b"/>
              <a:pathLst>
                <a:path w="760729" h="1395095">
                  <a:moveTo>
                    <a:pt x="0" y="0"/>
                  </a:moveTo>
                  <a:lnTo>
                    <a:pt x="760310" y="139465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6090" y="4156476"/>
              <a:ext cx="166404" cy="2079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59225" y="2447924"/>
              <a:ext cx="449580" cy="1734185"/>
            </a:xfrm>
            <a:custGeom>
              <a:avLst/>
              <a:gdLst/>
              <a:ahLst/>
              <a:cxnLst/>
              <a:rect l="l" t="t" r="r" b="b"/>
              <a:pathLst>
                <a:path w="449579" h="1734185">
                  <a:moveTo>
                    <a:pt x="0" y="0"/>
                  </a:moveTo>
                  <a:lnTo>
                    <a:pt x="448958" y="1733995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20" y="4149015"/>
              <a:ext cx="151127" cy="2090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11525" y="3384548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7863" y="837864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9343" y="4162368"/>
              <a:ext cx="193566" cy="193566"/>
            </a:xfrm>
            <a:prstGeom prst="rect">
              <a:avLst/>
            </a:prstGeom>
          </p:spPr>
        </p:pic>
      </p:grpSp>
      <p:grpSp>
        <p:nvGrpSpPr>
          <p:cNvPr id="13" name="object 22"/>
          <p:cNvGrpSpPr/>
          <p:nvPr/>
        </p:nvGrpSpPr>
        <p:grpSpPr>
          <a:xfrm>
            <a:off x="4618042" y="2861626"/>
            <a:ext cx="1243965" cy="1734185"/>
            <a:chOff x="4618042" y="2861626"/>
            <a:chExt cx="1243965" cy="1734185"/>
          </a:xfrm>
        </p:grpSpPr>
        <p:sp>
          <p:nvSpPr>
            <p:cNvPr id="23" name="object 23"/>
            <p:cNvSpPr/>
            <p:nvPr/>
          </p:nvSpPr>
          <p:spPr>
            <a:xfrm>
              <a:off x="4756427" y="3455985"/>
              <a:ext cx="862330" cy="790575"/>
            </a:xfrm>
            <a:custGeom>
              <a:avLst/>
              <a:gdLst/>
              <a:ahLst/>
              <a:cxnLst/>
              <a:rect l="l" t="t" r="r" b="b"/>
              <a:pathLst>
                <a:path w="862329" h="790575">
                  <a:moveTo>
                    <a:pt x="861733" y="0"/>
                  </a:moveTo>
                  <a:lnTo>
                    <a:pt x="0" y="790576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8042" y="4184748"/>
              <a:ext cx="196581" cy="19025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22248" y="3952123"/>
              <a:ext cx="814069" cy="535940"/>
            </a:xfrm>
            <a:custGeom>
              <a:avLst/>
              <a:gdLst/>
              <a:ahLst/>
              <a:cxnLst/>
              <a:rect l="l" t="t" r="r" b="b"/>
              <a:pathLst>
                <a:path w="814070" h="535939">
                  <a:moveTo>
                    <a:pt x="814076" y="0"/>
                  </a:moveTo>
                  <a:lnTo>
                    <a:pt x="0" y="535841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67785" y="4420298"/>
              <a:ext cx="205155" cy="17548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97496" y="2879723"/>
              <a:ext cx="1046480" cy="1038860"/>
            </a:xfrm>
            <a:custGeom>
              <a:avLst/>
              <a:gdLst/>
              <a:ahLst/>
              <a:cxnLst/>
              <a:rect l="l" t="t" r="r" b="b"/>
              <a:pathLst>
                <a:path w="1046479" h="1038860">
                  <a:moveTo>
                    <a:pt x="1046089" y="0"/>
                  </a:moveTo>
                  <a:lnTo>
                    <a:pt x="0" y="103824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3541" y="3857761"/>
              <a:ext cx="193842" cy="19328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2869" y="5471856"/>
            <a:ext cx="4809490" cy="557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4930" indent="-6223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SzPct val="37500"/>
              <a:buFont typeface="Arial"/>
              <a:buChar char="■"/>
              <a:tabLst>
                <a:tab pos="74930" algn="l"/>
              </a:tabLst>
            </a:pP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Revisión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del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944794"/>
                </a:solidFill>
                <a:latin typeface="Calibri"/>
                <a:cs typeface="Calibri"/>
              </a:rPr>
              <a:t>diseño</a:t>
            </a:r>
            <a:endParaRPr sz="1600">
              <a:latin typeface="Calibri"/>
              <a:cs typeface="Calibri"/>
            </a:endParaRPr>
          </a:p>
          <a:p>
            <a:pPr marL="2642870" lvl="1" indent="-263525">
              <a:lnSpc>
                <a:spcPct val="100000"/>
              </a:lnSpc>
              <a:spcBef>
                <a:spcPts val="170"/>
              </a:spcBef>
              <a:buChar char="■"/>
              <a:tabLst>
                <a:tab pos="2642870" algn="l"/>
              </a:tabLst>
            </a:pPr>
            <a:r>
              <a:rPr sz="1600" b="1" dirty="0">
                <a:latin typeface="Arial"/>
                <a:cs typeface="Arial"/>
              </a:rPr>
              <a:t>Evaluación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Diseño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1300" y="2463419"/>
            <a:ext cx="19767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Tipo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Aplicación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9950" y="1795068"/>
            <a:ext cx="2828290" cy="9321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9220" marR="238760" indent="-97155">
              <a:lnSpc>
                <a:spcPct val="101600"/>
              </a:lnSpc>
              <a:spcBef>
                <a:spcPts val="70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sistema/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sitio 	anterior</a:t>
            </a:r>
            <a:endParaRPr sz="1600">
              <a:latin typeface="Arial"/>
              <a:cs typeface="Arial"/>
            </a:endParaRPr>
          </a:p>
          <a:p>
            <a:pPr marL="986155" lvl="1" indent="-156210">
              <a:lnSpc>
                <a:spcPct val="100000"/>
              </a:lnSpc>
              <a:spcBef>
                <a:spcPts val="1345"/>
              </a:spcBef>
              <a:buClr>
                <a:srgbClr val="1155CC"/>
              </a:buClr>
              <a:buSzPct val="68750"/>
              <a:buChar char="■"/>
              <a:tabLst>
                <a:tab pos="986155" algn="l"/>
              </a:tabLst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0" dirty="0">
                <a:latin typeface="Arial"/>
                <a:cs typeface="Arial"/>
              </a:rPr>
              <a:t> estandarización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2" name="object 32"/>
          <p:cNvGrpSpPr/>
          <p:nvPr/>
        </p:nvGrpSpPr>
        <p:grpSpPr>
          <a:xfrm>
            <a:off x="4725504" y="2429936"/>
            <a:ext cx="334645" cy="1209040"/>
            <a:chOff x="4725504" y="2429936"/>
            <a:chExt cx="334645" cy="1209040"/>
          </a:xfrm>
        </p:grpSpPr>
        <p:sp>
          <p:nvSpPr>
            <p:cNvPr id="33" name="object 33"/>
            <p:cNvSpPr/>
            <p:nvPr/>
          </p:nvSpPr>
          <p:spPr>
            <a:xfrm>
              <a:off x="4801360" y="2447924"/>
              <a:ext cx="240665" cy="1014094"/>
            </a:xfrm>
            <a:custGeom>
              <a:avLst/>
              <a:gdLst/>
              <a:ahLst/>
              <a:cxnLst/>
              <a:rect l="l" t="t" r="r" b="b"/>
              <a:pathLst>
                <a:path w="240664" h="1014095">
                  <a:moveTo>
                    <a:pt x="240535" y="0"/>
                  </a:moveTo>
                  <a:lnTo>
                    <a:pt x="0" y="1013832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504" y="3430032"/>
              <a:ext cx="151712" cy="208684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5</a:t>
            </a:r>
          </a:p>
        </p:txBody>
      </p:sp>
      <p:sp>
        <p:nvSpPr>
          <p:cNvPr id="37" name="3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8" name="object 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9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6072198" y="4941056"/>
            <a:ext cx="27860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lang="es-MX" sz="2000" b="1" spc="-10" dirty="0" smtClean="0">
                <a:solidFill>
                  <a:schemeClr val="tx2"/>
                </a:solidFill>
                <a:latin typeface="Arial"/>
                <a:cs typeface="Arial"/>
              </a:rPr>
              <a:t>En todo el proceso se debe incluir personas con discapacidad y de otros perfiles</a:t>
            </a:r>
            <a:endParaRPr lang="es-MX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1075" y="1185702"/>
            <a:ext cx="3226435" cy="8902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Perﬁles</a:t>
            </a:r>
            <a:r>
              <a:rPr sz="1800" b="1" spc="-4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Escenarios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Personas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Recolección</a:t>
            </a:r>
            <a:r>
              <a:rPr sz="1800" b="1" spc="-3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  <a:p>
            <a:pPr marL="788670" indent="-156845">
              <a:lnSpc>
                <a:spcPct val="100000"/>
              </a:lnSpc>
              <a:spcBef>
                <a:spcPts val="550"/>
              </a:spcBef>
              <a:buClr>
                <a:srgbClr val="1155CC"/>
              </a:buClr>
              <a:buSzPct val="68750"/>
              <a:buChar char="■"/>
              <a:tabLst>
                <a:tab pos="78867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usuario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400" y="3146044"/>
            <a:ext cx="2214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contexto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30" y="2469399"/>
            <a:ext cx="2722880" cy="16732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11175" marR="259715" indent="-499109">
              <a:lnSpc>
                <a:spcPct val="93100"/>
              </a:lnSpc>
              <a:spcBef>
                <a:spcPts val="229"/>
              </a:spcBef>
              <a:buClr>
                <a:srgbClr val="1155CC"/>
              </a:buClr>
              <a:buSzPct val="68750"/>
              <a:buChar char="■"/>
              <a:tabLst>
                <a:tab pos="511175" algn="l"/>
              </a:tabLst>
            </a:pPr>
            <a:r>
              <a:rPr sz="1600" b="1" dirty="0">
                <a:latin typeface="Arial"/>
                <a:cs typeface="Arial"/>
              </a:rPr>
              <a:t>Tipo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Aplicación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Análisis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tareas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Casos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1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uso</a:t>
            </a:r>
            <a:endParaRPr sz="1800">
              <a:latin typeface="Arial"/>
              <a:cs typeface="Arial"/>
            </a:endParaRPr>
          </a:p>
          <a:p>
            <a:pPr marL="653415" lvl="1" indent="-156210">
              <a:lnSpc>
                <a:spcPts val="1650"/>
              </a:lnSpc>
              <a:buClr>
                <a:srgbClr val="1155CC"/>
              </a:buClr>
              <a:buSzPct val="68750"/>
              <a:buChar char="■"/>
              <a:tabLst>
                <a:tab pos="65341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10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funcional</a:t>
            </a:r>
            <a:endParaRPr sz="16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Bechmarking</a:t>
            </a:r>
            <a:endParaRPr sz="1800">
              <a:latin typeface="Arial"/>
              <a:cs typeface="Arial"/>
            </a:endParaRPr>
          </a:p>
          <a:p>
            <a:pPr marL="675640" lvl="1" indent="-179705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675640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mercado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7575" y="4482147"/>
            <a:ext cx="256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2"/>
                </a:solidFill>
                <a:latin typeface="Arial"/>
                <a:cs typeface="Arial"/>
              </a:rPr>
              <a:t>Diseño</a:t>
            </a:r>
            <a:r>
              <a:rPr sz="4000" b="1" spc="-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chemeClr val="tx2"/>
                </a:solidFill>
                <a:latin typeface="Arial"/>
                <a:cs typeface="Arial"/>
              </a:rPr>
              <a:t>UX</a:t>
            </a:r>
            <a:endParaRPr sz="400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80112" y="4719480"/>
            <a:ext cx="1979930" cy="1964055"/>
            <a:chOff x="2580112" y="4719480"/>
            <a:chExt cx="1979930" cy="1964055"/>
          </a:xfrm>
        </p:grpSpPr>
        <p:sp>
          <p:nvSpPr>
            <p:cNvPr id="8" name="object 8"/>
            <p:cNvSpPr/>
            <p:nvPr/>
          </p:nvSpPr>
          <p:spPr>
            <a:xfrm>
              <a:off x="4481917" y="5181062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799"/>
                  </a:lnTo>
                </a:path>
              </a:pathLst>
            </a:custGeom>
            <a:ln w="3679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4860" y="5434673"/>
              <a:ext cx="154922" cy="1995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98099" y="4737468"/>
              <a:ext cx="1905635" cy="1927860"/>
            </a:xfrm>
            <a:custGeom>
              <a:avLst/>
              <a:gdLst/>
              <a:ahLst/>
              <a:cxnLst/>
              <a:rect l="l" t="t" r="r" b="b"/>
              <a:pathLst>
                <a:path w="1905635" h="1927859">
                  <a:moveTo>
                    <a:pt x="1905276" y="1515889"/>
                  </a:moveTo>
                  <a:lnTo>
                    <a:pt x="1887006" y="1560138"/>
                  </a:lnTo>
                  <a:lnTo>
                    <a:pt x="1862996" y="1600383"/>
                  </a:lnTo>
                  <a:lnTo>
                    <a:pt x="1834084" y="1636773"/>
                  </a:lnTo>
                  <a:lnTo>
                    <a:pt x="1801110" y="1669455"/>
                  </a:lnTo>
                  <a:lnTo>
                    <a:pt x="1764913" y="1698577"/>
                  </a:lnTo>
                  <a:lnTo>
                    <a:pt x="1726333" y="1724286"/>
                  </a:lnTo>
                  <a:lnTo>
                    <a:pt x="1686209" y="1746731"/>
                  </a:lnTo>
                  <a:lnTo>
                    <a:pt x="1645380" y="1766058"/>
                  </a:lnTo>
                  <a:lnTo>
                    <a:pt x="1597176" y="1787440"/>
                  </a:lnTo>
                  <a:lnTo>
                    <a:pt x="1549751" y="1808732"/>
                  </a:lnTo>
                  <a:lnTo>
                    <a:pt x="1502564" y="1829365"/>
                  </a:lnTo>
                  <a:lnTo>
                    <a:pt x="1455079" y="1848767"/>
                  </a:lnTo>
                  <a:lnTo>
                    <a:pt x="1406753" y="1866370"/>
                  </a:lnTo>
                  <a:lnTo>
                    <a:pt x="1357048" y="1881604"/>
                  </a:lnTo>
                  <a:lnTo>
                    <a:pt x="1308021" y="1893329"/>
                  </a:lnTo>
                  <a:lnTo>
                    <a:pt x="1258564" y="1902214"/>
                  </a:lnTo>
                  <a:lnTo>
                    <a:pt x="1208788" y="1908781"/>
                  </a:lnTo>
                  <a:lnTo>
                    <a:pt x="1158801" y="1913546"/>
                  </a:lnTo>
                  <a:lnTo>
                    <a:pt x="1108714" y="1917032"/>
                  </a:lnTo>
                  <a:lnTo>
                    <a:pt x="1058637" y="1919759"/>
                  </a:lnTo>
                  <a:lnTo>
                    <a:pt x="1010280" y="1922938"/>
                  </a:lnTo>
                  <a:lnTo>
                    <a:pt x="961553" y="1926117"/>
                  </a:lnTo>
                  <a:lnTo>
                    <a:pt x="912806" y="1927857"/>
                  </a:lnTo>
                  <a:lnTo>
                    <a:pt x="864389" y="1926717"/>
                  </a:lnTo>
                  <a:lnTo>
                    <a:pt x="816652" y="1921259"/>
                  </a:lnTo>
                  <a:lnTo>
                    <a:pt x="769945" y="1910039"/>
                  </a:lnTo>
                  <a:lnTo>
                    <a:pt x="725251" y="1895802"/>
                  </a:lnTo>
                  <a:lnTo>
                    <a:pt x="680601" y="1880809"/>
                  </a:lnTo>
                  <a:lnTo>
                    <a:pt x="636391" y="1864525"/>
                  </a:lnTo>
                  <a:lnTo>
                    <a:pt x="593019" y="1846415"/>
                  </a:lnTo>
                  <a:lnTo>
                    <a:pt x="550881" y="1825945"/>
                  </a:lnTo>
                  <a:lnTo>
                    <a:pt x="510374" y="1802576"/>
                  </a:lnTo>
                  <a:lnTo>
                    <a:pt x="471894" y="1775777"/>
                  </a:lnTo>
                  <a:lnTo>
                    <a:pt x="432053" y="1743976"/>
                  </a:lnTo>
                  <a:lnTo>
                    <a:pt x="393558" y="1710403"/>
                  </a:lnTo>
                  <a:lnTo>
                    <a:pt x="356701" y="1674792"/>
                  </a:lnTo>
                  <a:lnTo>
                    <a:pt x="321771" y="1636870"/>
                  </a:lnTo>
                  <a:lnTo>
                    <a:pt x="289057" y="1596366"/>
                  </a:lnTo>
                  <a:lnTo>
                    <a:pt x="258850" y="1553009"/>
                  </a:lnTo>
                  <a:lnTo>
                    <a:pt x="231438" y="1506530"/>
                  </a:lnTo>
                  <a:lnTo>
                    <a:pt x="207580" y="1455780"/>
                  </a:lnTo>
                  <a:lnTo>
                    <a:pt x="189482" y="1405889"/>
                  </a:lnTo>
                  <a:lnTo>
                    <a:pt x="174203" y="1356519"/>
                  </a:lnTo>
                  <a:lnTo>
                    <a:pt x="158805" y="1307328"/>
                  </a:lnTo>
                  <a:lnTo>
                    <a:pt x="140347" y="1257978"/>
                  </a:lnTo>
                  <a:lnTo>
                    <a:pt x="115889" y="1208127"/>
                  </a:lnTo>
                  <a:lnTo>
                    <a:pt x="97687" y="1163696"/>
                  </a:lnTo>
                  <a:lnTo>
                    <a:pt x="88945" y="1116406"/>
                  </a:lnTo>
                  <a:lnTo>
                    <a:pt x="86102" y="1067295"/>
                  </a:lnTo>
                  <a:lnTo>
                    <a:pt x="85599" y="1017405"/>
                  </a:lnTo>
                  <a:lnTo>
                    <a:pt x="83875" y="967774"/>
                  </a:lnTo>
                  <a:lnTo>
                    <a:pt x="77373" y="919443"/>
                  </a:lnTo>
                  <a:lnTo>
                    <a:pt x="64492" y="869621"/>
                  </a:lnTo>
                  <a:lnTo>
                    <a:pt x="48602" y="820349"/>
                  </a:lnTo>
                  <a:lnTo>
                    <a:pt x="31972" y="771277"/>
                  </a:lnTo>
                  <a:lnTo>
                    <a:pt x="16872" y="722055"/>
                  </a:lnTo>
                  <a:lnTo>
                    <a:pt x="5571" y="672333"/>
                  </a:lnTo>
                  <a:lnTo>
                    <a:pt x="340" y="621761"/>
                  </a:lnTo>
                  <a:lnTo>
                    <a:pt x="0" y="572034"/>
                  </a:lnTo>
                  <a:lnTo>
                    <a:pt x="1807" y="522946"/>
                  </a:lnTo>
                  <a:lnTo>
                    <a:pt x="5695" y="473999"/>
                  </a:lnTo>
                  <a:lnTo>
                    <a:pt x="11592" y="424692"/>
                  </a:lnTo>
                  <a:lnTo>
                    <a:pt x="19430" y="374526"/>
                  </a:lnTo>
                  <a:lnTo>
                    <a:pt x="29137" y="322998"/>
                  </a:lnTo>
                  <a:lnTo>
                    <a:pt x="36388" y="282176"/>
                  </a:lnTo>
                  <a:lnTo>
                    <a:pt x="43462" y="240509"/>
                  </a:lnTo>
                  <a:lnTo>
                    <a:pt x="52873" y="199799"/>
                  </a:lnTo>
                  <a:lnTo>
                    <a:pt x="67132" y="161848"/>
                  </a:lnTo>
                  <a:lnTo>
                    <a:pt x="88752" y="128455"/>
                  </a:lnTo>
                  <a:lnTo>
                    <a:pt x="120245" y="101421"/>
                  </a:lnTo>
                  <a:lnTo>
                    <a:pt x="164124" y="82548"/>
                  </a:lnTo>
                  <a:lnTo>
                    <a:pt x="212881" y="68243"/>
                  </a:lnTo>
                  <a:lnTo>
                    <a:pt x="260808" y="53298"/>
                  </a:lnTo>
                  <a:lnTo>
                    <a:pt x="308335" y="38634"/>
                  </a:lnTo>
                  <a:lnTo>
                    <a:pt x="355892" y="25169"/>
                  </a:lnTo>
                  <a:lnTo>
                    <a:pt x="403909" y="13823"/>
                  </a:lnTo>
                  <a:lnTo>
                    <a:pt x="452816" y="5518"/>
                  </a:lnTo>
                  <a:lnTo>
                    <a:pt x="500346" y="1243"/>
                  </a:lnTo>
                  <a:lnTo>
                    <a:pt x="548207" y="0"/>
                  </a:lnTo>
                  <a:lnTo>
                    <a:pt x="596307" y="793"/>
                  </a:lnTo>
                  <a:lnTo>
                    <a:pt x="644557" y="2638"/>
                  </a:lnTo>
                  <a:lnTo>
                    <a:pt x="692869" y="4543"/>
                  </a:lnTo>
                  <a:lnTo>
                    <a:pt x="741148" y="5518"/>
                  </a:lnTo>
                  <a:lnTo>
                    <a:pt x="760586" y="5518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278187" y="2429936"/>
            <a:ext cx="1205865" cy="2164080"/>
            <a:chOff x="3278187" y="2429936"/>
            <a:chExt cx="1205865" cy="2164080"/>
          </a:xfrm>
        </p:grpSpPr>
        <p:sp>
          <p:nvSpPr>
            <p:cNvPr id="12" name="object 12"/>
            <p:cNvSpPr/>
            <p:nvPr/>
          </p:nvSpPr>
          <p:spPr>
            <a:xfrm>
              <a:off x="3296174" y="4050523"/>
              <a:ext cx="597535" cy="430530"/>
            </a:xfrm>
            <a:custGeom>
              <a:avLst/>
              <a:gdLst/>
              <a:ahLst/>
              <a:cxnLst/>
              <a:rect l="l" t="t" r="r" b="b"/>
              <a:pathLst>
                <a:path w="597535" h="430529">
                  <a:moveTo>
                    <a:pt x="0" y="0"/>
                  </a:moveTo>
                  <a:lnTo>
                    <a:pt x="597207" y="429989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639" y="4414259"/>
              <a:ext cx="203324" cy="17971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55987" y="2808286"/>
              <a:ext cx="760730" cy="1395095"/>
            </a:xfrm>
            <a:custGeom>
              <a:avLst/>
              <a:gdLst/>
              <a:ahLst/>
              <a:cxnLst/>
              <a:rect l="l" t="t" r="r" b="b"/>
              <a:pathLst>
                <a:path w="760729" h="1395095">
                  <a:moveTo>
                    <a:pt x="0" y="0"/>
                  </a:moveTo>
                  <a:lnTo>
                    <a:pt x="760310" y="139465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6090" y="4156476"/>
              <a:ext cx="166404" cy="2079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59225" y="2447924"/>
              <a:ext cx="449580" cy="1734185"/>
            </a:xfrm>
            <a:custGeom>
              <a:avLst/>
              <a:gdLst/>
              <a:ahLst/>
              <a:cxnLst/>
              <a:rect l="l" t="t" r="r" b="b"/>
              <a:pathLst>
                <a:path w="449579" h="1734185">
                  <a:moveTo>
                    <a:pt x="0" y="0"/>
                  </a:moveTo>
                  <a:lnTo>
                    <a:pt x="448958" y="1733995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20" y="4149015"/>
              <a:ext cx="151127" cy="20905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11525" y="3384548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7863" y="837864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9343" y="4162368"/>
              <a:ext cx="193566" cy="193566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618042" y="2429936"/>
            <a:ext cx="1243965" cy="2165985"/>
            <a:chOff x="4618042" y="2429936"/>
            <a:chExt cx="1243965" cy="2165985"/>
          </a:xfrm>
        </p:grpSpPr>
        <p:sp>
          <p:nvSpPr>
            <p:cNvPr id="21" name="object 21"/>
            <p:cNvSpPr/>
            <p:nvPr/>
          </p:nvSpPr>
          <p:spPr>
            <a:xfrm>
              <a:off x="4756427" y="3455986"/>
              <a:ext cx="862330" cy="790575"/>
            </a:xfrm>
            <a:custGeom>
              <a:avLst/>
              <a:gdLst/>
              <a:ahLst/>
              <a:cxnLst/>
              <a:rect l="l" t="t" r="r" b="b"/>
              <a:pathLst>
                <a:path w="862329" h="790575">
                  <a:moveTo>
                    <a:pt x="861733" y="0"/>
                  </a:moveTo>
                  <a:lnTo>
                    <a:pt x="0" y="790576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8042" y="4184748"/>
              <a:ext cx="196581" cy="1902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22248" y="3952123"/>
              <a:ext cx="814069" cy="535940"/>
            </a:xfrm>
            <a:custGeom>
              <a:avLst/>
              <a:gdLst/>
              <a:ahLst/>
              <a:cxnLst/>
              <a:rect l="l" t="t" r="r" b="b"/>
              <a:pathLst>
                <a:path w="814070" h="535939">
                  <a:moveTo>
                    <a:pt x="814076" y="0"/>
                  </a:moveTo>
                  <a:lnTo>
                    <a:pt x="0" y="535841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67785" y="4420298"/>
              <a:ext cx="205155" cy="1754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97496" y="2879724"/>
              <a:ext cx="1046480" cy="1038860"/>
            </a:xfrm>
            <a:custGeom>
              <a:avLst/>
              <a:gdLst/>
              <a:ahLst/>
              <a:cxnLst/>
              <a:rect l="l" t="t" r="r" b="b"/>
              <a:pathLst>
                <a:path w="1046479" h="1038860">
                  <a:moveTo>
                    <a:pt x="1046089" y="0"/>
                  </a:moveTo>
                  <a:lnTo>
                    <a:pt x="0" y="1038240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3541" y="3857761"/>
              <a:ext cx="193842" cy="19328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01361" y="2447924"/>
              <a:ext cx="240665" cy="1014094"/>
            </a:xfrm>
            <a:custGeom>
              <a:avLst/>
              <a:gdLst/>
              <a:ahLst/>
              <a:cxnLst/>
              <a:rect l="l" t="t" r="r" b="b"/>
              <a:pathLst>
                <a:path w="240664" h="1014095">
                  <a:moveTo>
                    <a:pt x="240535" y="0"/>
                  </a:moveTo>
                  <a:lnTo>
                    <a:pt x="0" y="1013832"/>
                  </a:lnTo>
                </a:path>
              </a:pathLst>
            </a:custGeom>
            <a:ln w="35974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505" y="3430032"/>
              <a:ext cx="151712" cy="20868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2869" y="5493954"/>
            <a:ext cx="17094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indent="-6223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37500"/>
              <a:buFont typeface="Arial"/>
              <a:buChar char="■"/>
              <a:tabLst>
                <a:tab pos="74930" algn="l"/>
              </a:tabLst>
            </a:pP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Revisión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44794"/>
                </a:solidFill>
                <a:latin typeface="Calibri"/>
                <a:cs typeface="Calibri"/>
              </a:rPr>
              <a:t>del</a:t>
            </a:r>
            <a:r>
              <a:rPr sz="1600" b="1" spc="-40" dirty="0">
                <a:solidFill>
                  <a:srgbClr val="94479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944794"/>
                </a:solidFill>
                <a:latin typeface="Calibri"/>
                <a:cs typeface="Calibri"/>
              </a:rPr>
              <a:t>diseño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240"/>
              </a:lnSpc>
            </a:pPr>
            <a:r>
              <a:rPr spc="-50" dirty="0"/>
              <a:t>6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877400" y="3749294"/>
            <a:ext cx="2893060" cy="8147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9220" marR="221615" indent="-97155">
              <a:lnSpc>
                <a:spcPct val="101600"/>
              </a:lnSpc>
              <a:spcBef>
                <a:spcPts val="70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Heurísticas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de 	</a:t>
            </a:r>
            <a:r>
              <a:rPr sz="1600" b="1" dirty="0">
                <a:latin typeface="Arial"/>
                <a:cs typeface="Arial"/>
              </a:rPr>
              <a:t>Usabilidad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Accesibilidad</a:t>
            </a:r>
            <a:endParaRPr sz="1600">
              <a:latin typeface="Arial"/>
              <a:cs typeface="Arial"/>
            </a:endParaRPr>
          </a:p>
          <a:p>
            <a:pPr marL="531495">
              <a:lnSpc>
                <a:spcPct val="100000"/>
              </a:lnSpc>
              <a:spcBef>
                <a:spcPts val="180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Evaluación</a:t>
            </a:r>
            <a:r>
              <a:rPr sz="1800" b="1" spc="-5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heurística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0107" y="5606880"/>
            <a:ext cx="2710180" cy="10071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785"/>
              </a:spcBef>
              <a:buChar char="■"/>
              <a:tabLst>
                <a:tab pos="275590" algn="l"/>
              </a:tabLst>
            </a:pPr>
            <a:r>
              <a:rPr sz="1600" b="1" dirty="0">
                <a:latin typeface="Arial"/>
                <a:cs typeface="Arial"/>
              </a:rPr>
              <a:t>Evaluación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Diseño</a:t>
            </a:r>
            <a:endParaRPr sz="1600">
              <a:latin typeface="Arial"/>
              <a:cs typeface="Arial"/>
            </a:endParaRPr>
          </a:p>
          <a:p>
            <a:pPr marL="1313815" marR="5080">
              <a:lnSpc>
                <a:spcPct val="101400"/>
              </a:lnSpc>
              <a:spcBef>
                <a:spcPts val="740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A/B</a:t>
            </a:r>
            <a:r>
              <a:rPr sz="1800" b="1" spc="-5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test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Focus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group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59950" y="1213015"/>
            <a:ext cx="3463925" cy="1106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02995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Recolección</a:t>
            </a:r>
            <a:r>
              <a:rPr sz="1800" b="1" spc="-3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datos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Focus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groups,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test</a:t>
            </a:r>
            <a:endParaRPr sz="1800">
              <a:latin typeface="Arial"/>
              <a:cs typeface="Arial"/>
            </a:endParaRPr>
          </a:p>
          <a:p>
            <a:pPr marL="109220" marR="874394" indent="-97155">
              <a:lnSpc>
                <a:spcPct val="101600"/>
              </a:lnSpc>
              <a:spcBef>
                <a:spcPts val="275"/>
              </a:spcBef>
              <a:buClr>
                <a:srgbClr val="1155CC"/>
              </a:buClr>
              <a:buSzPct val="68750"/>
              <a:buChar char="■"/>
              <a:tabLst>
                <a:tab pos="111125" algn="l"/>
              </a:tabLst>
            </a:pPr>
            <a:r>
              <a:rPr sz="1600" b="1" dirty="0">
                <a:latin typeface="Arial"/>
                <a:cs typeface="Arial"/>
              </a:rPr>
              <a:t>Análisis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sistema/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sitio 	anterior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77195" y="2465061"/>
            <a:ext cx="20110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0" dirty="0">
                <a:latin typeface="Arial"/>
                <a:cs typeface="Arial"/>
              </a:rPr>
              <a:t> estandarización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51175" y="4770384"/>
            <a:ext cx="2335530" cy="852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Card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sorting Prototipos Wireframes,mockups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95200" y="6035805"/>
            <a:ext cx="305752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Tests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usabilidad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Evaluación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accesibilidad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3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9" name="object 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40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466" y="1623390"/>
            <a:ext cx="8011624" cy="6132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Consideraciones en métodos de DCU de indagación</a:t>
            </a:r>
            <a:endParaRPr sz="2000"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Si se utiliza técnicas de indagación y prueba con usuarios, convocar a personas con discapacidad y en otras condiciones de vulnerabilidad:  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Consultar sobre las adaptaciones necesarias. 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Realizar ajustes en los dispositivos que se utilicen.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Ofrecer diferentes medios de comunicación.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Adaptar los cuestionarios, encuestas y entrevistas que se realicen.</a:t>
            </a:r>
            <a:endParaRPr lang="es-MX" sz="1900" dirty="0" smtClean="0">
              <a:latin typeface="Arial"/>
              <a:cs typeface="Arial"/>
            </a:endParaRP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Anticipar en qué consiste el método de DCU.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Aclarar que no se está evaluando a la persona usuaria sino a la aplicación o sitio en cuestión.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Solicitar permiso para grabar la sesión.</a:t>
            </a:r>
          </a:p>
          <a:p>
            <a:pPr marL="371475" marR="5080" indent="-359410">
              <a:lnSpc>
                <a:spcPct val="100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Registrar todo el proceso y que las personas puedan comentar su experiencia, antes durante y al final de la sesión evaluativa.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1900" dirty="0" smtClean="0">
              <a:latin typeface="Arial"/>
              <a:cs typeface="Arial"/>
            </a:endParaRP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1900" dirty="0" smtClean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599" y="6595658"/>
            <a:ext cx="187325" cy="2012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sz="1800" spc="-37" baseline="2314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105" dirty="0" smtClean="0"/>
              <a:t>Métodos</a:t>
            </a:r>
            <a:r>
              <a:rPr spc="-105" smtClean="0"/>
              <a:t> </a:t>
            </a:r>
            <a:r>
              <a:rPr/>
              <a:t>de</a:t>
            </a:r>
            <a:r>
              <a:rPr spc="-100"/>
              <a:t> </a:t>
            </a:r>
            <a:r>
              <a:rPr spc="-25" smtClean="0"/>
              <a:t>DCU</a:t>
            </a:r>
            <a:r>
              <a:rPr lang="es-MX" spc="-25" dirty="0" smtClean="0"/>
              <a:t>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466" y="1623390"/>
            <a:ext cx="4225410" cy="183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sz="2000" b="1" spc="-25">
                <a:solidFill>
                  <a:srgbClr val="497BBA"/>
                </a:solidFill>
                <a:latin typeface="Trebuchet MS"/>
                <a:cs typeface="Trebuchet MS"/>
              </a:rPr>
              <a:t>Card</a:t>
            </a:r>
            <a:r>
              <a:rPr sz="2000" b="1" spc="-12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sz="2000" b="1" spc="-10" smtClean="0">
                <a:solidFill>
                  <a:srgbClr val="497BBA"/>
                </a:solidFill>
                <a:latin typeface="Trebuchet MS"/>
                <a:cs typeface="Trebuchet MS"/>
              </a:rPr>
              <a:t>sorting</a:t>
            </a: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Utilizar software de </a:t>
            </a:r>
            <a:r>
              <a:rPr lang="es-MX" dirty="0" err="1" smtClean="0">
                <a:latin typeface="Arial"/>
                <a:cs typeface="Arial"/>
              </a:rPr>
              <a:t>card</a:t>
            </a:r>
            <a:r>
              <a:rPr lang="es-MX" dirty="0" smtClean="0">
                <a:latin typeface="Arial"/>
                <a:cs typeface="Arial"/>
              </a:rPr>
              <a:t> </a:t>
            </a:r>
            <a:r>
              <a:rPr lang="es-MX" dirty="0" err="1" smtClean="0">
                <a:latin typeface="Arial"/>
                <a:cs typeface="Arial"/>
              </a:rPr>
              <a:t>sorting</a:t>
            </a:r>
            <a:r>
              <a:rPr lang="es-MX" dirty="0" smtClean="0">
                <a:latin typeface="Arial"/>
                <a:cs typeface="Arial"/>
              </a:rPr>
              <a:t> que sea </a:t>
            </a:r>
            <a:r>
              <a:rPr lang="es-MX" dirty="0">
                <a:latin typeface="Arial"/>
                <a:cs typeface="Arial"/>
              </a:rPr>
              <a:t>accesibles</a:t>
            </a:r>
            <a:r>
              <a:rPr lang="es-MX" dirty="0" smtClean="0">
                <a:latin typeface="Arial"/>
                <a:cs typeface="Arial"/>
              </a:rPr>
              <a:t> si participan personas ciegas, o con problemas motrices, disponer de lupas o tarjetas con letras grandes.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599" y="6595658"/>
            <a:ext cx="187325" cy="2012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sz="1800" spc="-37" baseline="2314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105" dirty="0" smtClean="0"/>
              <a:t>Métodos</a:t>
            </a:r>
            <a:r>
              <a:rPr spc="-105" smtClean="0"/>
              <a:t> </a:t>
            </a:r>
            <a:r>
              <a:rPr/>
              <a:t>de</a:t>
            </a:r>
            <a:r>
              <a:rPr spc="-100"/>
              <a:t> </a:t>
            </a:r>
            <a:r>
              <a:rPr spc="-25" smtClean="0"/>
              <a:t>DCU</a:t>
            </a:r>
            <a:r>
              <a:rPr lang="es-MX" spc="-25" dirty="0" smtClean="0"/>
              <a:t> y accesibilidad</a:t>
            </a:r>
            <a:endParaRPr spc="-25" dirty="0"/>
          </a:p>
        </p:txBody>
      </p:sp>
      <p:pic>
        <p:nvPicPr>
          <p:cNvPr id="9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24" y="3686183"/>
            <a:ext cx="4173516" cy="317181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/>
          <a:srcRect l="39532" t="49805" r="39055" b="19922"/>
          <a:stretch>
            <a:fillRect/>
          </a:stretch>
        </p:blipFill>
        <p:spPr bwMode="auto">
          <a:xfrm>
            <a:off x="5072066" y="3848445"/>
            <a:ext cx="3786214" cy="3009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bject 6"/>
          <p:cNvSpPr txBox="1"/>
          <p:nvPr/>
        </p:nvSpPr>
        <p:spPr>
          <a:xfrm>
            <a:off x="4918590" y="1571612"/>
            <a:ext cx="4225410" cy="2026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Focus</a:t>
            </a: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lang="es-MX" sz="2000" b="1" spc="-25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group</a:t>
            </a: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 o grupo focales</a:t>
            </a:r>
          </a:p>
          <a:p>
            <a:pPr marL="371475" marR="5080" indent="-359410">
              <a:spcBef>
                <a:spcPts val="5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Facilitar medios de interacción. </a:t>
            </a:r>
          </a:p>
          <a:p>
            <a:pPr marL="371475" marR="5080" indent="-359410">
              <a:spcBef>
                <a:spcPts val="5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Anticipar las preguntas disparadoras o los temas que se abordarán.</a:t>
            </a:r>
          </a:p>
          <a:p>
            <a:pPr marL="371475" marR="5080" indent="-359410">
              <a:spcBef>
                <a:spcPts val="5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Mediar y posibilitar la participación de todas las personas.</a:t>
            </a:r>
            <a:endParaRPr lang="es-MX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466" y="1623390"/>
            <a:ext cx="5011228" cy="5193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Testeo de usabilidad</a:t>
            </a: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8460" marR="18415" indent="-366395">
              <a:lnSpc>
                <a:spcPct val="100000"/>
              </a:lnSpc>
              <a:spcBef>
                <a:spcPts val="1030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Considerar</a:t>
            </a:r>
            <a:r>
              <a:rPr lang="es-MX" spc="-5" dirty="0" smtClean="0">
                <a:latin typeface="Arial"/>
                <a:cs typeface="Arial"/>
              </a:rPr>
              <a:t> la diversidad en la muestra, </a:t>
            </a:r>
            <a:r>
              <a:rPr lang="es-MX" dirty="0" smtClean="0">
                <a:latin typeface="Arial"/>
                <a:cs typeface="Arial"/>
              </a:rPr>
              <a:t>distintas</a:t>
            </a:r>
            <a:r>
              <a:rPr lang="es-MX" spc="-5" dirty="0" smtClean="0">
                <a:latin typeface="Arial"/>
                <a:cs typeface="Arial"/>
              </a:rPr>
              <a:t> discapacidades, edades, </a:t>
            </a:r>
            <a:r>
              <a:rPr lang="es-MX" spc="-10" dirty="0" smtClean="0">
                <a:latin typeface="Arial"/>
                <a:cs typeface="Arial"/>
              </a:rPr>
              <a:t>trayectorias, </a:t>
            </a:r>
            <a:r>
              <a:rPr lang="es-MX" dirty="0" smtClean="0">
                <a:latin typeface="Arial"/>
                <a:cs typeface="Arial"/>
              </a:rPr>
              <a:t>contención,</a:t>
            </a:r>
            <a:r>
              <a:rPr lang="es-MX" spc="-55" dirty="0" smtClean="0">
                <a:latin typeface="Arial"/>
                <a:cs typeface="Arial"/>
              </a:rPr>
              <a:t> </a:t>
            </a:r>
            <a:r>
              <a:rPr lang="es-MX" spc="-10" dirty="0" smtClean="0">
                <a:latin typeface="Arial"/>
                <a:cs typeface="Arial"/>
              </a:rPr>
              <a:t>formación</a:t>
            </a:r>
            <a:endParaRPr lang="es-MX" dirty="0" smtClean="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434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Ampliar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los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spc="-10" dirty="0" smtClean="0">
                <a:latin typeface="Arial"/>
                <a:cs typeface="Arial"/>
              </a:rPr>
              <a:t>tiempos</a:t>
            </a:r>
            <a:endParaRPr lang="es-MX" dirty="0" smtClean="0">
              <a:latin typeface="Arial"/>
              <a:cs typeface="Arial"/>
            </a:endParaRPr>
          </a:p>
          <a:p>
            <a:pPr marL="378460" indent="-365760">
              <a:spcBef>
                <a:spcPts val="430"/>
              </a:spcBef>
              <a:buClr>
                <a:srgbClr val="410082"/>
              </a:buClr>
              <a:buSzPct val="65625"/>
              <a:buFontTx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Adaptar el</a:t>
            </a:r>
            <a:r>
              <a:rPr lang="es-MX" spc="-35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escenario</a:t>
            </a:r>
            <a:r>
              <a:rPr lang="es-MX" spc="-35" dirty="0" smtClean="0">
                <a:latin typeface="Arial"/>
                <a:cs typeface="Arial"/>
              </a:rPr>
              <a:t> </a:t>
            </a:r>
            <a:r>
              <a:rPr lang="es-MX" spc="-25" dirty="0" smtClean="0">
                <a:latin typeface="Arial"/>
                <a:cs typeface="Arial"/>
              </a:rPr>
              <a:t>de </a:t>
            </a:r>
            <a:r>
              <a:rPr lang="es-MX" spc="-10" dirty="0" smtClean="0">
                <a:latin typeface="Arial"/>
                <a:cs typeface="Arial"/>
              </a:rPr>
              <a:t>evaluación</a:t>
            </a:r>
            <a:endParaRPr lang="es-MX" dirty="0" smtClean="0">
              <a:latin typeface="Arial"/>
              <a:cs typeface="Arial"/>
            </a:endParaRPr>
          </a:p>
          <a:p>
            <a:pPr marL="378460" indent="-365760">
              <a:spcBef>
                <a:spcPts val="430"/>
              </a:spcBef>
              <a:buClr>
                <a:srgbClr val="410082"/>
              </a:buClr>
              <a:buSzPct val="65625"/>
              <a:buFontTx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Brindar recursos</a:t>
            </a:r>
            <a:r>
              <a:rPr lang="es-MX" spc="-20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adicionales</a:t>
            </a:r>
            <a:r>
              <a:rPr lang="es-MX" spc="-10" dirty="0" smtClean="0">
                <a:latin typeface="Arial"/>
                <a:cs typeface="Arial"/>
              </a:rPr>
              <a:t>.</a:t>
            </a:r>
            <a:endParaRPr lang="es-MX" dirty="0" smtClean="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430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Cuidar</a:t>
            </a:r>
            <a:r>
              <a:rPr lang="es-MX" spc="-20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el</a:t>
            </a:r>
            <a:r>
              <a:rPr lang="es-MX" spc="-20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lenguaje</a:t>
            </a:r>
            <a:r>
              <a:rPr lang="es-MX" spc="-15" dirty="0" smtClean="0">
                <a:latin typeface="Arial"/>
                <a:cs typeface="Arial"/>
              </a:rPr>
              <a:t> </a:t>
            </a:r>
            <a:r>
              <a:rPr lang="es-MX" spc="-10" dirty="0" smtClean="0">
                <a:latin typeface="Arial"/>
                <a:cs typeface="Arial"/>
              </a:rPr>
              <a:t>empleado.</a:t>
            </a:r>
            <a:endParaRPr lang="es-MX" dirty="0" smtClean="0">
              <a:latin typeface="Arial"/>
              <a:cs typeface="Arial"/>
            </a:endParaRPr>
          </a:p>
          <a:p>
            <a:pPr marL="378460" marR="5080" indent="-366395">
              <a:lnSpc>
                <a:spcPct val="100000"/>
              </a:lnSpc>
              <a:spcBef>
                <a:spcPts val="434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Anticipar </a:t>
            </a:r>
            <a:r>
              <a:rPr lang="es-MX" dirty="0" smtClean="0">
                <a:latin typeface="Arial"/>
                <a:cs typeface="Arial"/>
              </a:rPr>
              <a:t>cómo va a ser la sesión.</a:t>
            </a:r>
          </a:p>
          <a:p>
            <a:pPr marL="378460" marR="5080" indent="-366395">
              <a:spcBef>
                <a:spcPts val="434"/>
              </a:spcBef>
              <a:buClr>
                <a:srgbClr val="410082"/>
              </a:buClr>
              <a:buSzPct val="65625"/>
              <a:buFontTx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Considerar sus opiniones, </a:t>
            </a:r>
            <a:r>
              <a:rPr lang="es-MX" dirty="0" smtClean="0">
                <a:latin typeface="Arial"/>
                <a:cs typeface="Arial"/>
              </a:rPr>
              <a:t>perspectivas.</a:t>
            </a:r>
          </a:p>
          <a:p>
            <a:pPr marL="378460" marR="5080" indent="-366395">
              <a:spcBef>
                <a:spcPts val="434"/>
              </a:spcBef>
              <a:buClr>
                <a:srgbClr val="410082"/>
              </a:buClr>
              <a:buSzPct val="65625"/>
              <a:buFontTx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Aprovechar las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ventajas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de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spc="-25" dirty="0" smtClean="0">
                <a:latin typeface="Arial"/>
                <a:cs typeface="Arial"/>
              </a:rPr>
              <a:t>su </a:t>
            </a:r>
            <a:r>
              <a:rPr lang="es-MX" spc="-10" dirty="0" smtClean="0">
                <a:latin typeface="Arial"/>
                <a:cs typeface="Arial"/>
              </a:rPr>
              <a:t>participación</a:t>
            </a:r>
            <a:endParaRPr lang="es-MX" dirty="0" smtClean="0">
              <a:latin typeface="Arial"/>
              <a:cs typeface="Arial"/>
            </a:endParaRPr>
          </a:p>
          <a:p>
            <a:pPr marL="378460" marR="5080" indent="-366395">
              <a:lnSpc>
                <a:spcPct val="100000"/>
              </a:lnSpc>
              <a:spcBef>
                <a:spcPts val="434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Dar una introducción, un guión, un contexto de interacción.</a:t>
            </a:r>
          </a:p>
          <a:p>
            <a:pPr marL="378460" marR="5080" indent="-366395">
              <a:lnSpc>
                <a:spcPct val="100000"/>
              </a:lnSpc>
              <a:spcBef>
                <a:spcPts val="434"/>
              </a:spcBef>
              <a:buClr>
                <a:srgbClr val="410082"/>
              </a:buClr>
              <a:buSzPct val="65625"/>
              <a:buChar char="■"/>
              <a:tabLst>
                <a:tab pos="378460" algn="l"/>
              </a:tabLst>
            </a:pPr>
            <a:r>
              <a:rPr lang="es-MX" dirty="0" smtClean="0">
                <a:latin typeface="Arial"/>
                <a:cs typeface="Arial"/>
              </a:rPr>
              <a:t>Plantear las</a:t>
            </a:r>
            <a:r>
              <a:rPr lang="es-MX" spc="-25" dirty="0" smtClean="0">
                <a:latin typeface="Arial"/>
                <a:cs typeface="Arial"/>
              </a:rPr>
              <a:t> </a:t>
            </a:r>
            <a:r>
              <a:rPr lang="es-MX" spc="-10" dirty="0" smtClean="0">
                <a:latin typeface="Arial"/>
                <a:cs typeface="Arial"/>
              </a:rPr>
              <a:t>actividades </a:t>
            </a:r>
            <a:r>
              <a:rPr lang="es-MX" dirty="0" smtClean="0">
                <a:latin typeface="Arial"/>
                <a:cs typeface="Arial"/>
              </a:rPr>
              <a:t>a</a:t>
            </a:r>
            <a:r>
              <a:rPr lang="es-MX" spc="-10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realizar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en</a:t>
            </a:r>
            <a:r>
              <a:rPr lang="es-MX" spc="-10" dirty="0" smtClean="0">
                <a:latin typeface="Arial"/>
                <a:cs typeface="Arial"/>
              </a:rPr>
              <a:t> </a:t>
            </a:r>
            <a:r>
              <a:rPr lang="es-MX" dirty="0" smtClean="0">
                <a:latin typeface="Arial"/>
                <a:cs typeface="Arial"/>
              </a:rPr>
              <a:t>el</a:t>
            </a:r>
            <a:r>
              <a:rPr lang="es-MX" spc="-5" dirty="0" smtClean="0">
                <a:latin typeface="Arial"/>
                <a:cs typeface="Arial"/>
              </a:rPr>
              <a:t> </a:t>
            </a:r>
            <a:r>
              <a:rPr lang="es-MX" spc="-10" dirty="0" smtClean="0">
                <a:latin typeface="Arial"/>
                <a:cs typeface="Arial"/>
              </a:rPr>
              <a:t>testeo</a:t>
            </a:r>
            <a:endParaRPr lang="es-MX" dirty="0" smtClean="0">
              <a:latin typeface="Arial"/>
              <a:cs typeface="Arial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Brindar una conclusión colectiva.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599" y="6595658"/>
            <a:ext cx="187325" cy="2012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sz="1800" spc="-37" baseline="2314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105" dirty="0" smtClean="0"/>
              <a:t>Métodos</a:t>
            </a:r>
            <a:r>
              <a:rPr spc="-105" smtClean="0"/>
              <a:t> </a:t>
            </a:r>
            <a:r>
              <a:rPr/>
              <a:t>de</a:t>
            </a:r>
            <a:r>
              <a:rPr spc="-100"/>
              <a:t> </a:t>
            </a:r>
            <a:r>
              <a:rPr spc="-25" smtClean="0"/>
              <a:t>DCU</a:t>
            </a:r>
            <a:r>
              <a:rPr lang="es-MX" spc="-25" dirty="0" smtClean="0"/>
              <a:t> y accesibilidad</a:t>
            </a:r>
            <a:endParaRPr spc="-2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54905" t="39062" r="6112" b="16015"/>
          <a:stretch>
            <a:fillRect/>
          </a:stretch>
        </p:blipFill>
        <p:spPr bwMode="auto">
          <a:xfrm>
            <a:off x="5000628" y="2214554"/>
            <a:ext cx="4079731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466" y="1623390"/>
            <a:ext cx="8011624" cy="5763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Consideraciones en métodos de DCU de inspección</a:t>
            </a:r>
            <a:endParaRPr sz="2000"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Si se utiliza técnicas de inspección, con la participación de expertos, solicitar:  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Que posean conocimientos sobre las legislaciones, normativas, estándares internacionales de accesibilidad digital.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Que posea perspectiva de diversidad e inclusión digita.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Que incluyan </a:t>
            </a:r>
            <a:r>
              <a:rPr lang="es-MX" sz="1900" dirty="0" smtClean="0">
                <a:latin typeface="Arial"/>
                <a:cs typeface="Arial"/>
              </a:rPr>
              <a:t>heurísticas de accesibilidad y diseño inclusivo. 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Que se evalúe considerando la cadena de la accesibilidad y la </a:t>
            </a:r>
            <a:r>
              <a:rPr lang="es-MX" sz="1900" dirty="0" err="1" smtClean="0">
                <a:latin typeface="Arial"/>
                <a:cs typeface="Arial"/>
              </a:rPr>
              <a:t>transversalidad</a:t>
            </a:r>
            <a:r>
              <a:rPr lang="es-MX" sz="1900" dirty="0" smtClean="0">
                <a:latin typeface="Arial"/>
                <a:cs typeface="Arial"/>
              </a:rPr>
              <a:t> </a:t>
            </a:r>
            <a:r>
              <a:rPr lang="es-MX" sz="1900" dirty="0" smtClean="0">
                <a:latin typeface="Arial"/>
                <a:cs typeface="Arial"/>
              </a:rPr>
              <a:t>en los procesos de interacción y en las transacciones según distintos perfiles de personas usuarias.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Arial"/>
                <a:cs typeface="Arial"/>
              </a:rPr>
              <a:t>Que se identifiquen los errores más prioritarios a solucionar, roles que deben intervenir y perfiles de personas afectadas.</a:t>
            </a: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1900" dirty="0" smtClean="0">
              <a:latin typeface="Arial"/>
              <a:cs typeface="Arial"/>
            </a:endParaRPr>
          </a:p>
          <a:p>
            <a:pPr marL="371475" marR="5080" indent="-359410">
              <a:lnSpc>
                <a:spcPct val="100000"/>
              </a:lnSpc>
              <a:spcBef>
                <a:spcPts val="160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1900" dirty="0" smtClean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599" y="6595658"/>
            <a:ext cx="187325" cy="2012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sz="1800" spc="-37" baseline="2314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105" dirty="0" smtClean="0"/>
              <a:t>Métodos</a:t>
            </a:r>
            <a:r>
              <a:rPr spc="-105" smtClean="0"/>
              <a:t> </a:t>
            </a:r>
            <a:r>
              <a:rPr/>
              <a:t>de</a:t>
            </a:r>
            <a:r>
              <a:rPr spc="-100"/>
              <a:t> </a:t>
            </a:r>
            <a:r>
              <a:rPr spc="-25" smtClean="0"/>
              <a:t>DCU</a:t>
            </a:r>
            <a:r>
              <a:rPr lang="es-MX" spc="-25" dirty="0" smtClean="0"/>
              <a:t>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466" y="1623390"/>
            <a:ext cx="4225410" cy="4080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Evaluación heurística</a:t>
            </a:r>
            <a:endParaRPr lang="es-MX" sz="2000" b="1" spc="-25" dirty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Definir el set de heurísticas apropiado según el tipo de la aplicación, sitio o software a evaluar.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Incluir recomendaciones de diseño inclusivo y las WCAG como heurísticas a considerar en la evaluación junto con las de usabilidad.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Incluir comprobaciones manuales.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dirty="0" smtClean="0">
              <a:latin typeface="Arial"/>
              <a:cs typeface="Arial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Solicitar informes que indiquen los problemas más prioritarios a resolver, de usabilidad y accesibilidad.</a:t>
            </a:r>
            <a:endParaRPr lang="es-MX" sz="2000" dirty="0" smtClean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599" y="6595658"/>
            <a:ext cx="187325" cy="2012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sz="1800" spc="-37" baseline="2314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105" dirty="0" smtClean="0"/>
              <a:t>Métodos</a:t>
            </a:r>
            <a:r>
              <a:rPr spc="-105" smtClean="0"/>
              <a:t> </a:t>
            </a:r>
            <a:r>
              <a:rPr/>
              <a:t>de</a:t>
            </a:r>
            <a:r>
              <a:rPr spc="-100"/>
              <a:t> </a:t>
            </a:r>
            <a:r>
              <a:rPr spc="-25" smtClean="0"/>
              <a:t>DCU</a:t>
            </a:r>
            <a:r>
              <a:rPr lang="es-MX" spc="-25" dirty="0" smtClean="0"/>
              <a:t> y accesibilidad</a:t>
            </a:r>
            <a:endParaRPr spc="-25" dirty="0"/>
          </a:p>
        </p:txBody>
      </p:sp>
      <p:sp>
        <p:nvSpPr>
          <p:cNvPr id="11" name="object 6"/>
          <p:cNvSpPr txBox="1"/>
          <p:nvPr/>
        </p:nvSpPr>
        <p:spPr>
          <a:xfrm>
            <a:off x="4918590" y="1571612"/>
            <a:ext cx="4011128" cy="4498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Bechmarking</a:t>
            </a: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En los procesos y análisis comparativos incluir métricas y principios de accesibilidad.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dirty="0" smtClean="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Cognitive</a:t>
            </a: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lang="es-MX" sz="2000" b="1" spc="-25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Walkthrough</a:t>
            </a: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Incluir accesibilidad en el estudio de usabilidad de los camin</a:t>
            </a:r>
            <a:r>
              <a:rPr lang="es-MX" dirty="0" smtClean="0">
                <a:latin typeface="Arial"/>
                <a:cs typeface="Arial"/>
              </a:rPr>
              <a:t>os cognitivos. 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Elegir procesos </a:t>
            </a:r>
            <a:r>
              <a:rPr lang="es-MX" dirty="0" smtClean="0">
                <a:latin typeface="Arial"/>
                <a:cs typeface="Arial"/>
              </a:rPr>
              <a:t>y transacciones de interacción apropiados.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Solicitar que se analice la cadena de accesibilidad según perfiles de personas.</a:t>
            </a: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.</a:t>
            </a:r>
            <a:endParaRPr lang="es-MX" dirty="0">
              <a:latin typeface="Arial"/>
              <a:cs typeface="Arial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714348" y="5786454"/>
            <a:ext cx="8286808" cy="1002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25" dirty="0" smtClean="0">
                <a:solidFill>
                  <a:srgbClr val="497BBA"/>
                </a:solidFill>
                <a:latin typeface="Trebuchet MS"/>
                <a:cs typeface="Trebuchet MS"/>
              </a:rPr>
              <a:t>Análisis de tareas</a:t>
            </a: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marL="371475" marR="5080" indent="-359410">
              <a:lnSpc>
                <a:spcPct val="100000"/>
              </a:lnSpc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dirty="0" smtClean="0">
                <a:latin typeface="Arial"/>
                <a:cs typeface="Arial"/>
              </a:rPr>
              <a:t>Trabajar con la definición de </a:t>
            </a:r>
            <a:r>
              <a:rPr lang="es-MX" dirty="0" err="1" smtClean="0">
                <a:latin typeface="Arial"/>
                <a:cs typeface="Arial"/>
              </a:rPr>
              <a:t>templates</a:t>
            </a:r>
            <a:r>
              <a:rPr lang="es-MX" dirty="0" smtClean="0">
                <a:latin typeface="Arial"/>
                <a:cs typeface="Arial"/>
              </a:rPr>
              <a:t> que garanticen usabilidad y accesibilidad comprobables.</a:t>
            </a:r>
            <a:endParaRPr lang="es-MX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6"/>
          <p:cNvSpPr txBox="1"/>
          <p:nvPr/>
        </p:nvSpPr>
        <p:spPr>
          <a:xfrm>
            <a:off x="535764" y="1646599"/>
            <a:ext cx="3964798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Respeta la ingeniería de la UI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4524090" y="4361716"/>
            <a:ext cx="870585" cy="556260"/>
          </a:xfrm>
          <a:custGeom>
            <a:avLst/>
            <a:gdLst/>
            <a:ahLst/>
            <a:cxnLst/>
            <a:rect l="l" t="t" r="r" b="b"/>
            <a:pathLst>
              <a:path w="870585" h="556260" extrusionOk="0">
                <a:moveTo>
                  <a:pt x="0" y="0"/>
                </a:moveTo>
                <a:lnTo>
                  <a:pt x="869998" y="556198"/>
                </a:lnTo>
              </a:path>
            </a:pathLst>
          </a:custGeom>
          <a:noFill/>
          <a:ln w="28550" cap="flat" cmpd="sng">
            <a:solidFill>
              <a:srgbClr val="1F49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6" name="Google Shape;456;p36"/>
          <p:cNvSpPr/>
          <p:nvPr/>
        </p:nvSpPr>
        <p:spPr>
          <a:xfrm>
            <a:off x="2619094" y="4361716"/>
            <a:ext cx="870585" cy="556260"/>
          </a:xfrm>
          <a:custGeom>
            <a:avLst/>
            <a:gdLst/>
            <a:ahLst/>
            <a:cxnLst/>
            <a:rect l="l" t="t" r="r" b="b"/>
            <a:pathLst>
              <a:path w="870585" h="556260" extrusionOk="0">
                <a:moveTo>
                  <a:pt x="869998" y="0"/>
                </a:moveTo>
                <a:lnTo>
                  <a:pt x="0" y="556198"/>
                </a:lnTo>
              </a:path>
            </a:pathLst>
          </a:custGeom>
          <a:noFill/>
          <a:ln w="28550" cap="flat" cmpd="sng">
            <a:solidFill>
              <a:srgbClr val="1F49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7" name="Google Shape;457;p36"/>
          <p:cNvSpPr txBox="1"/>
          <p:nvPr/>
        </p:nvSpPr>
        <p:spPr>
          <a:xfrm>
            <a:off x="1665287" y="5420247"/>
            <a:ext cx="2101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Tahoma"/>
                <a:ea typeface="Tahoma"/>
                <a:cs typeface="Tahoma"/>
                <a:sym typeface="Tahoma"/>
              </a:rPr>
              <a:t>SELF-CORRECTING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36"/>
          <p:cNvSpPr txBox="1"/>
          <p:nvPr/>
        </p:nvSpPr>
        <p:spPr>
          <a:xfrm>
            <a:off x="4594218" y="5426600"/>
            <a:ext cx="2725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Tahoma"/>
                <a:ea typeface="Tahoma"/>
                <a:cs typeface="Tahoma"/>
                <a:sym typeface="Tahoma"/>
              </a:rPr>
              <a:t>CORRECTENESS-DRIVEN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" name="Google Shape;459;p36"/>
          <p:cNvGrpSpPr/>
          <p:nvPr/>
        </p:nvGrpSpPr>
        <p:grpSpPr>
          <a:xfrm>
            <a:off x="2271850" y="2524042"/>
            <a:ext cx="2566538" cy="771300"/>
            <a:chOff x="2271850" y="2524042"/>
            <a:chExt cx="2566538" cy="771300"/>
          </a:xfrm>
        </p:grpSpPr>
        <p:sp>
          <p:nvSpPr>
            <p:cNvPr id="460" name="Google Shape;460;p36"/>
            <p:cNvSpPr/>
            <p:nvPr/>
          </p:nvSpPr>
          <p:spPr>
            <a:xfrm>
              <a:off x="2271850" y="2524042"/>
              <a:ext cx="2566538" cy="77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3008918" y="2899369"/>
              <a:ext cx="602615" cy="0"/>
            </a:xfrm>
            <a:custGeom>
              <a:avLst/>
              <a:gdLst/>
              <a:ahLst/>
              <a:cxnLst/>
              <a:rect l="l" t="t" r="r" b="b"/>
              <a:pathLst>
                <a:path w="602614" h="120000" extrusionOk="0">
                  <a:moveTo>
                    <a:pt x="0" y="0"/>
                  </a:moveTo>
                  <a:lnTo>
                    <a:pt x="602273" y="0"/>
                  </a:lnTo>
                </a:path>
              </a:pathLst>
            </a:custGeom>
            <a:noFill/>
            <a:ln w="28550" cap="flat" cmpd="sng">
              <a:solidFill>
                <a:srgbClr val="1F49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2864956" y="2837881"/>
              <a:ext cx="158249" cy="12297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3596905" y="2837881"/>
              <a:ext cx="158249" cy="12297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64" name="Google Shape;464;p36"/>
          <p:cNvSpPr txBox="1"/>
          <p:nvPr/>
        </p:nvSpPr>
        <p:spPr>
          <a:xfrm>
            <a:off x="1571604" y="3190611"/>
            <a:ext cx="1190415" cy="27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6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sp>
        <p:nvSpPr>
          <p:cNvPr id="466" name="Google Shape;466;p36"/>
          <p:cNvSpPr txBox="1"/>
          <p:nvPr/>
        </p:nvSpPr>
        <p:spPr>
          <a:xfrm>
            <a:off x="3314643" y="3109675"/>
            <a:ext cx="205725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4527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Computadora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Sistema interactivo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195580" marR="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154CC"/>
                </a:solidFill>
                <a:latin typeface="Arial"/>
                <a:ea typeface="Arial"/>
                <a:cs typeface="Arial"/>
                <a:sym typeface="Arial"/>
              </a:rPr>
              <a:t>UI + Aplicación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20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7"/>
          <p:cNvSpPr/>
          <p:nvPr/>
        </p:nvSpPr>
        <p:spPr>
          <a:xfrm>
            <a:off x="27149" y="4677203"/>
            <a:ext cx="4497500" cy="2144400"/>
          </a:xfrm>
          <a:prstGeom prst="rect">
            <a:avLst/>
          </a:prstGeom>
          <a:blipFill rotWithShape="1">
            <a:blip r:embed="rId3" cstate="print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" name="Google Shape;473;p37"/>
          <p:cNvGrpSpPr/>
          <p:nvPr/>
        </p:nvGrpSpPr>
        <p:grpSpPr>
          <a:xfrm>
            <a:off x="4676490" y="4473966"/>
            <a:ext cx="3951268" cy="2350270"/>
            <a:chOff x="4676490" y="4473966"/>
            <a:chExt cx="3951267" cy="2350270"/>
          </a:xfrm>
        </p:grpSpPr>
        <p:sp>
          <p:nvSpPr>
            <p:cNvPr id="474" name="Google Shape;474;p37"/>
            <p:cNvSpPr/>
            <p:nvPr/>
          </p:nvSpPr>
          <p:spPr>
            <a:xfrm>
              <a:off x="5420614" y="4473966"/>
              <a:ext cx="3207143" cy="23502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4676490" y="4514115"/>
              <a:ext cx="870585" cy="399415"/>
            </a:xfrm>
            <a:custGeom>
              <a:avLst/>
              <a:gdLst/>
              <a:ahLst/>
              <a:cxnLst/>
              <a:rect l="l" t="t" r="r" b="b"/>
              <a:pathLst>
                <a:path w="870585" h="399414" extrusionOk="0">
                  <a:moveTo>
                    <a:pt x="0" y="0"/>
                  </a:moveTo>
                  <a:lnTo>
                    <a:pt x="869998" y="398999"/>
                  </a:lnTo>
                </a:path>
              </a:pathLst>
            </a:custGeom>
            <a:noFill/>
            <a:ln w="28550" cap="flat" cmpd="sng">
              <a:solidFill>
                <a:srgbClr val="1F49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76" name="Google Shape;476;p37"/>
          <p:cNvSpPr txBox="1"/>
          <p:nvPr/>
        </p:nvSpPr>
        <p:spPr>
          <a:xfrm>
            <a:off x="535764" y="1646599"/>
            <a:ext cx="3503500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97CBA"/>
                </a:solidFill>
                <a:latin typeface="Roboto"/>
                <a:ea typeface="Roboto"/>
                <a:cs typeface="Roboto"/>
                <a:sym typeface="Roboto"/>
              </a:rPr>
              <a:t>Respeta la ingeniería de la UI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" name="Google Shape;477;p37"/>
          <p:cNvGrpSpPr/>
          <p:nvPr/>
        </p:nvGrpSpPr>
        <p:grpSpPr>
          <a:xfrm>
            <a:off x="2271850" y="2524042"/>
            <a:ext cx="2566538" cy="771300"/>
            <a:chOff x="2271850" y="2524042"/>
            <a:chExt cx="2566538" cy="771300"/>
          </a:xfrm>
        </p:grpSpPr>
        <p:sp>
          <p:nvSpPr>
            <p:cNvPr id="478" name="Google Shape;478;p37"/>
            <p:cNvSpPr/>
            <p:nvPr/>
          </p:nvSpPr>
          <p:spPr>
            <a:xfrm>
              <a:off x="2271850" y="2524042"/>
              <a:ext cx="2566538" cy="771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3008918" y="2899369"/>
              <a:ext cx="602615" cy="0"/>
            </a:xfrm>
            <a:custGeom>
              <a:avLst/>
              <a:gdLst/>
              <a:ahLst/>
              <a:cxnLst/>
              <a:rect l="l" t="t" r="r" b="b"/>
              <a:pathLst>
                <a:path w="602614" h="120000" extrusionOk="0">
                  <a:moveTo>
                    <a:pt x="0" y="0"/>
                  </a:moveTo>
                  <a:lnTo>
                    <a:pt x="602273" y="0"/>
                  </a:lnTo>
                </a:path>
              </a:pathLst>
            </a:custGeom>
            <a:noFill/>
            <a:ln w="28550" cap="flat" cmpd="sng">
              <a:solidFill>
                <a:srgbClr val="1F49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864956" y="2837881"/>
              <a:ext cx="158249" cy="12297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3596905" y="2837881"/>
              <a:ext cx="158249" cy="12297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2" name="Google Shape;482;p37"/>
          <p:cNvSpPr txBox="1"/>
          <p:nvPr/>
        </p:nvSpPr>
        <p:spPr>
          <a:xfrm>
            <a:off x="1500166" y="3190611"/>
            <a:ext cx="1261853" cy="27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3755170" y="3190611"/>
            <a:ext cx="2174152" cy="27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Computadora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3467043" y="3575162"/>
            <a:ext cx="205725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5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Sistema interactivo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195580" marR="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154CC"/>
                </a:solidFill>
                <a:latin typeface="Arial"/>
                <a:ea typeface="Arial"/>
                <a:cs typeface="Arial"/>
                <a:sym typeface="Arial"/>
              </a:rPr>
              <a:t>UI + Aplicación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2771494" y="4514115"/>
            <a:ext cx="870585" cy="399414"/>
          </a:xfrm>
          <a:custGeom>
            <a:avLst/>
            <a:gdLst/>
            <a:ahLst/>
            <a:cxnLst/>
            <a:rect l="l" t="t" r="r" b="b"/>
            <a:pathLst>
              <a:path w="870585" h="399414" extrusionOk="0">
                <a:moveTo>
                  <a:pt x="869998" y="0"/>
                </a:moveTo>
                <a:lnTo>
                  <a:pt x="0" y="398999"/>
                </a:lnTo>
              </a:path>
            </a:pathLst>
          </a:custGeom>
          <a:noFill/>
          <a:ln w="28550" cap="flat" cmpd="sng">
            <a:solidFill>
              <a:srgbClr val="1F49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7" name="Google Shape;487;p37"/>
          <p:cNvSpPr txBox="1">
            <a:spLocks noGrp="1"/>
          </p:cNvSpPr>
          <p:nvPr>
            <p:ph type="sldNum" idx="4294967295"/>
          </p:nvPr>
        </p:nvSpPr>
        <p:spPr>
          <a:xfrm>
            <a:off x="8865199" y="6600018"/>
            <a:ext cx="230250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3810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pic>
        <p:nvPicPr>
          <p:cNvPr id="21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22" name="object 15"/>
          <p:cNvSpPr txBox="1">
            <a:spLocks/>
          </p:cNvSpPr>
          <p:nvPr/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Consideraciones</a:t>
            </a:r>
            <a:r>
              <a:rPr kumimoji="0" lang="es-ES" sz="2800" b="1" i="0" u="none" strike="noStrike" kern="0" cap="none" spc="-85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s-ES" sz="2800" b="1" i="0" u="none" strike="noStrike" kern="0" cap="none" spc="-10" normalizeH="0" baseline="0" noProof="0" dirty="0" smtClean="0">
                <a:ln>
                  <a:noFill/>
                </a:ln>
                <a:solidFill>
                  <a:srgbClr val="063662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generales</a:t>
            </a:r>
            <a:endParaRPr kumimoji="0" lang="es-ES" sz="2800" b="1" i="0" u="none" strike="noStrike" kern="0" cap="none" spc="0" normalizeH="0" baseline="0" noProof="0" dirty="0">
              <a:ln>
                <a:noFill/>
              </a:ln>
              <a:solidFill>
                <a:srgbClr val="063662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5929322" y="1714488"/>
            <a:ext cx="27860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lang="es-MX" sz="2400" b="1" spc="-10" dirty="0" smtClean="0">
                <a:solidFill>
                  <a:schemeClr val="tx2"/>
                </a:solidFill>
                <a:latin typeface="Arial"/>
                <a:cs typeface="Arial"/>
              </a:rPr>
              <a:t>La accesibilidad debe plantearse desde las etapas </a:t>
            </a:r>
            <a:r>
              <a:rPr lang="es-MX" sz="2400" b="1" spc="-10" dirty="0" err="1" smtClean="0">
                <a:solidFill>
                  <a:schemeClr val="tx2"/>
                </a:solidFill>
                <a:latin typeface="Arial"/>
                <a:cs typeface="Arial"/>
              </a:rPr>
              <a:t>iniciales</a:t>
            </a:r>
            <a:r>
              <a:rPr lang="es-MX" sz="2400" b="1" spc="-10" dirty="0" smtClean="0">
                <a:solidFill>
                  <a:schemeClr val="tx2"/>
                </a:solidFill>
                <a:latin typeface="Arial"/>
                <a:cs typeface="Arial"/>
              </a:rPr>
              <a:t> de la UI</a:t>
            </a:r>
            <a:endParaRPr lang="es-MX" sz="24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596" y="3532289"/>
            <a:ext cx="6232939" cy="2980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6400" y="1632930"/>
            <a:ext cx="6151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5" dirty="0">
                <a:solidFill>
                  <a:srgbClr val="4A7DBA"/>
                </a:solidFill>
                <a:latin typeface="Trebuchet MS"/>
                <a:cs typeface="Trebuchet MS"/>
              </a:rPr>
              <a:t>Multiplicidad</a:t>
            </a:r>
            <a:r>
              <a:rPr sz="2000" b="1" spc="-95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4A7DBA"/>
                </a:solidFill>
                <a:latin typeface="Trebuchet MS"/>
                <a:cs typeface="Trebuchet MS"/>
              </a:rPr>
              <a:t>de</a:t>
            </a:r>
            <a:r>
              <a:rPr sz="2000" b="1" spc="-9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4A7DBA"/>
                </a:solidFill>
                <a:latin typeface="Trebuchet MS"/>
                <a:cs typeface="Trebuchet MS"/>
              </a:rPr>
              <a:t>factores</a:t>
            </a:r>
            <a:r>
              <a:rPr sz="2000" b="1" spc="-9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4A7DBA"/>
                </a:solidFill>
                <a:latin typeface="Trebuchet MS"/>
                <a:cs typeface="Trebuchet MS"/>
              </a:rPr>
              <a:t>que</a:t>
            </a:r>
            <a:r>
              <a:rPr sz="2000" b="1" spc="-9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80" dirty="0">
                <a:solidFill>
                  <a:srgbClr val="4A7DBA"/>
                </a:solidFill>
                <a:latin typeface="Trebuchet MS"/>
                <a:cs typeface="Trebuchet MS"/>
              </a:rPr>
              <a:t>inﬂuyen</a:t>
            </a:r>
            <a:r>
              <a:rPr sz="2000" b="1" spc="-9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80" dirty="0">
                <a:solidFill>
                  <a:srgbClr val="4A7DBA"/>
                </a:solidFill>
                <a:latin typeface="Trebuchet MS"/>
                <a:cs typeface="Trebuchet MS"/>
              </a:rPr>
              <a:t>en</a:t>
            </a:r>
            <a:r>
              <a:rPr sz="2000" b="1" spc="-85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80" dirty="0">
                <a:solidFill>
                  <a:srgbClr val="4A7DBA"/>
                </a:solidFill>
                <a:latin typeface="Trebuchet MS"/>
                <a:cs typeface="Trebuchet MS"/>
              </a:rPr>
              <a:t>el</a:t>
            </a:r>
            <a:r>
              <a:rPr sz="2000" b="1" spc="-85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4A7DBA"/>
                </a:solidFill>
                <a:latin typeface="Trebuchet MS"/>
                <a:cs typeface="Trebuchet MS"/>
              </a:rPr>
              <a:t>diseño</a:t>
            </a:r>
            <a:r>
              <a:rPr sz="2000" b="1" spc="-7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4A7DBA"/>
                </a:solidFill>
                <a:latin typeface="Trebuchet MS"/>
                <a:cs typeface="Trebuchet MS"/>
              </a:rPr>
              <a:t>UX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9241" y="658123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95959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930" y="2174419"/>
            <a:ext cx="2900045" cy="140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marR="719455" indent="-362585">
              <a:lnSpc>
                <a:spcPct val="100000"/>
              </a:lnSpc>
              <a:spcBef>
                <a:spcPts val="100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Investigación</a:t>
            </a:r>
            <a:r>
              <a:rPr sz="1800" spc="-6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Lucida Sans Unicode"/>
                <a:cs typeface="Lucida Sans Unicode"/>
              </a:rPr>
              <a:t>de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usuarios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1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Modelización</a:t>
            </a:r>
            <a:r>
              <a:rPr sz="1800" spc="-6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contexto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1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Tendencias,</a:t>
            </a:r>
            <a:r>
              <a:rPr sz="1800" spc="-5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mercado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1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Tipo</a:t>
            </a:r>
            <a:r>
              <a:rPr sz="1800" spc="-5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de</a:t>
            </a:r>
            <a:r>
              <a:rPr sz="1800" spc="-4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aplicación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280" y="5648311"/>
            <a:ext cx="2026285" cy="1130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4650" marR="5080" indent="-362585">
              <a:lnSpc>
                <a:spcPct val="100699"/>
              </a:lnSpc>
              <a:spcBef>
                <a:spcPts val="8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Evaluación</a:t>
            </a:r>
            <a:r>
              <a:rPr sz="1800" spc="-14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Lucida Sans Unicode"/>
                <a:cs typeface="Lucida Sans Unicode"/>
              </a:rPr>
              <a:t>con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usuarios</a:t>
            </a:r>
            <a:r>
              <a:rPr sz="1800" spc="-4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434343"/>
                </a:solidFill>
                <a:latin typeface="Lucida Sans Unicode"/>
                <a:cs typeface="Lucida Sans Unicode"/>
              </a:rPr>
              <a:t>y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expertos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30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Mejoras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951" y="2083830"/>
            <a:ext cx="2889250" cy="1831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100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Criterios</a:t>
            </a:r>
            <a:r>
              <a:rPr sz="1800" spc="-8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de</a:t>
            </a:r>
            <a:r>
              <a:rPr sz="1800" spc="-7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usabilidad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1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Normas</a:t>
            </a:r>
            <a:r>
              <a:rPr sz="1800" spc="-6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ISO,</a:t>
            </a:r>
            <a:r>
              <a:rPr sz="1800" spc="-5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WCAG,</a:t>
            </a:r>
            <a:r>
              <a:rPr sz="1800" spc="-5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Lucida Sans Unicode"/>
                <a:cs typeface="Lucida Sans Unicode"/>
              </a:rPr>
              <a:t>DI</a:t>
            </a:r>
            <a:endParaRPr sz="1800">
              <a:latin typeface="Lucida Sans Unicode"/>
              <a:cs typeface="Lucida Sans Unicode"/>
            </a:endParaRPr>
          </a:p>
          <a:p>
            <a:pPr marL="374650" indent="-361950">
              <a:lnSpc>
                <a:spcPct val="100000"/>
              </a:lnSpc>
              <a:spcBef>
                <a:spcPts val="1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Diseño</a:t>
            </a:r>
            <a:r>
              <a:rPr sz="1800" spc="-35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de</a:t>
            </a:r>
            <a:r>
              <a:rPr sz="1800" spc="-3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prototipos.</a:t>
            </a:r>
            <a:endParaRPr sz="1800">
              <a:latin typeface="Lucida Sans Unicode"/>
              <a:cs typeface="Lucida Sans Unicode"/>
            </a:endParaRPr>
          </a:p>
          <a:p>
            <a:pPr marL="375285" marR="308610" indent="-363220">
              <a:lnSpc>
                <a:spcPct val="107700"/>
              </a:lnSpc>
              <a:spcBef>
                <a:spcPts val="730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5285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Diálogo,</a:t>
            </a:r>
            <a:r>
              <a:rPr sz="1800" spc="-114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estructura, arquitectura, navegación.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6955" y="5648311"/>
            <a:ext cx="2716530" cy="852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4650" marR="5080" indent="-362585">
              <a:lnSpc>
                <a:spcPct val="100699"/>
              </a:lnSpc>
              <a:spcBef>
                <a:spcPts val="85"/>
              </a:spcBef>
              <a:buClr>
                <a:srgbClr val="410082"/>
              </a:buClr>
              <a:buSzPct val="50000"/>
              <a:buFont typeface="Arial"/>
              <a:buChar char="■"/>
              <a:tabLst>
                <a:tab pos="374650" algn="l"/>
              </a:tabLst>
            </a:pP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Prototipos</a:t>
            </a:r>
            <a:r>
              <a:rPr sz="1800" spc="-5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evolutivos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para</a:t>
            </a:r>
            <a:r>
              <a:rPr sz="1800" spc="-8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34343"/>
                </a:solidFill>
                <a:latin typeface="Lucida Sans Unicode"/>
                <a:cs typeface="Lucida Sans Unicode"/>
              </a:rPr>
              <a:t>evaluar</a:t>
            </a:r>
            <a:r>
              <a:rPr sz="1800" spc="-80" dirty="0">
                <a:solidFill>
                  <a:srgbClr val="434343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434343"/>
                </a:solidFill>
                <a:latin typeface="Lucida Sans Unicode"/>
                <a:cs typeface="Lucida Sans Unicode"/>
              </a:rPr>
              <a:t>el </a:t>
            </a:r>
            <a:r>
              <a:rPr sz="1800" spc="-10" dirty="0">
                <a:solidFill>
                  <a:srgbClr val="434343"/>
                </a:solidFill>
                <a:latin typeface="Lucida Sans Unicode"/>
                <a:cs typeface="Lucida Sans Unicode"/>
              </a:rPr>
              <a:t>impacto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3071" y="373522"/>
            <a:ext cx="6145703" cy="48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Metodología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de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063763"/>
                </a:solidFill>
                <a:latin typeface="Calibri"/>
                <a:cs typeface="Calibri"/>
              </a:rPr>
              <a:t>DCU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2725" y="5428441"/>
            <a:ext cx="165100" cy="808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spc="-50" dirty="0">
                <a:solidFill>
                  <a:srgbClr val="3C78D8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699"/>
              </a:lnSpc>
            </a:pPr>
            <a:r>
              <a:rPr sz="1800" b="1" spc="-50" dirty="0">
                <a:solidFill>
                  <a:srgbClr val="3C78D8"/>
                </a:solidFill>
                <a:latin typeface="Arial"/>
                <a:cs typeface="Arial"/>
              </a:rPr>
              <a:t>R 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9628" y="5394087"/>
            <a:ext cx="2041525" cy="852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065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val.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heurística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ecorrido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cognitivo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ocus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group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596" y="3532289"/>
            <a:ext cx="6232939" cy="29809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6400" y="1632930"/>
            <a:ext cx="26320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4A7DBA"/>
                </a:solidFill>
                <a:latin typeface="Trebuchet MS"/>
                <a:cs typeface="Trebuchet MS"/>
              </a:rPr>
              <a:t>Técnicas</a:t>
            </a:r>
            <a:r>
              <a:rPr sz="2000" b="1" spc="-114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4A7DBA"/>
                </a:solidFill>
                <a:latin typeface="Trebuchet MS"/>
                <a:cs typeface="Trebuchet MS"/>
              </a:rPr>
              <a:t>de</a:t>
            </a:r>
            <a:r>
              <a:rPr sz="2000" b="1" spc="-110" dirty="0">
                <a:solidFill>
                  <a:srgbClr val="4A7DBA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4A7DBA"/>
                </a:solidFill>
                <a:latin typeface="Trebuchet MS"/>
                <a:cs typeface="Trebuchet MS"/>
              </a:rPr>
              <a:t>usabilidad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9241" y="6619335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595959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775" y="5648311"/>
            <a:ext cx="1824355" cy="8528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Test</a:t>
            </a:r>
            <a:r>
              <a:rPr sz="1800" b="1" spc="-6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6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usuarios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Evaluación</a:t>
            </a:r>
            <a:r>
              <a:rPr sz="1800" b="1" spc="-5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de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accesibilidad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3071" y="373522"/>
            <a:ext cx="6145703" cy="48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Metodología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de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063763"/>
                </a:solidFill>
                <a:latin typeface="Calibri"/>
                <a:cs typeface="Calibri"/>
              </a:rPr>
              <a:t>DCU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225" y="2422290"/>
            <a:ext cx="3226435" cy="16814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Perﬁles</a:t>
            </a:r>
            <a:r>
              <a:rPr sz="1800" b="1" spc="-4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Escenarios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Personas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Recolección</a:t>
            </a:r>
            <a:r>
              <a:rPr sz="1800" b="1" spc="-3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  <a:p>
            <a:pPr marL="12700" marR="1162685">
              <a:lnSpc>
                <a:spcPct val="100699"/>
              </a:lnSpc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Focus</a:t>
            </a:r>
            <a:r>
              <a:rPr sz="1800" b="1" spc="-4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groups,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test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Análisis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tareas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Casos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1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uso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Benchmarking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0025" y="2422290"/>
            <a:ext cx="2335530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Card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sorting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Set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heurísticas Wireframes,mockups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A/B</a:t>
            </a:r>
            <a:r>
              <a:rPr sz="1800" b="1" spc="-5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3C78D8"/>
                </a:solidFill>
                <a:latin typeface="Arial"/>
                <a:cs typeface="Arial"/>
              </a:rPr>
              <a:t>test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Focus</a:t>
            </a:r>
            <a:r>
              <a:rPr sz="1800" b="1" spc="-2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group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25" y="4548437"/>
            <a:ext cx="237299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Recolección</a:t>
            </a:r>
            <a:r>
              <a:rPr sz="1800" b="1" spc="-35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C78D8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3C78D8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C78D8"/>
                </a:solidFill>
                <a:latin typeface="Arial"/>
                <a:cs typeface="Arial"/>
              </a:rPr>
              <a:t>datos Eval.accesibilidad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6400" y="1632930"/>
            <a:ext cx="26320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A7DBA"/>
                </a:solidFill>
                <a:latin typeface="Trebuchet MS"/>
                <a:cs typeface="Trebuchet MS"/>
              </a:rPr>
              <a:t>El proceso de DCU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9241" y="6619335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595959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3071" y="373522"/>
            <a:ext cx="6145703" cy="48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Metodología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63763"/>
                </a:solidFill>
                <a:latin typeface="Calibri"/>
                <a:cs typeface="Calibri"/>
              </a:rPr>
              <a:t>de</a:t>
            </a:r>
            <a:r>
              <a:rPr sz="3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063763"/>
                </a:solidFill>
                <a:latin typeface="Calibri"/>
                <a:cs typeface="Calibri"/>
              </a:rPr>
              <a:t>DCU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/>
          <a:srcRect l="22511" t="36133" r="20937" b="9179"/>
          <a:stretch>
            <a:fillRect/>
          </a:stretch>
        </p:blipFill>
        <p:spPr bwMode="auto">
          <a:xfrm>
            <a:off x="1071538" y="2500306"/>
            <a:ext cx="7358114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Rectángulo"/>
          <p:cNvSpPr/>
          <p:nvPr/>
        </p:nvSpPr>
        <p:spPr>
          <a:xfrm>
            <a:off x="6357918" y="1142984"/>
            <a:ext cx="27860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100"/>
              </a:spcBef>
              <a:buClr>
                <a:srgbClr val="1155CC"/>
              </a:buClr>
              <a:buSzPct val="68750"/>
              <a:buChar char="■"/>
              <a:tabLst>
                <a:tab pos="168910" algn="l"/>
              </a:tabLst>
            </a:pPr>
            <a:r>
              <a:rPr lang="es-MX" sz="2000" b="1" spc="-10" dirty="0" smtClean="0">
                <a:solidFill>
                  <a:schemeClr val="tx2"/>
                </a:solidFill>
                <a:latin typeface="Arial"/>
                <a:cs typeface="Arial"/>
              </a:rPr>
              <a:t>El Diseño centrado en las personas implica aceptar la diversidad de las mismas.</a:t>
            </a:r>
            <a:endParaRPr lang="es-MX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612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+mn-lt"/>
                <a:cs typeface="Arial"/>
              </a:rPr>
              <a:t>Se </a:t>
            </a:r>
            <a:r>
              <a:rPr lang="es-MX" sz="1900" dirty="0">
                <a:latin typeface="+mn-lt"/>
                <a:cs typeface="Arial"/>
              </a:rPr>
              <a:t>requiere  la construcción de productos y servicios digitales que sean utilizables por la mayor cantidad de personas posible, independientemente de sus capacidades, dispositivos, contexto o forma de interacción. 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>
                <a:latin typeface="+mn-lt"/>
                <a:cs typeface="Arial"/>
              </a:rPr>
              <a:t>Definir un modelo operativo de accesibilidad que no trate la accesibilidad como una revisión puntual sino que la incorpore como una práctica continua dentro del ciclo de vida digital. 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>
                <a:latin typeface="+mn-lt"/>
                <a:cs typeface="Arial"/>
              </a:rPr>
              <a:t>Establecer un marco de referencia común para todos los equipos involucrados (diseño, desarrollo, contenidos, QA, producto y gestión), y alinea las responsabilidades de cada área con los estándares internacionales de accesibilidad. 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>
                <a:latin typeface="+mn-lt"/>
                <a:cs typeface="Arial"/>
              </a:rPr>
              <a:t>Promover la capacitación continua y el fortalecimiento de capacidades internas en todos los equipos involucrados.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2000" dirty="0">
              <a:cs typeface="Arial"/>
            </a:endParaRP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1900" dirty="0">
              <a:latin typeface="+mn-lt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654536" cy="530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1900" dirty="0" smtClean="0">
                <a:latin typeface="+mn-lt"/>
                <a:cs typeface="Arial"/>
              </a:rPr>
              <a:t>I</a:t>
            </a:r>
            <a:r>
              <a:rPr lang="es-MX" sz="2000" dirty="0" smtClean="0">
                <a:latin typeface="+mn-lt"/>
              </a:rPr>
              <a:t>ntegrar </a:t>
            </a:r>
            <a:r>
              <a:rPr lang="es-MX" sz="2000" dirty="0">
                <a:latin typeface="+mn-lt"/>
              </a:rPr>
              <a:t>la accesibilidad de forma sistemática y sostenible en todos los procesos de diseño, desarrollo, validación y </a:t>
            </a:r>
            <a:r>
              <a:rPr lang="es-MX" sz="2000" dirty="0" smtClean="0">
                <a:latin typeface="+mn-lt"/>
              </a:rPr>
              <a:t>mantenimiento. 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dirty="0" smtClean="0">
                <a:latin typeface="+mn-lt"/>
              </a:rPr>
              <a:t>Garantizar </a:t>
            </a:r>
            <a:r>
              <a:rPr lang="es-MX" sz="2000" dirty="0">
                <a:latin typeface="+mn-lt"/>
              </a:rPr>
              <a:t>que cada equipo incorpore criterios de accesibilidad desde el inicio de los proyectos, promoviendo una cultura de mejora continua y colaboración entre </a:t>
            </a:r>
            <a:r>
              <a:rPr lang="es-MX" sz="2000" dirty="0" smtClean="0">
                <a:latin typeface="+mn-lt"/>
              </a:rPr>
              <a:t>áreas.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dirty="0">
                <a:latin typeface="+mn-lt"/>
              </a:rPr>
              <a:t>A</a:t>
            </a:r>
            <a:r>
              <a:rPr lang="es-MX" sz="2000" dirty="0" smtClean="0">
                <a:latin typeface="+mn-lt"/>
              </a:rPr>
              <a:t>segurar </a:t>
            </a:r>
            <a:r>
              <a:rPr lang="es-MX" sz="2000" dirty="0">
                <a:latin typeface="+mn-lt"/>
              </a:rPr>
              <a:t>el cumplimiento de los estándares internacionales de accesibilidad (actualmente WCAG 2.2 – nivel AA</a:t>
            </a:r>
            <a:r>
              <a:rPr lang="es-MX" sz="2000" dirty="0" smtClean="0">
                <a:latin typeface="+mn-lt"/>
              </a:rPr>
              <a:t>).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dirty="0" smtClean="0">
                <a:latin typeface="+mn-lt"/>
              </a:rPr>
              <a:t>Facilitar </a:t>
            </a:r>
            <a:r>
              <a:rPr lang="es-MX" sz="2000" dirty="0">
                <a:latin typeface="+mn-lt"/>
              </a:rPr>
              <a:t>la identificación temprana y corrección de barreras digitales</a:t>
            </a:r>
            <a:r>
              <a:rPr lang="es-MX" sz="2000" dirty="0" smtClean="0">
                <a:latin typeface="+mn-lt"/>
              </a:rPr>
              <a:t>. 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dirty="0" smtClean="0">
                <a:latin typeface="+mn-lt"/>
              </a:rPr>
              <a:t>Incorporar </a:t>
            </a:r>
            <a:r>
              <a:rPr lang="es-MX" sz="2000" dirty="0">
                <a:latin typeface="+mn-lt"/>
              </a:rPr>
              <a:t>revisiones y controles automáticos y manuales en cada etapa del ciclo de vida del </a:t>
            </a:r>
            <a:r>
              <a:rPr lang="es-MX" sz="2000" dirty="0" smtClean="0">
                <a:latin typeface="+mn-lt"/>
              </a:rPr>
              <a:t>producto.</a:t>
            </a:r>
          </a:p>
          <a:p>
            <a:pPr marL="371475" marR="607695" indent="-359410">
              <a:lnSpc>
                <a:spcPct val="114000"/>
              </a:lnSpc>
              <a:spcBef>
                <a:spcPts val="1000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dirty="0" smtClean="0">
                <a:latin typeface="+mn-lt"/>
              </a:rPr>
              <a:t>Consolidar </a:t>
            </a:r>
            <a:r>
              <a:rPr lang="es-MX" sz="2000" dirty="0">
                <a:latin typeface="+mn-lt"/>
              </a:rPr>
              <a:t>información, métricas y reportes que permitan </a:t>
            </a:r>
            <a:r>
              <a:rPr lang="es-MX" sz="2000" dirty="0" smtClean="0">
                <a:latin typeface="+mn-lt"/>
              </a:rPr>
              <a:t>monitorear </a:t>
            </a:r>
            <a:r>
              <a:rPr lang="es-MX" sz="2000" dirty="0">
                <a:latin typeface="+mn-lt"/>
              </a:rPr>
              <a:t>el grado de madurez en </a:t>
            </a:r>
            <a:r>
              <a:rPr lang="es-MX" sz="2000" dirty="0" smtClean="0">
                <a:latin typeface="+mn-lt"/>
              </a:rPr>
              <a:t>accesibilidad.</a:t>
            </a:r>
            <a:endParaRPr sz="1900">
              <a:latin typeface="+mn-lt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414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Responsabilidades 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Diseño </a:t>
            </a:r>
            <a:r>
              <a:rPr lang="es-MX" sz="2000" b="1" dirty="0">
                <a:latin typeface="+mn-lt"/>
              </a:rPr>
              <a:t>UX/UI: </a:t>
            </a:r>
            <a:r>
              <a:rPr lang="es-MX" sz="2000" dirty="0">
                <a:latin typeface="+mn-lt"/>
              </a:rPr>
              <a:t>incorpora criterios de accesibilidad en la definición visual, estructural y de interacción, utilizando componentes validados y asegurando contraste, foco y </a:t>
            </a:r>
            <a:r>
              <a:rPr lang="es-MX" sz="2000" dirty="0" smtClean="0">
                <a:latin typeface="+mn-lt"/>
              </a:rPr>
              <a:t>jerarquía.</a:t>
            </a: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Desarrollo </a:t>
            </a:r>
            <a:r>
              <a:rPr lang="es-MX" sz="2000" b="1" dirty="0">
                <a:latin typeface="+mn-lt"/>
              </a:rPr>
              <a:t>Front-</a:t>
            </a:r>
            <a:r>
              <a:rPr lang="es-MX" sz="2000" b="1" dirty="0" err="1">
                <a:latin typeface="+mn-lt"/>
              </a:rPr>
              <a:t>End</a:t>
            </a:r>
            <a:r>
              <a:rPr lang="es-MX" sz="2000" b="1" dirty="0">
                <a:latin typeface="+mn-lt"/>
              </a:rPr>
              <a:t> y Back-</a:t>
            </a:r>
            <a:r>
              <a:rPr lang="es-MX" sz="2000" b="1" dirty="0" err="1">
                <a:latin typeface="+mn-lt"/>
              </a:rPr>
              <a:t>End</a:t>
            </a:r>
            <a:r>
              <a:rPr lang="es-MX" sz="2000" b="1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implementa código semántico, roles accesibles y compatibilidad con tecnologías de asistencia, garantizando la funcionalidad completa mediante teclado y lector de </a:t>
            </a:r>
            <a:r>
              <a:rPr lang="es-MX" sz="2000" dirty="0" smtClean="0">
                <a:latin typeface="+mn-lt"/>
              </a:rPr>
              <a:t>pantalla.</a:t>
            </a: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Equipo </a:t>
            </a:r>
            <a:r>
              <a:rPr lang="es-MX" sz="2000" b="1" dirty="0">
                <a:latin typeface="+mn-lt"/>
              </a:rPr>
              <a:t>de contenidos: </a:t>
            </a:r>
            <a:r>
              <a:rPr lang="es-MX" sz="2000" dirty="0">
                <a:latin typeface="+mn-lt"/>
              </a:rPr>
              <a:t>redacta textos claros, estructurados y coherentes con las pautas de lenguaje claro, asegurando que toda la información sea perceptible y </a:t>
            </a:r>
            <a:r>
              <a:rPr lang="es-MX" sz="2000" dirty="0" smtClean="0">
                <a:latin typeface="+mn-lt"/>
              </a:rPr>
              <a:t>comprensible.</a:t>
            </a:r>
            <a:endParaRPr lang="es-MX" sz="2000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6876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Responsabilidades 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QA</a:t>
            </a:r>
            <a:r>
              <a:rPr lang="es-MX" sz="2000" b="1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ejecuta pruebas automáticas y manuales de accesibilidad, valida el cumplimiento de criterios y registra hallazgos y </a:t>
            </a:r>
            <a:r>
              <a:rPr lang="es-MX" sz="2000" dirty="0" smtClean="0">
                <a:latin typeface="+mn-lt"/>
              </a:rPr>
              <a:t>correcciones.</a:t>
            </a: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PMO</a:t>
            </a:r>
            <a:r>
              <a:rPr lang="es-MX" sz="2000" b="1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asegura la integración de la accesibilidad en la planificación, los </a:t>
            </a:r>
            <a:r>
              <a:rPr lang="es-MX" sz="2000" dirty="0" err="1">
                <a:latin typeface="+mn-lt"/>
              </a:rPr>
              <a:t>sprints</a:t>
            </a:r>
            <a:r>
              <a:rPr lang="es-MX" sz="2000" dirty="0">
                <a:latin typeface="+mn-lt"/>
              </a:rPr>
              <a:t> y los entregables de cada proyecto, y da seguimiento a los indicadores de </a:t>
            </a:r>
            <a:r>
              <a:rPr lang="es-MX" sz="2000" dirty="0" smtClean="0">
                <a:latin typeface="+mn-lt"/>
              </a:rPr>
              <a:t>cumplimiento.</a:t>
            </a: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Referente </a:t>
            </a:r>
            <a:r>
              <a:rPr lang="es-MX" sz="2000" b="1" dirty="0">
                <a:latin typeface="+mn-lt"/>
              </a:rPr>
              <a:t>de Accesibilidad: </a:t>
            </a:r>
            <a:r>
              <a:rPr lang="es-MX" sz="2000" dirty="0">
                <a:latin typeface="+mn-lt"/>
              </a:rPr>
              <a:t>coordina la aplicación del modelo, brinda soporte técnico a los equipos, consolida reportes y lidera las acciones de mejora y formación continua</a:t>
            </a:r>
            <a:r>
              <a:rPr lang="es-MX" sz="2000" dirty="0" smtClean="0">
                <a:latin typeface="+mn-lt"/>
              </a:rPr>
              <a:t>.</a:t>
            </a:r>
            <a:endParaRPr lang="es-MX" sz="2000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440254" cy="3170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Dimensiones del marco metodológico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r>
              <a:rPr lang="es-MX" sz="2000" dirty="0">
                <a:latin typeface="+mn-lt"/>
              </a:rPr>
              <a:t>Para que la accesibilidad no sea una etapa aislada, sino un principio transversal presente en todas las decisiones, tareas </a:t>
            </a:r>
            <a:r>
              <a:rPr lang="es-MX" sz="2000" dirty="0" smtClean="0">
                <a:latin typeface="+mn-lt"/>
              </a:rPr>
              <a:t>y entregables, el modelo debe combinar tres dimensiones:</a:t>
            </a:r>
          </a:p>
          <a:p>
            <a:pPr marL="371475" marR="607695" indent="-359410" rtl="0" fontAlgn="base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>
                <a:latin typeface="+mn-lt"/>
              </a:rPr>
              <a:t>Ciclo de vida del producto digital: </a:t>
            </a:r>
            <a:r>
              <a:rPr lang="es-MX" sz="2000" dirty="0">
                <a:latin typeface="+mn-lt"/>
              </a:rPr>
              <a:t>La accesibilidad se aborda en todas las etapas: planificación, diseño, revisión, desarrollo, testeo, publicación y mantenimiento. Cada fase cuenta con acciones y responsabilidades definidas que aseguran la trazabilidad del cumplimiento</a:t>
            </a:r>
            <a:r>
              <a:rPr lang="es-MX" sz="2000" dirty="0" smtClean="0">
                <a:latin typeface="+mn-lt"/>
              </a:rPr>
              <a:t>.</a:t>
            </a:r>
            <a:endParaRPr lang="es-MX" sz="2000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440254" cy="493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Dimensiones del marco metodológico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 rtl="0" fontAlgn="base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2000" dirty="0" smtClean="0">
              <a:latin typeface="+mn-lt"/>
            </a:endParaRPr>
          </a:p>
          <a:p>
            <a:pPr marL="371475" marR="607695" indent="-359410" rtl="0" fontAlgn="base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Colaboración </a:t>
            </a:r>
            <a:r>
              <a:rPr lang="es-MX" sz="2000" b="1" dirty="0">
                <a:latin typeface="+mn-lt"/>
              </a:rPr>
              <a:t>entre áreas:</a:t>
            </a:r>
            <a:r>
              <a:rPr lang="es-MX" sz="2000" dirty="0">
                <a:latin typeface="+mn-lt"/>
              </a:rPr>
              <a:t> Cada disciplina (diseño, desarrollo, contenido, QA y gestión) tiene un rol activo en la accesibilidad</a:t>
            </a:r>
            <a:r>
              <a:rPr lang="es-MX" sz="2000" dirty="0" smtClean="0">
                <a:latin typeface="+mn-lt"/>
              </a:rPr>
              <a:t>. Se debe promover el </a:t>
            </a:r>
            <a:r>
              <a:rPr lang="es-MX" sz="2000" dirty="0">
                <a:latin typeface="+mn-lt"/>
              </a:rPr>
              <a:t>trabajo conjunto y la revisión cruzada entre equipos, reduciendo riesgos y </a:t>
            </a:r>
            <a:r>
              <a:rPr lang="es-MX" sz="2000" dirty="0" err="1">
                <a:latin typeface="+mn-lt"/>
              </a:rPr>
              <a:t>retrabajos</a:t>
            </a:r>
            <a:r>
              <a:rPr lang="es-MX" sz="2000" dirty="0">
                <a:latin typeface="+mn-lt"/>
              </a:rPr>
              <a:t>.</a:t>
            </a:r>
          </a:p>
          <a:p>
            <a:pPr marL="371475" marR="607695" indent="-359410" rtl="0" fontAlgn="base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>
                <a:latin typeface="+mn-lt"/>
              </a:rPr>
              <a:t>Mejora y evaluación continua: </a:t>
            </a:r>
            <a:r>
              <a:rPr lang="es-MX" sz="2000" dirty="0">
                <a:latin typeface="+mn-lt"/>
              </a:rPr>
              <a:t>La accesibilidad se monitorea a través de indicadores e informes periódicos que permiten identificar avances, desafíos y oportunidades de mejora. Los hallazgos se documentan, se priorizan y se resuelven dentro de los </a:t>
            </a:r>
            <a:r>
              <a:rPr lang="es-MX" sz="2000" dirty="0" err="1">
                <a:latin typeface="+mn-lt"/>
              </a:rPr>
              <a:t>sprints</a:t>
            </a:r>
            <a:r>
              <a:rPr lang="es-MX" sz="2000" dirty="0">
                <a:latin typeface="+mn-lt"/>
              </a:rPr>
              <a:t>, alimentando un proceso iterativo de revisión y actualización constante.</a:t>
            </a: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lang="es-MX" sz="2000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- Planificación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714348" y="2428867"/>
          <a:ext cx="7715303" cy="2928959"/>
        </p:xfrm>
        <a:graphic>
          <a:graphicData uri="http://schemas.openxmlformats.org/drawingml/2006/table">
            <a:tbl>
              <a:tblPr/>
              <a:tblGrid>
                <a:gridCol w="1071570"/>
                <a:gridCol w="1000132"/>
                <a:gridCol w="3071834"/>
                <a:gridCol w="1285884"/>
                <a:gridCol w="1285883"/>
              </a:tblGrid>
              <a:tr h="2928959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chemeClr val="tx1"/>
                          </a:solidFill>
                          <a:latin typeface="Montserrat"/>
                        </a:rPr>
                        <a:t>Planificación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Incorporar accesibilidad desde el inicio del proyecto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Definir versión y nivel de conformidad de WCAG. 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Incorporar la accesibilidad como criterio de éxito del proyecto.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Identificar perfiles de usuarios con distintas discapacidades o modos de interacción.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Establecer roles y responsabilidades específicas en relación con la accesibilidad.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Incluir revisiones de accesibilidad en los </a:t>
                      </a:r>
                      <a:r>
                        <a:rPr lang="es-MX" sz="1000" b="0" dirty="0" err="1">
                          <a:solidFill>
                            <a:schemeClr val="tx1"/>
                          </a:solidFill>
                          <a:latin typeface="Montserrat"/>
                        </a:rPr>
                        <a:t>sprints</a:t>
                      </a: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, entregables y </a:t>
                      </a:r>
                      <a:r>
                        <a:rPr lang="es-MX" sz="1000" b="0" dirty="0" err="1">
                          <a:solidFill>
                            <a:schemeClr val="tx1"/>
                          </a:solidFill>
                          <a:latin typeface="Montserrat"/>
                        </a:rPr>
                        <a:t>roadmaps</a:t>
                      </a: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Planificar indicadores de seguimiento (porcentaje de hallazgos corregidos, auditorías, capacitaciones).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Asegurar que los proveedores externos también adopten los lineamientos de accesibilidad.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PMO, UX Lead, Referente de Accesibilidad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u="sng" dirty="0">
                          <a:solidFill>
                            <a:schemeClr val="tx1"/>
                          </a:solidFill>
                          <a:latin typeface="Montserrat"/>
                          <a:hlinkClick r:id="rId3"/>
                        </a:rPr>
                        <a:t>WCAG Quick </a:t>
                      </a:r>
                      <a:r>
                        <a:rPr lang="es-ES" sz="1000" b="0" u="sng" dirty="0" err="1">
                          <a:solidFill>
                            <a:schemeClr val="tx1"/>
                          </a:solidFill>
                          <a:latin typeface="Montserrat"/>
                          <a:hlinkClick r:id="rId3"/>
                        </a:rPr>
                        <a:t>Ref</a:t>
                      </a:r>
                      <a:r>
                        <a:rPr lang="es-ES" sz="1000" b="0" u="sng" dirty="0">
                          <a:solidFill>
                            <a:schemeClr val="tx1"/>
                          </a:solidFill>
                          <a:latin typeface="Montserrat"/>
                          <a:hlinkClick r:id="rId3"/>
                        </a:rPr>
                        <a:t> </a:t>
                      </a:r>
                      <a:endParaRPr lang="es-ES" sz="1000" b="0" u="sng" dirty="0">
                        <a:solidFill>
                          <a:schemeClr val="tx1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accesibilidad- Diseño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85720" y="2571745"/>
          <a:ext cx="8501121" cy="3857651"/>
        </p:xfrm>
        <a:graphic>
          <a:graphicData uri="http://schemas.openxmlformats.org/drawingml/2006/table">
            <a:tbl>
              <a:tblPr/>
              <a:tblGrid>
                <a:gridCol w="1214446"/>
                <a:gridCol w="1285884"/>
                <a:gridCol w="3286148"/>
                <a:gridCol w="984500"/>
                <a:gridCol w="1730143"/>
              </a:tblGrid>
              <a:tr h="3857651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chemeClr val="tx1"/>
                          </a:solidFill>
                          <a:latin typeface="Montserrat"/>
                        </a:rPr>
                        <a:t>Diseño accesible (UX/UI)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Diseñar interfaces y flujos accesibles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Utilizar componentes de la librería validados en accesibilidad.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Garantizar contraste suficiente entre texto y fondo, y asegurar que el color no sea el único medio de transmitir información.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Diseñar jerarquías visuales claras y una estructura semántica coherente con encabezados y secciones.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Mantener consistencia en los patrones de interacción y en la ubicación de los elementos.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Asegurar que todos los estados (activo, foco, error, éxito) sean perceptibles visualmente.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Definir tamaños de texto escalables y tipografías legibles.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Evitar animaciones automáticas, parpadeos o movimientos que distraigan o generen mareo.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Incorporar descripciones y textos alternativos para imágenes, íconos y gráficos informativos.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Diseñar formularios con etiquetas visibles, instrucciones claras y mensajes de error comprensibles.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• Documentar en </a:t>
                      </a:r>
                      <a:r>
                        <a:rPr lang="es-MX" sz="1000" b="0" dirty="0" err="1">
                          <a:solidFill>
                            <a:schemeClr val="tx1"/>
                          </a:solidFill>
                          <a:latin typeface="Montserrat"/>
                        </a:rPr>
                        <a:t>Figma</a:t>
                      </a:r>
                      <a: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 las decisiones de diseño relacionadas con accesibilidad.</a:t>
                      </a:r>
                      <a:br>
                        <a:rPr lang="es-MX" sz="1000" b="0" dirty="0">
                          <a:solidFill>
                            <a:schemeClr val="tx1"/>
                          </a:solidFill>
                          <a:latin typeface="Montserrat"/>
                        </a:rPr>
                      </a:br>
                      <a:endParaRPr lang="es-MX" sz="1000" b="0" dirty="0">
                        <a:solidFill>
                          <a:schemeClr val="tx1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dirty="0">
                          <a:solidFill>
                            <a:schemeClr val="tx1"/>
                          </a:solidFill>
                          <a:latin typeface="Montserrat"/>
                        </a:rPr>
                        <a:t>UX/UI </a:t>
                      </a:r>
                      <a:r>
                        <a:rPr lang="es-ES" sz="1000" b="0" dirty="0" err="1">
                          <a:solidFill>
                            <a:schemeClr val="tx1"/>
                          </a:solidFill>
                          <a:latin typeface="Montserrat"/>
                        </a:rPr>
                        <a:t>Designers</a:t>
                      </a:r>
                      <a:endParaRPr lang="es-ES" sz="1000" b="0" dirty="0">
                        <a:solidFill>
                          <a:schemeClr val="tx1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i="0" u="sng" dirty="0">
                          <a:solidFill>
                            <a:schemeClr val="tx1"/>
                          </a:solidFill>
                          <a:latin typeface="Montserrat"/>
                          <a:hlinkClick r:id="" action="ppaction://hlinkfile"/>
                        </a:rPr>
                        <a:t>Listado de comprobación (filtro diseño)</a:t>
                      </a:r>
                      <a:r>
                        <a:rPr lang="es-MX" sz="1000" b="0" i="0" dirty="0">
                          <a:solidFill>
                            <a:schemeClr val="tx1"/>
                          </a:solidFill>
                          <a:latin typeface="Montserrat"/>
                        </a:rPr>
                        <a:t> | </a:t>
                      </a:r>
                      <a:r>
                        <a:rPr lang="es-MX" sz="1000" b="0" i="0" u="sng" dirty="0">
                          <a:solidFill>
                            <a:schemeClr val="tx1"/>
                          </a:solidFill>
                          <a:latin typeface="Montserrat"/>
                          <a:hlinkClick r:id="rId3"/>
                        </a:rPr>
                        <a:t>Herramientas para </a:t>
                      </a:r>
                      <a:r>
                        <a:rPr lang="es-MX" sz="1000" b="0" i="0" u="sng" dirty="0" err="1">
                          <a:solidFill>
                            <a:schemeClr val="tx1"/>
                          </a:solidFill>
                          <a:latin typeface="Montserrat"/>
                          <a:hlinkClick r:id="rId3"/>
                        </a:rPr>
                        <a:t>figma</a:t>
                      </a:r>
                      <a:r>
                        <a:rPr lang="es-MX" sz="1000" b="0" i="0" dirty="0">
                          <a:solidFill>
                            <a:schemeClr val="tx1"/>
                          </a:solidFill>
                          <a:latin typeface="Montserrat"/>
                        </a:rPr>
                        <a:t> | </a:t>
                      </a:r>
                      <a:r>
                        <a:rPr lang="es-MX" sz="1000" b="0" i="0" u="sng" dirty="0">
                          <a:solidFill>
                            <a:schemeClr val="tx1"/>
                          </a:solidFill>
                          <a:latin typeface="Montserrat"/>
                          <a:hlinkClick r:id="rId4"/>
                        </a:rPr>
                        <a:t>Documentación de librería accesible</a:t>
                      </a:r>
                      <a:r>
                        <a:rPr lang="es-MX" sz="1000" b="0" i="0" dirty="0">
                          <a:solidFill>
                            <a:schemeClr val="tx1"/>
                          </a:solidFill>
                          <a:latin typeface="Montserrat"/>
                        </a:rPr>
                        <a:t> </a:t>
                      </a:r>
                      <a:endParaRPr lang="es-MX" sz="1000" b="0" dirty="0">
                        <a:solidFill>
                          <a:schemeClr val="tx1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- Revisión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29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85720" y="2571745"/>
          <a:ext cx="8572560" cy="2143139"/>
        </p:xfrm>
        <a:graphic>
          <a:graphicData uri="http://schemas.openxmlformats.org/drawingml/2006/table">
            <a:tbl>
              <a:tblPr/>
              <a:tblGrid>
                <a:gridCol w="1803714"/>
                <a:gridCol w="1219968"/>
                <a:gridCol w="2243163"/>
                <a:gridCol w="1561033"/>
                <a:gridCol w="1744682"/>
              </a:tblGrid>
              <a:tr h="2143139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Revisión previa a desarrollo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Validar que el diseño cumpla criterios antes de entregar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• Revisar que los prototipos cumplan con los principios de accesibilidad antes de la entrega al equipo de desarrollo.</a:t>
                      </a:r>
                      <a:b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• Registrar observaciones y ajustes detectados en una checklist o documento compartido.</a:t>
                      </a:r>
                      <a:b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• Verificar que todas las imágenes, botones y formularios tengan etiquetas o descripciones.</a:t>
                      </a:r>
                      <a:b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• Asegurar que las observaciones queden registradas.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UX Lead, Referente de Accesibilidad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Listado de comprobación (filtro diseño)</a:t>
                      </a:r>
                      <a:r>
                        <a:rPr lang="es-MX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| </a:t>
                      </a:r>
                      <a:r>
                        <a:rPr lang="es-MX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Informe técnico </a:t>
                      </a:r>
                      <a:endParaRPr lang="es-MX" sz="10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– Desarrollo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85718" y="2571745"/>
          <a:ext cx="8858281" cy="3429023"/>
        </p:xfrm>
        <a:graphic>
          <a:graphicData uri="http://schemas.openxmlformats.org/drawingml/2006/table">
            <a:tbl>
              <a:tblPr/>
              <a:tblGrid>
                <a:gridCol w="1143010"/>
                <a:gridCol w="1500198"/>
                <a:gridCol w="3500462"/>
                <a:gridCol w="911779"/>
                <a:gridCol w="1802832"/>
              </a:tblGrid>
              <a:tr h="3429023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Desarrollo accesible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Implementar código y componentes accesibles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Implementar código semántico y estructurado, utilizando correctamente etiquetas, roles y atributos ARIA.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Asegurar foco visible y orden lógico de navegación en el DOM.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Habilitar interacción completa mediante teclado y evitar dependencias exclusivas de mouse.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Controlar tiempos de respuesta, animaciones automáticas y movimientos innecesarios.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Garantizar que todos los elementos interactivos tengan nombres accesibles y puedan ser identificados por tecnologías de asistencia.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Proporcionar mensajes de error descriptivos y ayudas contextuales.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Implementar alertas y notificaciones que puedan ser detectadas por lectores de pantalla.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Ejecutar validaciones automáticas de accesibilidad durante el desarrollo.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Documentar excepciones o limitaciones detectadas para revisión posterior en QA.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>
                          <a:solidFill>
                            <a:srgbClr val="434343"/>
                          </a:solidFill>
                          <a:latin typeface="Montserrat"/>
                        </a:rPr>
                        <a:t>Front-End, Back-End Dev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Set de herramientas de evaluación</a:t>
                      </a:r>
                      <a:r>
                        <a:rPr lang="es-MX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| </a:t>
                      </a:r>
                      <a:r>
                        <a:rPr lang="es-MX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Listado de comprobación (filtro desarrollo)</a:t>
                      </a:r>
                      <a:endParaRPr lang="es-MX" sz="10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- Testeo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428596" y="2643182"/>
          <a:ext cx="8715404" cy="3286147"/>
        </p:xfrm>
        <a:graphic>
          <a:graphicData uri="http://schemas.openxmlformats.org/drawingml/2006/table">
            <a:tbl>
              <a:tblPr/>
              <a:tblGrid>
                <a:gridCol w="1285884"/>
                <a:gridCol w="1143008"/>
                <a:gridCol w="3643338"/>
                <a:gridCol w="869420"/>
                <a:gridCol w="1773754"/>
              </a:tblGrid>
              <a:tr h="3286147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Testeo de accesibilidad (QA)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Evaluar cumplimiento WCAG antes de producción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Realizar pruebas automáticas y manuales de accesibilidad.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Probar con lectores de pantalla (NVDA, JAWS, </a:t>
                      </a:r>
                      <a:r>
                        <a:rPr lang="es-MX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VoiceOver</a:t>
                      </a: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) y verificar la navegación por teclado.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Validar que todos los componentes respondan correctamente al foco y que la secuencia sea lógica.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Revisar que el contenido se mantenga legible y funcional al aumentar el zoom o cambiar el contraste.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Confirmar que los textos alternativos, etiquetas, roles y estados estén correctamente implementados.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Verificar que los mensajes de error y </a:t>
                      </a:r>
                      <a:r>
                        <a:rPr lang="es-MX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feedback</a:t>
                      </a: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 se comuniquen también de forma textual.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Registrar hallazgos con evidencia visual o de video y priorizar según severidad.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Consolidar los resultados en la planilla e informe técnico.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Revisar flujos críticos de interacción (inicio de sesión, formularios, compra, búsqueda, etc.).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QA, Referente de Accesibilidad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Listado de comprobación por criterio</a:t>
                      </a:r>
                      <a:r>
                        <a:rPr lang="es-ES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|</a:t>
                      </a:r>
                      <a:r>
                        <a:rPr lang="es-ES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 Informe técnico</a:t>
                      </a:r>
                      <a:r>
                        <a:rPr lang="es-ES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| </a:t>
                      </a:r>
                      <a:r>
                        <a:rPr lang="es-ES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Panel de resultados</a:t>
                      </a:r>
                      <a:r>
                        <a:rPr lang="es-ES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</a:t>
                      </a:r>
                      <a:endParaRPr lang="es-ES" sz="10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– Revisión de contenidos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714348" y="2571744"/>
          <a:ext cx="7715303" cy="3357586"/>
        </p:xfrm>
        <a:graphic>
          <a:graphicData uri="http://schemas.openxmlformats.org/drawingml/2006/table">
            <a:tbl>
              <a:tblPr/>
              <a:tblGrid>
                <a:gridCol w="1214446"/>
                <a:gridCol w="1214446"/>
                <a:gridCol w="2714644"/>
                <a:gridCol w="1001553"/>
                <a:gridCol w="1570214"/>
              </a:tblGrid>
              <a:tr h="3357586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Revisión de contenidos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Garantizar claridad, estructura y textos alternativos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Redactar textos en lenguaje claro, directo y comprensible.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Evitar jerga técnica o ambigüedades.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Asegurar que todos los enlaces describan su destino o propósito.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Incluir textos alternativos en imágenes, subtítulos en videos y transcripciones en audios.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Garantizar la coherencia entre etiquetas visibles y nombres accesibles.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Estandarizar mensajes de error e instrucciones, manteniendo consistencia entre productos.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Revisar legibilidad general (longitud de oraciones, formato, uso de mayúsculas).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Aplicar revisión de lenguaje claro en cada nueva publicación o actualización de contenido.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>
                          <a:solidFill>
                            <a:srgbClr val="434343"/>
                          </a:solidFill>
                          <a:latin typeface="Montserrat"/>
                        </a:rPr>
                        <a:t>Equipo de Contenidos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u="sng" dirty="0">
                          <a:solidFill>
                            <a:srgbClr val="434343"/>
                          </a:solidFill>
                          <a:latin typeface="Montserrat"/>
                          <a:hlinkClick r:id="" action="ppaction://hlinkfile"/>
                        </a:rPr>
                        <a:t>Listado de comprobación (filtro contenidos)</a:t>
                      </a:r>
                      <a:endParaRPr lang="es-MX" sz="1000" b="0" u="sng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– Seguimiento y corrección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714348" y="2571744"/>
          <a:ext cx="7715303" cy="2965189"/>
        </p:xfrm>
        <a:graphic>
          <a:graphicData uri="http://schemas.openxmlformats.org/drawingml/2006/table">
            <a:tbl>
              <a:tblPr/>
              <a:tblGrid>
                <a:gridCol w="1623342"/>
                <a:gridCol w="1097971"/>
                <a:gridCol w="2018847"/>
                <a:gridCol w="1404929"/>
                <a:gridCol w="1570214"/>
              </a:tblGrid>
              <a:tr h="2965189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Seguimiento y corrección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>
                          <a:solidFill>
                            <a:srgbClr val="434343"/>
                          </a:solidFill>
                          <a:latin typeface="Montserrat"/>
                        </a:rPr>
                        <a:t>Resolver hallazgos y prevenir regresiones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Gestionar y priorizar las incidencias de accesibilidad dentro de cada sprint.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Validar las correcciones aplicadas antes del cierre de cada iteración.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Documentar cambios y mantener trazabilidad de los tickets.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Coordinar revisiones cruzadas entre diseño, desarrollo y QA.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QA, </a:t>
                      </a:r>
                      <a:r>
                        <a:rPr lang="es-ES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Dev</a:t>
                      </a:r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, UX Lead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Jira/</a:t>
                      </a:r>
                      <a:r>
                        <a:rPr lang="es-ES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Trello</a:t>
                      </a:r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/</a:t>
                      </a:r>
                      <a:r>
                        <a:rPr lang="es-ES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Asana</a:t>
                      </a:r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 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81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Modelo operativo de accesibilidad – Evaluación continua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714348" y="2571745"/>
          <a:ext cx="7715303" cy="3643338"/>
        </p:xfrm>
        <a:graphic>
          <a:graphicData uri="http://schemas.openxmlformats.org/drawingml/2006/table">
            <a:tbl>
              <a:tblPr/>
              <a:tblGrid>
                <a:gridCol w="1285884"/>
                <a:gridCol w="1214446"/>
                <a:gridCol w="2239830"/>
                <a:gridCol w="1404929"/>
                <a:gridCol w="1570214"/>
              </a:tblGrid>
              <a:tr h="3643338"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1" dirty="0">
                          <a:solidFill>
                            <a:srgbClr val="434343"/>
                          </a:solidFill>
                          <a:latin typeface="Montserrat"/>
                        </a:rPr>
                        <a:t>Evaluación continua y mejora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Mantener la accesibilidad activa y medir madurez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Realizar </a:t>
                      </a:r>
                      <a:r>
                        <a:rPr lang="es-MX" sz="1000" b="0" dirty="0" err="1">
                          <a:solidFill>
                            <a:srgbClr val="434343"/>
                          </a:solidFill>
                          <a:latin typeface="Montserrat"/>
                        </a:rPr>
                        <a:t>testeos</a:t>
                      </a: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 periódicos por muestra de páginas o flujos de interacción.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Programar auditorías internas y externas de accesibilidad.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Analizar indicadores e informes trimestrales para detectar áreas de mejora.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Actualizar guías, librerías y procesos según nuevas versiones de WCAG o hallazgos.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Promover la formación continua del equipo y el intercambio de buenas prácticas.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• Consolidar aprendizajes y casos internos para fortalecer la cultura de accesibilidad.</a:t>
                      </a:r>
                      <a:br>
                        <a:rPr lang="es-MX" sz="1000" b="0" dirty="0">
                          <a:solidFill>
                            <a:srgbClr val="434343"/>
                          </a:solidFill>
                          <a:latin typeface="Montserrat"/>
                        </a:rPr>
                      </a:br>
                      <a:endParaRPr lang="es-MX" sz="10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ES" sz="1000" b="0" dirty="0">
                          <a:solidFill>
                            <a:srgbClr val="434343"/>
                          </a:solidFill>
                          <a:latin typeface="Montserrat"/>
                        </a:rPr>
                        <a:t>PMO, Referente de Accesibilidad</a:t>
                      </a: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MX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Reporte trimestral de accesibilidad | </a:t>
                      </a:r>
                      <a:r>
                        <a:rPr lang="es-MX" sz="1000" b="0" i="0" u="sng" dirty="0">
                          <a:solidFill>
                            <a:srgbClr val="1155CC"/>
                          </a:solidFill>
                          <a:latin typeface="Montserrat"/>
                          <a:hlinkClick r:id="" action="ppaction://hlinkfile"/>
                        </a:rPr>
                        <a:t>Panel de resultados</a:t>
                      </a:r>
                      <a:r>
                        <a:rPr lang="es-MX" sz="1000" b="0" i="0" dirty="0">
                          <a:solidFill>
                            <a:srgbClr val="434343"/>
                          </a:solidFill>
                          <a:latin typeface="Montserrat"/>
                        </a:rPr>
                        <a:t> | Plan de acción de mejoras</a:t>
                      </a:r>
                      <a:endParaRPr lang="es-MX" sz="10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marL="12668" marR="12668" marT="3167" marB="316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– Documentación tipografía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35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t="22461" r="47291" b="35778"/>
          <a:stretch>
            <a:fillRect/>
          </a:stretch>
        </p:blipFill>
        <p:spPr bwMode="auto">
          <a:xfrm>
            <a:off x="428596" y="2071678"/>
            <a:ext cx="7858148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– Documentación identidad visual y paleta 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36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t="22159" r="47291" b="70170"/>
          <a:stretch>
            <a:fillRect/>
          </a:stretch>
        </p:blipFill>
        <p:spPr bwMode="auto">
          <a:xfrm>
            <a:off x="1000100" y="2500306"/>
            <a:ext cx="7858148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t="63921" r="47291" b="6250"/>
          <a:stretch>
            <a:fillRect/>
          </a:stretch>
        </p:blipFill>
        <p:spPr bwMode="auto">
          <a:xfrm>
            <a:off x="1000100" y="3071834"/>
            <a:ext cx="7858148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– Documentación por componente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37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2"/>
          <a:srcRect l="29649" t="49805" r="40153" b="6250"/>
          <a:stretch>
            <a:fillRect/>
          </a:stretch>
        </p:blipFill>
        <p:spPr bwMode="auto">
          <a:xfrm>
            <a:off x="571472" y="2357430"/>
            <a:ext cx="3929090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9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-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Documentacioón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38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/>
          <a:srcRect l="29136" t="36328" r="30783" b="11914"/>
          <a:stretch>
            <a:fillRect/>
          </a:stretch>
        </p:blipFill>
        <p:spPr bwMode="auto">
          <a:xfrm>
            <a:off x="214282" y="2428868"/>
            <a:ext cx="3837434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3"/>
          <a:srcRect l="29648" t="43945" r="31369" b="29687"/>
          <a:stretch>
            <a:fillRect/>
          </a:stretch>
        </p:blipFill>
        <p:spPr bwMode="auto">
          <a:xfrm>
            <a:off x="4071902" y="2285992"/>
            <a:ext cx="507209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0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- Documentación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39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/>
          <a:srcRect l="29100" t="50781" r="36310" b="12109"/>
          <a:stretch>
            <a:fillRect/>
          </a:stretch>
        </p:blipFill>
        <p:spPr bwMode="auto">
          <a:xfrm>
            <a:off x="571472" y="2357430"/>
            <a:ext cx="450059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3"/>
          <a:srcRect l="29136" t="52930" r="34627" b="14843"/>
          <a:stretch>
            <a:fillRect/>
          </a:stretch>
        </p:blipFill>
        <p:spPr bwMode="auto">
          <a:xfrm>
            <a:off x="3929058" y="3071810"/>
            <a:ext cx="471490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0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En Diseño - Documentación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40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/>
          <a:srcRect l="21413" t="37109" r="29722" b="9179"/>
          <a:stretch>
            <a:fillRect/>
          </a:stretch>
        </p:blipFill>
        <p:spPr bwMode="auto">
          <a:xfrm>
            <a:off x="785786" y="2214554"/>
            <a:ext cx="6357950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9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58" y="1623398"/>
            <a:ext cx="38284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2000" b="1" spc="-10" smtClean="0">
                <a:solidFill>
                  <a:srgbClr val="497BBA"/>
                </a:solidFill>
                <a:latin typeface="Trebuchet MS"/>
                <a:cs typeface="Trebuchet MS"/>
              </a:rPr>
              <a:t>Prototipación</a:t>
            </a: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 - Validar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41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2196" t="25390" r="8309" b="10156"/>
          <a:stretch>
            <a:fillRect/>
          </a:stretch>
        </p:blipFill>
        <p:spPr bwMode="auto">
          <a:xfrm>
            <a:off x="357158" y="3071810"/>
            <a:ext cx="8645080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10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464" y="1623390"/>
            <a:ext cx="8201025" cy="3472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Diseño - accesibilidad en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user</a:t>
            </a: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stories</a:t>
            </a:r>
            <a:endParaRPr sz="200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tabLst>
                <a:tab pos="371475" algn="l"/>
              </a:tabLst>
            </a:pPr>
            <a:endParaRPr lang="es-MX" sz="1900" dirty="0" smtClean="0">
              <a:latin typeface="Arial"/>
              <a:cs typeface="Arial"/>
            </a:endParaRPr>
          </a:p>
          <a:p>
            <a:pPr rtl="0">
              <a:buFont typeface="Arial" pitchFamily="34" charset="0"/>
              <a:buChar char="•"/>
            </a:pPr>
            <a:r>
              <a:rPr lang="es-MX" sz="2000" b="1" dirty="0" smtClean="0">
                <a:latin typeface="+mn-lt"/>
              </a:rPr>
              <a:t>Flujo </a:t>
            </a:r>
            <a:r>
              <a:rPr lang="es-MX" sz="2000" b="1" dirty="0" err="1">
                <a:latin typeface="+mn-lt"/>
              </a:rPr>
              <a:t>login</a:t>
            </a:r>
            <a:endParaRPr lang="es-MX" sz="2000" b="1" dirty="0" smtClean="0">
              <a:latin typeface="+mn-lt"/>
            </a:endParaRPr>
          </a:p>
          <a:p>
            <a:pPr rtl="0" fontAlgn="base"/>
            <a:r>
              <a:rPr lang="es-MX" sz="2000" b="1" dirty="0">
                <a:latin typeface="+mn-lt"/>
              </a:rPr>
              <a:t>Título: </a:t>
            </a:r>
            <a:r>
              <a:rPr lang="es-MX" sz="2000" dirty="0">
                <a:latin typeface="+mn-lt"/>
              </a:rPr>
              <a:t>Estructurar semánticamente la pantalla de </a:t>
            </a:r>
            <a:r>
              <a:rPr lang="es-MX" sz="2000" dirty="0" err="1">
                <a:latin typeface="+mn-lt"/>
              </a:rPr>
              <a:t>login</a:t>
            </a:r>
            <a:endParaRPr lang="es-MX" sz="2000" b="1" dirty="0">
              <a:latin typeface="+mn-lt"/>
            </a:endParaRPr>
          </a:p>
          <a:p>
            <a:pPr rtl="0" fontAlgn="base"/>
            <a:r>
              <a:rPr lang="es-MX" sz="2000" b="1" dirty="0">
                <a:latin typeface="+mn-lt"/>
              </a:rPr>
              <a:t>Descripción: </a:t>
            </a:r>
          </a:p>
          <a:p>
            <a:pPr rtl="0"/>
            <a:r>
              <a:rPr lang="es-MX" sz="2000" b="1" dirty="0">
                <a:latin typeface="+mn-lt"/>
              </a:rPr>
              <a:t>Yo como</a:t>
            </a:r>
            <a:r>
              <a:rPr lang="es-MX" sz="2000" dirty="0">
                <a:latin typeface="+mn-lt"/>
              </a:rPr>
              <a:t> persona usuaria del Home </a:t>
            </a:r>
            <a:r>
              <a:rPr lang="es-MX" sz="2000" dirty="0" err="1">
                <a:latin typeface="+mn-lt"/>
              </a:rPr>
              <a:t>Banking</a:t>
            </a:r>
            <a:r>
              <a:rPr lang="es-MX" sz="2000" dirty="0">
                <a:latin typeface="+mn-lt"/>
              </a:rPr>
              <a:t>,</a:t>
            </a:r>
            <a:endParaRPr lang="es-MX" sz="2000" dirty="0" smtClean="0">
              <a:latin typeface="+mn-lt"/>
            </a:endParaRPr>
          </a:p>
          <a:p>
            <a:pPr rtl="0"/>
            <a:r>
              <a:rPr lang="es-MX" sz="2000" b="1" dirty="0">
                <a:latin typeface="+mn-lt"/>
              </a:rPr>
              <a:t>Quiero</a:t>
            </a:r>
            <a:r>
              <a:rPr lang="es-MX" sz="2000" dirty="0">
                <a:latin typeface="+mn-lt"/>
              </a:rPr>
              <a:t> que la pantalla de </a:t>
            </a:r>
            <a:r>
              <a:rPr lang="es-MX" sz="2000" dirty="0" err="1">
                <a:latin typeface="+mn-lt"/>
              </a:rPr>
              <a:t>login</a:t>
            </a:r>
            <a:r>
              <a:rPr lang="es-MX" sz="2000" dirty="0">
                <a:latin typeface="+mn-lt"/>
              </a:rPr>
              <a:t> tenga una estructura clara y comprensible,</a:t>
            </a:r>
            <a:endParaRPr lang="es-MX" sz="2000" dirty="0" smtClean="0">
              <a:latin typeface="+mn-lt"/>
            </a:endParaRPr>
          </a:p>
          <a:p>
            <a:pPr rtl="0"/>
            <a:r>
              <a:rPr lang="es-MX" sz="2000" b="1" dirty="0">
                <a:latin typeface="+mn-lt"/>
              </a:rPr>
              <a:t>Para</a:t>
            </a:r>
            <a:r>
              <a:rPr lang="es-MX" sz="2000" dirty="0">
                <a:latin typeface="+mn-lt"/>
              </a:rPr>
              <a:t> poder orientarme correctamente y acceder al formulario de inicio de sesión usando distintas formas de navegación, incluyendo lector de pantalla. </a:t>
            </a:r>
            <a:endParaRPr lang="es-MX" sz="2000" dirty="0" smtClean="0">
              <a:latin typeface="+mn-lt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42</a:t>
            </a:fld>
            <a:endParaRPr spc="-25" dirty="0">
              <a:latin typeface="Arial"/>
              <a:cs typeface="Arial"/>
            </a:endParaRPr>
          </a:p>
        </p:txBody>
      </p:sp>
      <p:pic>
        <p:nvPicPr>
          <p:cNvPr id="7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8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57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Diseño - accesibilidad en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user</a:t>
            </a: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stories</a:t>
            </a:r>
            <a:endParaRPr lang="es-MX" sz="2000" dirty="0" smtClean="0">
              <a:latin typeface="Trebuchet MS"/>
              <a:cs typeface="Trebuchet MS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r>
              <a:rPr lang="es-MX" sz="2000" b="1" dirty="0" smtClean="0">
                <a:latin typeface="+mn-lt"/>
              </a:rPr>
              <a:t>Criterios </a:t>
            </a:r>
            <a:r>
              <a:rPr lang="es-MX" sz="2000" b="1" dirty="0">
                <a:latin typeface="+mn-lt"/>
              </a:rPr>
              <a:t>de aceptación de accesibilidad </a:t>
            </a:r>
            <a:endParaRPr lang="es-MX" sz="2000" b="1" dirty="0" smtClean="0">
              <a:latin typeface="+mn-lt"/>
            </a:endParaRPr>
          </a:p>
          <a:p>
            <a:pPr rtl="0" fontAlgn="base"/>
            <a:r>
              <a:rPr lang="es-MX" sz="2000" b="1" dirty="0">
                <a:latin typeface="+mn-lt"/>
              </a:rPr>
              <a:t>Dado que </a:t>
            </a:r>
            <a:r>
              <a:rPr lang="es-MX" sz="2000" dirty="0">
                <a:latin typeface="+mn-lt"/>
              </a:rPr>
              <a:t>la persona usuaria accede a la pantalla de </a:t>
            </a:r>
            <a:r>
              <a:rPr lang="es-MX" sz="2000" dirty="0" err="1">
                <a:latin typeface="+mn-lt"/>
              </a:rPr>
              <a:t>login</a:t>
            </a:r>
            <a:r>
              <a:rPr lang="es-MX" sz="2000" dirty="0">
                <a:latin typeface="+mn-lt"/>
              </a:rPr>
              <a:t>,</a:t>
            </a:r>
          </a:p>
          <a:p>
            <a:pPr rtl="0"/>
            <a:r>
              <a:rPr lang="es-MX" sz="2000" b="1" dirty="0">
                <a:latin typeface="+mn-lt"/>
              </a:rPr>
              <a:t>Cuando</a:t>
            </a:r>
            <a:r>
              <a:rPr lang="es-MX" sz="2000" dirty="0">
                <a:latin typeface="+mn-lt"/>
              </a:rPr>
              <a:t> la página termina de cargar,</a:t>
            </a:r>
            <a:endParaRPr lang="es-MX" sz="2000" dirty="0" smtClean="0">
              <a:latin typeface="+mn-lt"/>
            </a:endParaRPr>
          </a:p>
          <a:p>
            <a:pPr rtl="0">
              <a:spcAft>
                <a:spcPts val="1000"/>
              </a:spcAft>
            </a:pPr>
            <a:r>
              <a:rPr lang="es-MX" sz="2000" b="1" dirty="0">
                <a:latin typeface="+mn-lt"/>
              </a:rPr>
              <a:t>Entonces</a:t>
            </a:r>
            <a:r>
              <a:rPr lang="es-MX" sz="2000" dirty="0">
                <a:latin typeface="+mn-lt"/>
              </a:rPr>
              <a:t> debe existir un título principal único que identifique claramente la pantalla, por ejemplo: “</a:t>
            </a:r>
            <a:r>
              <a:rPr lang="es-MX" sz="2000" dirty="0" err="1">
                <a:latin typeface="+mn-lt"/>
              </a:rPr>
              <a:t>Ingresá</a:t>
            </a:r>
            <a:r>
              <a:rPr lang="es-MX" sz="2000" dirty="0">
                <a:latin typeface="+mn-lt"/>
              </a:rPr>
              <a:t> a tu cuenta”.</a:t>
            </a:r>
            <a:endParaRPr lang="es-MX" sz="2000" dirty="0" smtClean="0">
              <a:latin typeface="+mn-lt"/>
            </a:endParaRPr>
          </a:p>
          <a:p>
            <a:pPr rtl="0" fontAlgn="base"/>
            <a:r>
              <a:rPr lang="es-MX" sz="2000" b="1" dirty="0">
                <a:latin typeface="+mn-lt"/>
              </a:rPr>
              <a:t>Dado</a:t>
            </a:r>
            <a:r>
              <a:rPr lang="es-MX" sz="2000" dirty="0">
                <a:latin typeface="+mn-lt"/>
              </a:rPr>
              <a:t> que la persona usuaria navega la pantalla con lector de pantalla,</a:t>
            </a:r>
          </a:p>
          <a:p>
            <a:pPr rtl="0"/>
            <a:r>
              <a:rPr lang="es-MX" sz="2000" b="1" dirty="0">
                <a:latin typeface="+mn-lt"/>
              </a:rPr>
              <a:t>Cuando</a:t>
            </a:r>
            <a:r>
              <a:rPr lang="es-MX" sz="2000" dirty="0">
                <a:latin typeface="+mn-lt"/>
              </a:rPr>
              <a:t> recorre la estructura de encabezados,</a:t>
            </a:r>
            <a:endParaRPr lang="es-MX" sz="2000" dirty="0" smtClean="0">
              <a:latin typeface="+mn-lt"/>
            </a:endParaRPr>
          </a:p>
          <a:p>
            <a:pPr rtl="0">
              <a:spcAft>
                <a:spcPts val="1000"/>
              </a:spcAft>
            </a:pPr>
            <a:r>
              <a:rPr lang="es-MX" sz="2000" b="1" dirty="0">
                <a:latin typeface="+mn-lt"/>
              </a:rPr>
              <a:t>Entonces</a:t>
            </a:r>
            <a:r>
              <a:rPr lang="es-MX" sz="2000" dirty="0">
                <a:latin typeface="+mn-lt"/>
              </a:rPr>
              <a:t> la jerarquía debe ser lógica, sin saltos innecesarios y con un único encabezado principal</a:t>
            </a:r>
            <a:r>
              <a:rPr lang="es-MX" sz="2000" dirty="0" smtClean="0">
                <a:latin typeface="+mn-lt"/>
              </a:rPr>
              <a:t>.</a:t>
            </a:r>
          </a:p>
          <a:p>
            <a:pPr rtl="0" fontAlgn="base"/>
            <a:r>
              <a:rPr lang="es-MX" sz="2000" b="1" dirty="0">
                <a:latin typeface="+mn-lt"/>
              </a:rPr>
              <a:t>Dado </a:t>
            </a:r>
            <a:r>
              <a:rPr lang="es-MX" sz="2000" dirty="0">
                <a:latin typeface="+mn-lt"/>
              </a:rPr>
              <a:t>que la persona usuaria navega por regiones o </a:t>
            </a:r>
            <a:r>
              <a:rPr lang="es-MX" sz="2000" dirty="0" err="1">
                <a:latin typeface="+mn-lt"/>
              </a:rPr>
              <a:t>landmarks</a:t>
            </a:r>
            <a:r>
              <a:rPr lang="es-MX" sz="2000" dirty="0">
                <a:latin typeface="+mn-lt"/>
              </a:rPr>
              <a:t>,</a:t>
            </a:r>
          </a:p>
          <a:p>
            <a:pPr rtl="0"/>
            <a:r>
              <a:rPr lang="es-MX" sz="2000" b="1" dirty="0">
                <a:latin typeface="+mn-lt"/>
              </a:rPr>
              <a:t>Cuando </a:t>
            </a:r>
            <a:r>
              <a:rPr lang="es-MX" sz="2000" dirty="0">
                <a:latin typeface="+mn-lt"/>
              </a:rPr>
              <a:t>accede al contenido principal,</a:t>
            </a:r>
          </a:p>
          <a:p>
            <a:pPr rtl="0">
              <a:spcAft>
                <a:spcPts val="1000"/>
              </a:spcAft>
            </a:pPr>
            <a:r>
              <a:rPr lang="es-MX" sz="2000" b="1" dirty="0">
                <a:latin typeface="+mn-lt"/>
              </a:rPr>
              <a:t>Entonces</a:t>
            </a:r>
            <a:r>
              <a:rPr lang="es-MX" sz="2000" dirty="0">
                <a:latin typeface="+mn-lt"/>
              </a:rPr>
              <a:t> el formulario de </a:t>
            </a:r>
            <a:r>
              <a:rPr lang="es-MX" sz="2000" dirty="0" err="1">
                <a:latin typeface="+mn-lt"/>
              </a:rPr>
              <a:t>login</a:t>
            </a:r>
            <a:r>
              <a:rPr lang="es-MX" sz="2000" dirty="0">
                <a:latin typeface="+mn-lt"/>
              </a:rPr>
              <a:t> debe estar contenido dentro de una región principal identificable.</a:t>
            </a:r>
          </a:p>
          <a:p>
            <a:pPr rtl="0"/>
            <a:endParaRPr lang="es-MX" sz="2000" dirty="0" smtClean="0">
              <a:latin typeface="+mn-lt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76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Diseño - accesibilidad en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user</a:t>
            </a: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 </a:t>
            </a:r>
            <a:r>
              <a:rPr lang="es-MX" sz="2000" b="1" spc="-10" dirty="0" err="1" smtClean="0">
                <a:solidFill>
                  <a:srgbClr val="497BBA"/>
                </a:solidFill>
                <a:latin typeface="Trebuchet MS"/>
                <a:cs typeface="Trebuchet MS"/>
              </a:rPr>
              <a:t>stories</a:t>
            </a:r>
            <a:endParaRPr lang="es-MX" sz="2000" dirty="0" smtClean="0">
              <a:latin typeface="Trebuchet MS"/>
              <a:cs typeface="Trebuchet MS"/>
            </a:endParaRPr>
          </a:p>
          <a:p>
            <a:pPr rtl="0" fontAlgn="base"/>
            <a:endParaRPr lang="es-MX" sz="2000" b="1" dirty="0" smtClean="0"/>
          </a:p>
          <a:p>
            <a:pPr rtl="0" fontAlgn="base"/>
            <a:r>
              <a:rPr lang="es-MX" sz="2000" b="1" dirty="0" smtClean="0">
                <a:latin typeface="+mn-lt"/>
              </a:rPr>
              <a:t>Dado </a:t>
            </a:r>
            <a:r>
              <a:rPr lang="es-MX" sz="2000" dirty="0">
                <a:latin typeface="+mn-lt"/>
              </a:rPr>
              <a:t>que la pantalla contiene un formulario de inicio de sesión,</a:t>
            </a:r>
          </a:p>
          <a:p>
            <a:pPr rtl="0"/>
            <a:r>
              <a:rPr lang="es-MX" sz="2000" b="1" dirty="0">
                <a:latin typeface="+mn-lt"/>
              </a:rPr>
              <a:t>Cuando</a:t>
            </a:r>
            <a:r>
              <a:rPr lang="es-MX" sz="2000" dirty="0">
                <a:latin typeface="+mn-lt"/>
              </a:rPr>
              <a:t> la persona usuaria navega los campos,</a:t>
            </a:r>
            <a:endParaRPr lang="es-MX" sz="2000" dirty="0" smtClean="0">
              <a:latin typeface="+mn-lt"/>
            </a:endParaRPr>
          </a:p>
          <a:p>
            <a:pPr rtl="0">
              <a:spcAft>
                <a:spcPts val="1000"/>
              </a:spcAft>
            </a:pPr>
            <a:r>
              <a:rPr lang="es-MX" sz="2000" b="1" dirty="0">
                <a:latin typeface="+mn-lt"/>
              </a:rPr>
              <a:t>Entonces</a:t>
            </a:r>
            <a:r>
              <a:rPr lang="es-MX" sz="2000" dirty="0">
                <a:latin typeface="+mn-lt"/>
              </a:rPr>
              <a:t> los campos “Usuario” y “Clave” deben estar agrupados de forma lógica y asociados a sus etiquetas visibles.</a:t>
            </a:r>
            <a:endParaRPr lang="es-MX" sz="2000" dirty="0" smtClean="0">
              <a:latin typeface="+mn-lt"/>
            </a:endParaRPr>
          </a:p>
          <a:p>
            <a:pPr rtl="0" fontAlgn="base"/>
            <a:r>
              <a:rPr lang="es-MX" sz="2000" b="1" dirty="0">
                <a:latin typeface="+mn-lt"/>
              </a:rPr>
              <a:t>Dado</a:t>
            </a:r>
            <a:r>
              <a:rPr lang="es-MX" sz="2000" dirty="0">
                <a:latin typeface="+mn-lt"/>
              </a:rPr>
              <a:t> que existen enlaces complementarios como recuperación de usuario o clave,</a:t>
            </a:r>
          </a:p>
          <a:p>
            <a:pPr rtl="0"/>
            <a:r>
              <a:rPr lang="es-MX" sz="2000" b="1" dirty="0">
                <a:latin typeface="+mn-lt"/>
              </a:rPr>
              <a:t>Cuando</a:t>
            </a:r>
            <a:r>
              <a:rPr lang="es-MX" sz="2000" dirty="0">
                <a:latin typeface="+mn-lt"/>
              </a:rPr>
              <a:t> la persona usuaria navega la pantalla,</a:t>
            </a:r>
            <a:endParaRPr lang="es-MX" sz="2000" dirty="0" smtClean="0">
              <a:latin typeface="+mn-lt"/>
            </a:endParaRPr>
          </a:p>
          <a:p>
            <a:pPr rtl="0">
              <a:spcAft>
                <a:spcPts val="1000"/>
              </a:spcAft>
            </a:pPr>
            <a:r>
              <a:rPr lang="es-MX" sz="2000" b="1" dirty="0">
                <a:latin typeface="+mn-lt"/>
              </a:rPr>
              <a:t>Entonces</a:t>
            </a:r>
            <a:r>
              <a:rPr lang="es-MX" sz="2000" dirty="0">
                <a:latin typeface="+mn-lt"/>
              </a:rPr>
              <a:t> esos enlaces deben estar ubicados en una sección coherente y posterior al formulario principal.</a:t>
            </a:r>
            <a:endParaRPr lang="es-MX" sz="2000" dirty="0" smtClean="0">
              <a:latin typeface="+mn-lt"/>
            </a:endParaRPr>
          </a:p>
          <a:p>
            <a:pPr rtl="0"/>
            <a:r>
              <a:rPr lang="es-MX" sz="2000" b="1" dirty="0">
                <a:latin typeface="+mn-lt"/>
              </a:rPr>
              <a:t>Criterios WCAG relacionados:</a:t>
            </a:r>
            <a:r>
              <a:rPr lang="es-MX" sz="2000" dirty="0">
                <a:latin typeface="+mn-lt"/>
              </a:rPr>
              <a:t> 1.3.1 Información y relaciones, 2.4.2 Titulado de páginas, 2.4.6 Encabezados y etiquetas, 4.1.2 Nombre, función y valor.</a:t>
            </a:r>
            <a:endParaRPr lang="es-MX" sz="2000" dirty="0" smtClean="0">
              <a:latin typeface="+mn-lt"/>
            </a:endParaRPr>
          </a:p>
          <a:p>
            <a:pPr marL="371475" marR="607695" indent="-359410">
              <a:lnSpc>
                <a:spcPct val="118400"/>
              </a:lnSpc>
              <a:spcBef>
                <a:spcPts val="1185"/>
              </a:spcBef>
              <a:buClr>
                <a:srgbClr val="410082"/>
              </a:buClr>
              <a:buSzPct val="63157"/>
              <a:buChar char="■"/>
              <a:tabLst>
                <a:tab pos="371475" algn="l"/>
              </a:tabLst>
            </a:pPr>
            <a:endParaRPr sz="1900">
              <a:latin typeface="+mn-lt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DCU y accesibilidad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4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sz="2000">
              <a:latin typeface="Trebuchet MS"/>
              <a:cs typeface="Trebuchet MS"/>
            </a:endParaRPr>
          </a:p>
          <a:p>
            <a:pPr rtl="0" fontAlgn="base"/>
            <a:r>
              <a:rPr lang="es-MX" sz="2000" b="1" dirty="0" smtClean="0">
                <a:latin typeface="+mn-lt"/>
              </a:rPr>
              <a:t>Estructura </a:t>
            </a:r>
            <a:r>
              <a:rPr lang="es-MX" sz="2000" b="1" dirty="0">
                <a:latin typeface="+mn-lt"/>
              </a:rPr>
              <a:t>y semántica</a:t>
            </a:r>
          </a:p>
          <a:p>
            <a:pPr rtl="0"/>
            <a:r>
              <a:rPr lang="es-MX" sz="2000" dirty="0">
                <a:latin typeface="+mn-lt"/>
              </a:rPr>
              <a:t>Debe indicarse la estructura esperada de la pantalla o componente:</a:t>
            </a:r>
            <a:endParaRPr lang="es-MX" sz="2000" dirty="0" smtClean="0">
              <a:latin typeface="+mn-lt"/>
            </a:endParaRP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Título principal de la página o vista.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Jerarquía de encabezados.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Agrupación de contenidos.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Uso esperado de listas, tablas, formularios o regiones.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Identificación de contenido dinámico, modales, paneles desplegables o mensajes de estado.</a:t>
            </a:r>
          </a:p>
          <a:p>
            <a:pPr rtl="0">
              <a:spcAft>
                <a:spcPts val="1000"/>
              </a:spcAft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Esto ayuda a que el desarrollo no dependa solo de la apariencia visual, sino también de una estructura comprensible para tecnologías de asistencia.</a:t>
            </a:r>
            <a:endParaRPr lang="es-MX" sz="2000" dirty="0" smtClean="0">
              <a:latin typeface="+mn-lt"/>
            </a:endParaRPr>
          </a:p>
          <a:p>
            <a:pPr rtl="0"/>
            <a:r>
              <a:rPr lang="es-MX" sz="2000" b="1" dirty="0">
                <a:latin typeface="+mn-lt"/>
              </a:rPr>
              <a:t>Criterios WCAG relacionados: </a:t>
            </a:r>
            <a:r>
              <a:rPr lang="es-MX" sz="2000" dirty="0">
                <a:latin typeface="+mn-lt"/>
              </a:rPr>
              <a:t>1.3.1 Información y relaciones, 2.4.6 Encabezados y etiquetas.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413521"/>
            <a:ext cx="69778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5078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rtl="0" fontAlgn="base"/>
            <a:r>
              <a:rPr lang="es-MX" sz="2000" b="1" dirty="0" smtClean="0">
                <a:latin typeface="+mn-lt"/>
              </a:rPr>
              <a:t>Comportamiento </a:t>
            </a:r>
            <a:r>
              <a:rPr lang="es-MX" sz="2000" b="1" dirty="0">
                <a:latin typeface="+mn-lt"/>
              </a:rPr>
              <a:t>con teclado</a:t>
            </a:r>
          </a:p>
          <a:p>
            <a:pPr rtl="0"/>
            <a:r>
              <a:rPr lang="es-MX" sz="2000" dirty="0">
                <a:latin typeface="+mn-lt"/>
              </a:rPr>
              <a:t>Cada flujo debe documentar cómo se navega y opera con teclado:</a:t>
            </a:r>
            <a:endParaRPr lang="es-MX" sz="2000" dirty="0" smtClean="0">
              <a:latin typeface="+mn-lt"/>
            </a:endParaRP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Orden esperado de tabulación.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Elementos que deben recibir foco.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Foco inicial en modales, paneles o pasos nuevos.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Recorrido cíclico del foco cuando corresponda.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Posibilidad de cierre mediante teclado.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Retorno del foco al elemento que invocó la acción una vez cerrado el modal, panel o componente dinámico.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Ausencia de trampas de teclado.</a:t>
            </a:r>
          </a:p>
          <a:p>
            <a:pPr rtl="0" fontAlgn="base">
              <a:spcAft>
                <a:spcPts val="1000"/>
              </a:spcAft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Correspondencia entre la secuencia visual y la secuencia de navegación por teclado.</a:t>
            </a:r>
          </a:p>
          <a:p>
            <a:pPr rtl="0"/>
            <a:r>
              <a:rPr lang="es-MX" sz="2000" b="1" dirty="0">
                <a:latin typeface="+mn-lt"/>
              </a:rPr>
              <a:t>Criterios WCAG relacionados: </a:t>
            </a:r>
            <a:r>
              <a:rPr lang="es-MX" sz="2000" dirty="0">
                <a:latin typeface="+mn-lt"/>
              </a:rPr>
              <a:t>2.1.1 Teclado, 2.1.2 Sin trampas de teclado, 2.4.3 Orden del foco, 2.4.7 Foco visible.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7763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757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</a:t>
            </a:r>
          </a:p>
          <a:p>
            <a:pPr rtl="0" fontAlgn="base"/>
            <a:endParaRPr lang="es-MX" sz="2000" b="1" dirty="0" smtClean="0">
              <a:latin typeface="+mn-lt"/>
            </a:endParaRPr>
          </a:p>
          <a:p>
            <a:pPr rtl="0" fontAlgn="base"/>
            <a:r>
              <a:rPr lang="es-MX" sz="2000" b="1" dirty="0" smtClean="0">
                <a:latin typeface="+mn-lt"/>
              </a:rPr>
              <a:t>Formularios y validaciones</a:t>
            </a:r>
          </a:p>
          <a:p>
            <a:pPr rtl="0"/>
            <a:r>
              <a:rPr lang="es-MX" sz="2000" dirty="0" smtClean="0">
                <a:latin typeface="+mn-lt"/>
              </a:rPr>
              <a:t>En </a:t>
            </a:r>
            <a:r>
              <a:rPr lang="es-MX" sz="2000" dirty="0">
                <a:latin typeface="+mn-lt"/>
              </a:rPr>
              <a:t>formularios, es importante especificar:</a:t>
            </a:r>
            <a:endParaRPr lang="es-MX" sz="2000" dirty="0" smtClean="0">
              <a:latin typeface="+mn-lt"/>
            </a:endParaRP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Etiquetas visibles y programáticamente asociadas.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Instrucciones necesarias antes de completar el campo.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Campos obligatorios.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Formato esperado de los datos.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Mensajes de error específicos.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Ubicación del error.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Asociación del error con el campo.</a:t>
            </a:r>
          </a:p>
          <a:p>
            <a:pPr rtl="0" fontAlgn="base">
              <a:spcAft>
                <a:spcPts val="1000"/>
              </a:spcAft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Anuncio de errores o mensajes dinámicos al lector de pantalla.</a:t>
            </a:r>
          </a:p>
          <a:p>
            <a:pPr rtl="0"/>
            <a:r>
              <a:rPr lang="es-MX" sz="2000" b="1" dirty="0">
                <a:latin typeface="+mn-lt"/>
              </a:rPr>
              <a:t>Criterios WCAG relacionados: </a:t>
            </a:r>
            <a:r>
              <a:rPr lang="es-MX" sz="2000" dirty="0">
                <a:latin typeface="+mn-lt"/>
              </a:rPr>
              <a:t>1.3.1 Información y relaciones, 3.3.1 Identificación de errores, 3.3.2 Etiquetas o instrucciones, 3.3.3 Sugerencias ante errores, 4.1.3 Mensajes de estado.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76208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15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sz="2000">
              <a:latin typeface="Trebuchet MS"/>
              <a:cs typeface="Trebuchet MS"/>
            </a:endParaRPr>
          </a:p>
          <a:p>
            <a:pPr rtl="0" fontAlgn="base"/>
            <a:r>
              <a:rPr lang="es-MX" sz="2000" b="1" dirty="0">
                <a:latin typeface="+mn-lt"/>
              </a:rPr>
              <a:t>Nombre, rol y estado de componentes</a:t>
            </a:r>
          </a:p>
          <a:p>
            <a:pPr rtl="0"/>
            <a:r>
              <a:rPr lang="es-MX" sz="2000" dirty="0">
                <a:latin typeface="+mn-lt"/>
              </a:rPr>
              <a:t>Para botones, enlaces, </a:t>
            </a:r>
            <a:r>
              <a:rPr lang="es-MX" sz="2000" dirty="0" err="1">
                <a:latin typeface="+mn-lt"/>
              </a:rPr>
              <a:t>tabs</a:t>
            </a:r>
            <a:r>
              <a:rPr lang="es-MX" sz="2000" dirty="0">
                <a:latin typeface="+mn-lt"/>
              </a:rPr>
              <a:t>, acordeones, modales, menús, </a:t>
            </a:r>
            <a:r>
              <a:rPr lang="es-MX" sz="2000" dirty="0" err="1">
                <a:latin typeface="+mn-lt"/>
              </a:rPr>
              <a:t>cards</a:t>
            </a:r>
            <a:r>
              <a:rPr lang="es-MX" sz="2000" dirty="0">
                <a:latin typeface="+mn-lt"/>
              </a:rPr>
              <a:t> </a:t>
            </a:r>
            <a:r>
              <a:rPr lang="es-MX" sz="2000" dirty="0" err="1">
                <a:latin typeface="+mn-lt"/>
              </a:rPr>
              <a:t>clickeables</a:t>
            </a:r>
            <a:r>
              <a:rPr lang="es-MX" sz="2000" dirty="0">
                <a:latin typeface="+mn-lt"/>
              </a:rPr>
              <a:t>, controles </a:t>
            </a:r>
            <a:r>
              <a:rPr lang="es-MX" sz="2000" dirty="0" err="1">
                <a:latin typeface="+mn-lt"/>
              </a:rPr>
              <a:t>custom</a:t>
            </a:r>
            <a:r>
              <a:rPr lang="es-MX" sz="2000" dirty="0">
                <a:latin typeface="+mn-lt"/>
              </a:rPr>
              <a:t>, etc. debería quedar definido:</a:t>
            </a:r>
            <a:endParaRPr lang="es-MX" sz="2000" dirty="0" smtClean="0">
              <a:latin typeface="+mn-lt"/>
            </a:endParaRP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Qué elemento es interactivo.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Cuál es su nombre accesible.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Qué rol cumple.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Qué estados puede tener: expandido, seleccionado, activo, deshabilitado, error, cargando.</a:t>
            </a:r>
          </a:p>
          <a:p>
            <a:pPr rtl="0" fontAlgn="base">
              <a:spcAft>
                <a:spcPts val="1000"/>
              </a:spcAft>
              <a:buFont typeface="Arial" pitchFamily="34" charset="0"/>
              <a:buChar char="•"/>
            </a:pPr>
            <a:r>
              <a:rPr lang="es-MX" sz="2000" dirty="0">
                <a:latin typeface="+mn-lt"/>
              </a:rPr>
              <a:t>Cómo se comunican esos estados visual y programáticamente.</a:t>
            </a:r>
          </a:p>
          <a:p>
            <a:pPr rtl="0"/>
            <a:r>
              <a:rPr lang="es-MX" sz="2000" b="1" dirty="0">
                <a:latin typeface="+mn-lt"/>
              </a:rPr>
              <a:t>Criterios WCAG relacionados: </a:t>
            </a:r>
            <a:r>
              <a:rPr lang="es-MX" sz="2000" dirty="0">
                <a:latin typeface="+mn-lt"/>
              </a:rPr>
              <a:t>4.1.2 Nombre, función y valor, 2.5.3 Etiqueta en el nombre.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7763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654536" cy="5201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sz="2000" b="1" spc="-10" dirty="0" smtClean="0">
              <a:solidFill>
                <a:srgbClr val="497BBA"/>
              </a:solidFill>
              <a:latin typeface="Trebuchet MS"/>
              <a:cs typeface="Trebuchet MS"/>
            </a:endParaRPr>
          </a:p>
          <a:p>
            <a:pPr rtl="0" fontAlgn="base"/>
            <a:r>
              <a:rPr lang="es-MX" b="1" dirty="0" smtClean="0"/>
              <a:t>Contenido </a:t>
            </a:r>
            <a:r>
              <a:rPr lang="es-MX" b="1" dirty="0"/>
              <a:t>visual y perceptible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 smtClean="0"/>
              <a:t>Textos </a:t>
            </a:r>
            <a:r>
              <a:rPr lang="es-MX" dirty="0"/>
              <a:t>alternativos para imágenes funcionales e imágenes de texto.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Identificación de imágenes decorativas.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Uso no exclusivo del color para estados o información.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Contraste esperado entre texto y </a:t>
            </a:r>
            <a:r>
              <a:rPr lang="es-MX" dirty="0" smtClean="0"/>
              <a:t>fondo (Texto </a:t>
            </a:r>
            <a:r>
              <a:rPr lang="es-MX" dirty="0"/>
              <a:t>normal: mínimo 4.5:1.</a:t>
            </a:r>
          </a:p>
          <a:p>
            <a:pPr lvl="1" rtl="0" fontAlgn="base">
              <a:buFont typeface="Arial" pitchFamily="34" charset="0"/>
              <a:buChar char="•"/>
            </a:pPr>
            <a:r>
              <a:rPr lang="es-MX" dirty="0"/>
              <a:t>Texto grande: mínimo </a:t>
            </a:r>
            <a:r>
              <a:rPr lang="es-MX" dirty="0" smtClean="0"/>
              <a:t>3:1).</a:t>
            </a:r>
            <a:endParaRPr lang="es-MX" dirty="0"/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Contraste de elementos no textuales relevantes: </a:t>
            </a:r>
          </a:p>
          <a:p>
            <a:pPr lvl="1" rtl="0" fontAlgn="base">
              <a:buFont typeface="Arial" pitchFamily="34" charset="0"/>
              <a:buChar char="•"/>
            </a:pPr>
            <a:r>
              <a:rPr lang="es-MX" dirty="0"/>
              <a:t>Bordes de campos.</a:t>
            </a:r>
          </a:p>
          <a:p>
            <a:pPr lvl="1" rtl="0" fontAlgn="base">
              <a:buFont typeface="Arial" pitchFamily="34" charset="0"/>
              <a:buChar char="•"/>
            </a:pPr>
            <a:r>
              <a:rPr lang="es-MX" dirty="0"/>
              <a:t>Indicadores de foco.</a:t>
            </a:r>
          </a:p>
          <a:p>
            <a:pPr lvl="1" rtl="0" fontAlgn="base">
              <a:buFont typeface="Arial" pitchFamily="34" charset="0"/>
              <a:buChar char="•"/>
            </a:pPr>
            <a:r>
              <a:rPr lang="es-MX" dirty="0"/>
              <a:t>Íconos funcionales.</a:t>
            </a:r>
          </a:p>
          <a:p>
            <a:pPr lvl="1" rtl="0" fontAlgn="base">
              <a:buFont typeface="Arial" pitchFamily="34" charset="0"/>
              <a:buChar char="•"/>
            </a:pPr>
            <a:r>
              <a:rPr lang="es-MX" dirty="0"/>
              <a:t>Estados activos, seleccionados o de </a:t>
            </a:r>
            <a:r>
              <a:rPr lang="es-MX" dirty="0" err="1" smtClean="0"/>
              <a:t>error.con</a:t>
            </a:r>
            <a:r>
              <a:rPr lang="es-MX" dirty="0" smtClean="0"/>
              <a:t> un </a:t>
            </a:r>
            <a:r>
              <a:rPr lang="es-MX" dirty="0"/>
              <a:t>contraste mínimo de 3:1 respecto del fondo o elementos adyacentes.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Comportamiento en zoom 200 % y 400 %.</a:t>
            </a:r>
          </a:p>
          <a:p>
            <a:pPr rtl="0" fontAlgn="base">
              <a:spcAft>
                <a:spcPts val="1000"/>
              </a:spcAft>
              <a:buFont typeface="Arial" pitchFamily="34" charset="0"/>
              <a:buChar char="•"/>
            </a:pPr>
            <a:r>
              <a:rPr lang="es-MX" dirty="0"/>
              <a:t>Adaptación </a:t>
            </a:r>
            <a:r>
              <a:rPr lang="es-MX" dirty="0" err="1"/>
              <a:t>responsive</a:t>
            </a:r>
            <a:r>
              <a:rPr lang="es-MX" dirty="0"/>
              <a:t> sin pérdida de contenido.</a:t>
            </a:r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1.1.1 Contenido no textual, 1.4.1 Uso del color, 1.4.3 Contraste mínimo, 1.4.11 Contraste no textual, 1.4.10 Reajuste de elementos.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49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81208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093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Criterios de Aceptación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sz="2000">
              <a:latin typeface="Trebuchet MS"/>
              <a:cs typeface="Trebuchet MS"/>
            </a:endParaRPr>
          </a:p>
          <a:p>
            <a:pPr rtl="0" fontAlgn="base"/>
            <a:r>
              <a:rPr lang="es-MX" b="1" dirty="0"/>
              <a:t>Contenido dinámico</a:t>
            </a:r>
          </a:p>
          <a:p>
            <a:pPr rtl="0"/>
            <a:r>
              <a:rPr lang="es-MX" dirty="0"/>
              <a:t>Para </a:t>
            </a:r>
            <a:r>
              <a:rPr lang="es-MX" dirty="0" smtClean="0"/>
              <a:t>notificaciones, </a:t>
            </a:r>
            <a:r>
              <a:rPr lang="es-MX" dirty="0" err="1"/>
              <a:t>alerts</a:t>
            </a:r>
            <a:r>
              <a:rPr lang="es-MX" dirty="0"/>
              <a:t>, </a:t>
            </a:r>
            <a:r>
              <a:rPr lang="es-MX" dirty="0" err="1"/>
              <a:t>loaders</a:t>
            </a:r>
            <a:r>
              <a:rPr lang="es-MX" dirty="0"/>
              <a:t>, confirmaciones, errores o cambios de estado, debería especificarse:</a:t>
            </a:r>
            <a:endParaRPr lang="es-MX" dirty="0" smtClean="0"/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Cuándo aparece el mensaje.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Si requiere foco o solo anuncio.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Si debe ser leído automáticamente por lector de pantalla.</a:t>
            </a:r>
          </a:p>
          <a:p>
            <a:pPr rtl="0" fontAlgn="base">
              <a:buFont typeface="Arial" pitchFamily="34" charset="0"/>
              <a:buChar char="•"/>
            </a:pPr>
            <a:r>
              <a:rPr lang="es-MX" dirty="0"/>
              <a:t>Si el mensaje desaparece automáticamente o permanece visible.</a:t>
            </a:r>
          </a:p>
          <a:p>
            <a:pPr rtl="0" fontAlgn="base">
              <a:spcAft>
                <a:spcPts val="1000"/>
              </a:spcAft>
              <a:buFont typeface="Arial" pitchFamily="34" charset="0"/>
              <a:buChar char="•"/>
            </a:pPr>
            <a:r>
              <a:rPr lang="es-MX" dirty="0"/>
              <a:t>Si existe una acción de cierre.</a:t>
            </a:r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4.1.3 Mensajes de estado, 2.4.3 Orden del foco, 4.1.2 Nombre, función y valor.</a:t>
            </a:r>
            <a:endParaRPr lang="es-MX" dirty="0" smtClean="0"/>
          </a:p>
          <a:p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81208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Qué documentar antes del desarrollo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860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  <a:endParaRPr sz="2000">
              <a:latin typeface="Trebuchet MS"/>
              <a:cs typeface="Trebuchet MS"/>
            </a:endParaRPr>
          </a:p>
          <a:p>
            <a:pPr rtl="0"/>
            <a:r>
              <a:rPr lang="es-MX" b="1" dirty="0"/>
              <a:t>Criterios mínimos recomendados</a:t>
            </a:r>
            <a:endParaRPr lang="es-MX" b="1" dirty="0" smtClean="0"/>
          </a:p>
          <a:p>
            <a:pPr rtl="0">
              <a:spcAft>
                <a:spcPts val="1000"/>
              </a:spcAft>
            </a:pPr>
            <a:r>
              <a:rPr lang="es-MX" dirty="0"/>
              <a:t>Un flujo debería pasar a testeo cuando:</a:t>
            </a:r>
            <a:endParaRPr lang="es-MX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/>
              <a:t>Toda la funcionalidad puede operarse con teclado: </a:t>
            </a:r>
            <a:r>
              <a:rPr lang="es-MX" dirty="0"/>
              <a:t>La persona puede avanzar, retroceder, abrir, cerrar, seleccionar, enviar y cancelar acciones sin usar mouse.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2.1.1 Teclado. </a:t>
            </a:r>
            <a:endParaRPr lang="es-MX" dirty="0" smtClean="0"/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El foco es visible y sigue un orden lógico: </a:t>
            </a:r>
            <a:r>
              <a:rPr lang="es-MX" dirty="0"/>
              <a:t>El foco debe verse claramente y avanzar según el orden visual y funcional del flujo.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2.4.3 Orden del foco, 2.4.7 Foco visible y 2.4.11 Foco no oculto</a:t>
            </a:r>
            <a:r>
              <a:rPr lang="es-MX" dirty="0" smtClean="0"/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198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  <a:spcAft>
                <a:spcPts val="1000"/>
              </a:spcAft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  <a:endParaRPr sz="2000">
              <a:latin typeface="Trebuchet MS"/>
              <a:cs typeface="Trebuchet MS"/>
            </a:endParaRPr>
          </a:p>
          <a:p>
            <a:pPr rtl="0"/>
            <a:r>
              <a:rPr lang="es-MX" b="1" dirty="0"/>
              <a:t>Criterios mínimos recomendados</a:t>
            </a:r>
            <a:endParaRPr lang="es-MX" b="1" dirty="0" smtClean="0"/>
          </a:p>
          <a:p>
            <a:pPr rtl="0" fontAlgn="base">
              <a:spcAft>
                <a:spcPts val="1000"/>
              </a:spcAft>
            </a:pPr>
            <a:endParaRPr lang="es-MX" b="1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 smtClean="0"/>
              <a:t>Los </a:t>
            </a:r>
            <a:r>
              <a:rPr lang="es-MX" b="1" dirty="0"/>
              <a:t>enlaces y botones describen claramente su propósito: </a:t>
            </a:r>
            <a:r>
              <a:rPr lang="es-MX" dirty="0"/>
              <a:t>Los textos de enlaces y botones deben ser únicos, claros y anticipar correctamente la acción o destino, favoreciendo una navegación coherente hacia la página o sección correspondiente.</a:t>
            </a:r>
            <a:endParaRPr lang="es-MX" b="1" dirty="0"/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2.4.4 Propósito de los enlaces en contexto, 2.4.6 Encabezados y etiquetas, 3.2.4 Identificación consistente y 4.1.2 Nombre, función y valor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5109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b="1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 smtClean="0"/>
              <a:t>No </a:t>
            </a:r>
            <a:r>
              <a:rPr lang="es-MX" b="1" dirty="0"/>
              <a:t>existen trampas de teclado: </a:t>
            </a:r>
            <a:r>
              <a:rPr lang="es-MX" dirty="0"/>
              <a:t>La persona puede salir de modales, menús, calendarios, combos, </a:t>
            </a:r>
            <a:r>
              <a:rPr lang="es-MX" dirty="0" err="1"/>
              <a:t>tooltips</a:t>
            </a:r>
            <a:r>
              <a:rPr lang="es-MX" dirty="0"/>
              <a:t> o componentes </a:t>
            </a:r>
            <a:r>
              <a:rPr lang="es-MX" dirty="0" err="1"/>
              <a:t>custom</a:t>
            </a:r>
            <a:r>
              <a:rPr lang="es-MX" dirty="0"/>
              <a:t> usando teclado.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2.1.2 Sin trampas de teclado.</a:t>
            </a:r>
            <a:endParaRPr lang="es-MX" dirty="0" smtClean="0"/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Los formularios tienen etiquetas e instrucciones claras: </a:t>
            </a:r>
            <a:r>
              <a:rPr lang="es-MX" dirty="0"/>
              <a:t>Cada campo debe tener </a:t>
            </a:r>
            <a:r>
              <a:rPr lang="es-MX" dirty="0" err="1"/>
              <a:t>label</a:t>
            </a:r>
            <a:r>
              <a:rPr lang="es-MX" dirty="0"/>
              <a:t> asociado, instrucciones necesarias y nombre accesible coherente con el texto visible.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1.3.1 Información y relaciones, 3.3.2 Etiquetas o instrucciones, 2.5.3 Etiqueta en el nombre y 4.1.2 Nombre, función y valor</a:t>
            </a:r>
            <a:r>
              <a:rPr lang="es-MX" dirty="0" smtClean="0"/>
              <a:t>.</a:t>
            </a:r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Los errores son claros, específicos y accesibles: </a:t>
            </a:r>
            <a:r>
              <a:rPr lang="es-MX" dirty="0"/>
              <a:t>Deben indicar qué ocurrió, dónde ocurrió y cómo corregirlo. Si aparecen dinámicamente, deben anunciarse correctamente al lector de pantalla.</a:t>
            </a:r>
            <a:endParaRPr lang="es-MX" b="1" dirty="0"/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3.3.1 Identificación de errores, 3.3.3 Sugerencias ante errores y 4.1.3 Mensajes de estado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4832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b="1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 smtClean="0"/>
              <a:t>Los </a:t>
            </a:r>
            <a:r>
              <a:rPr lang="es-MX" b="1" dirty="0"/>
              <a:t>componentes interactivos tienen nombre, rol y estado correctos: </a:t>
            </a:r>
            <a:r>
              <a:rPr lang="es-MX" dirty="0"/>
              <a:t>Botones, links, </a:t>
            </a:r>
            <a:r>
              <a:rPr lang="es-MX" dirty="0" err="1"/>
              <a:t>tabs</a:t>
            </a:r>
            <a:r>
              <a:rPr lang="es-MX" dirty="0"/>
              <a:t>, acordeones, menús y </a:t>
            </a:r>
            <a:r>
              <a:rPr lang="es-MX" dirty="0" err="1"/>
              <a:t>cards</a:t>
            </a:r>
            <a:r>
              <a:rPr lang="es-MX" dirty="0"/>
              <a:t> </a:t>
            </a:r>
            <a:r>
              <a:rPr lang="es-MX" dirty="0" err="1"/>
              <a:t>clickeables</a:t>
            </a:r>
            <a:r>
              <a:rPr lang="es-MX" dirty="0"/>
              <a:t> deben exponerse correctamente a tecnologías de asistencia.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4.1.2 Nombre, función y valor, 2.5.3 Etiqueta en el nombre, 2.4.4 Propósito de los enlaces y 3.2.4 Identificación consistente.</a:t>
            </a:r>
            <a:endParaRPr lang="es-MX" dirty="0" smtClean="0"/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La estructura de encabezados es lógica: </a:t>
            </a:r>
            <a:r>
              <a:rPr lang="es-MX" dirty="0"/>
              <a:t>Debe existir un título principal por página y una jerarquía de encabezados coherente, correlativa y sin saltos.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1.3.1 Información y relaciones, 2.4.2 Titulado de páginas y 2.4.6 Encabezados y etiquetas</a:t>
            </a:r>
            <a:r>
              <a:rPr lang="es-MX" dirty="0" smtClean="0"/>
              <a:t>.</a:t>
            </a:r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No se transmite información solo por color: </a:t>
            </a:r>
            <a:r>
              <a:rPr lang="es-MX" dirty="0"/>
              <a:t>Estados como seleccionado, error, activo o completado deben tener un indicador adicional al color.</a:t>
            </a:r>
            <a:endParaRPr lang="es-MX" b="1" dirty="0"/>
          </a:p>
          <a:p>
            <a:pPr rtl="0"/>
            <a:r>
              <a:rPr lang="es-MX" b="1" dirty="0"/>
              <a:t>Criterios WCAG relacionados:</a:t>
            </a:r>
            <a:r>
              <a:rPr lang="es-MX" dirty="0"/>
              <a:t> 1.4.1 Uso del color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5555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b="1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 smtClean="0"/>
              <a:t>El </a:t>
            </a:r>
            <a:r>
              <a:rPr lang="es-MX" b="1" dirty="0"/>
              <a:t>contraste cumple los mínimos requeridos: </a:t>
            </a:r>
            <a:r>
              <a:rPr lang="es-MX" dirty="0"/>
              <a:t>El texto debe alcanzar un contraste mínimo de 4.5:1 respecto del fondo. En textos grandes, el mínimo requerido es 3:1. Los elementos no textuales necesarios para comprender u operar la interfaz, como bordes de campos, íconos funcionales, indicadores de foco y estados activos o de error, deben alcanzar un contraste mínimo de 3:1.</a:t>
            </a:r>
            <a:endParaRPr lang="es-MX" b="1" dirty="0"/>
          </a:p>
          <a:p>
            <a:pPr rtl="0">
              <a:spcAft>
                <a:spcPts val="1000"/>
              </a:spcAft>
            </a:pPr>
            <a:r>
              <a:rPr lang="es-MX" b="1" dirty="0"/>
              <a:t>Criterios WCAG relacionados: </a:t>
            </a:r>
            <a:r>
              <a:rPr lang="es-MX" dirty="0"/>
              <a:t> 1.4.3 Contraste mínimo y 1.4.11 Contraste no textual</a:t>
            </a:r>
            <a:r>
              <a:rPr lang="es-MX" dirty="0" smtClean="0"/>
              <a:t>.</a:t>
            </a:r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 smtClean="0"/>
              <a:t>El contenido se adapta al zoom y al </a:t>
            </a:r>
            <a:r>
              <a:rPr lang="es-MX" b="1" dirty="0" err="1" smtClean="0"/>
              <a:t>responsive</a:t>
            </a:r>
            <a:r>
              <a:rPr lang="es-MX" b="1" dirty="0" smtClean="0"/>
              <a:t>: </a:t>
            </a:r>
            <a:r>
              <a:rPr lang="es-MX" dirty="0" smtClean="0"/>
              <a:t>Al aumentar el zoom o cambiar </a:t>
            </a:r>
            <a:r>
              <a:rPr lang="es-MX" dirty="0" err="1" smtClean="0"/>
              <a:t>viewport</a:t>
            </a:r>
            <a:r>
              <a:rPr lang="es-MX" dirty="0" smtClean="0"/>
              <a:t> no debe perderse información ni funcionalidad. </a:t>
            </a:r>
            <a:endParaRPr lang="es-MX" b="1" dirty="0" smtClean="0"/>
          </a:p>
          <a:p>
            <a:pPr rtl="0"/>
            <a:r>
              <a:rPr lang="es-MX" b="1" dirty="0" smtClean="0"/>
              <a:t>Criterios WCAG relacionados:</a:t>
            </a:r>
            <a:r>
              <a:rPr lang="es-MX" dirty="0" smtClean="0"/>
              <a:t> 1.4.4 Cambio de tamaño del texto, 1.4.10 Reajuste de elementos y 1.3.4 Orientación de la pantalla.</a:t>
            </a:r>
          </a:p>
          <a:p>
            <a:pPr rtl="0"/>
            <a:endParaRPr lang="es-MX" dirty="0" smtClean="0"/>
          </a:p>
          <a:p>
            <a:pPr rtl="0"/>
            <a:endParaRPr lang="es-MX" dirty="0" smtClean="0"/>
          </a:p>
          <a:p>
            <a:pPr rtl="0"/>
            <a:endParaRPr lang="es-MX" dirty="0" smtClean="0"/>
          </a:p>
          <a:p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464" y="1623390"/>
            <a:ext cx="8201025" cy="3765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lang="es-MX" sz="2000" b="1" spc="-10" dirty="0" smtClean="0">
                <a:solidFill>
                  <a:srgbClr val="497BBA"/>
                </a:solidFill>
                <a:latin typeface="Trebuchet MS"/>
                <a:cs typeface="Trebuchet MS"/>
              </a:rPr>
              <a:t>Chequeos de accesibilidad </a:t>
            </a:r>
          </a:p>
          <a:p>
            <a:pPr marL="58419">
              <a:lnSpc>
                <a:spcPct val="100000"/>
              </a:lnSpc>
              <a:spcBef>
                <a:spcPts val="100"/>
              </a:spcBef>
            </a:pPr>
            <a:endParaRPr lang="es-MX" b="1" dirty="0" smtClean="0"/>
          </a:p>
          <a:p>
            <a:pPr rtl="0" fontAlgn="base">
              <a:spcAft>
                <a:spcPts val="1000"/>
              </a:spcAft>
            </a:pPr>
            <a:r>
              <a:rPr lang="es-MX" b="1" dirty="0" smtClean="0"/>
              <a:t>Las </a:t>
            </a:r>
            <a:r>
              <a:rPr lang="es-MX" b="1" dirty="0"/>
              <a:t>imágenes funcionales y de texto tienen alternativa textual: </a:t>
            </a:r>
            <a:r>
              <a:rPr lang="es-MX" dirty="0"/>
              <a:t>Los íconos o imágenes que transmiten información deben tener descripción; los decorativos deben ocultarse correctamente.</a:t>
            </a:r>
            <a:endParaRPr lang="es-MX" b="1" dirty="0"/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1.1.1 Contenido no textual.</a:t>
            </a:r>
            <a:endParaRPr lang="es-MX" dirty="0" smtClean="0"/>
          </a:p>
          <a:p>
            <a:pPr rtl="0" fontAlgn="base">
              <a:spcBef>
                <a:spcPts val="1000"/>
              </a:spcBef>
              <a:spcAft>
                <a:spcPts val="1000"/>
              </a:spcAft>
            </a:pPr>
            <a:r>
              <a:rPr lang="es-MX" b="1" dirty="0"/>
              <a:t>Los mensajes de estado se comunican correctamente: </a:t>
            </a:r>
            <a:r>
              <a:rPr lang="es-MX" dirty="0" smtClean="0"/>
              <a:t>Notificaciones, </a:t>
            </a:r>
            <a:r>
              <a:rPr lang="es-MX" dirty="0"/>
              <a:t>confirmaciones, cargas, errores y cambios de estado deben ser perceptibles también para lector de pantalla.</a:t>
            </a:r>
            <a:endParaRPr lang="es-MX" b="1" dirty="0"/>
          </a:p>
          <a:p>
            <a:pPr rtl="0"/>
            <a:r>
              <a:rPr lang="es-MX" b="1" dirty="0"/>
              <a:t>Criterios WCAG relacionados: </a:t>
            </a:r>
            <a:r>
              <a:rPr lang="es-MX" dirty="0"/>
              <a:t>4.1.3 Mensajes de estado, 3.3.1 Identificación de errores y 4.1.2 Nombre, función y valor.</a:t>
            </a:r>
            <a:endParaRPr lang="es-MX" dirty="0" smtClean="0"/>
          </a:p>
          <a:p>
            <a:pPr rtl="0" fontAlgn="base"/>
            <a:endParaRPr lang="es-MX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25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pPr marL="76200">
                <a:lnSpc>
                  <a:spcPts val="1425"/>
                </a:lnSpc>
              </a:pPr>
              <a:t>56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3071" y="32903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Que validar antes de pasar a testeo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7582" y="6537862"/>
            <a:ext cx="286385" cy="266700"/>
          </a:xfrm>
          <a:custGeom>
            <a:avLst/>
            <a:gdLst/>
            <a:ahLst/>
            <a:cxnLst/>
            <a:rect l="l" t="t" r="r" b="b"/>
            <a:pathLst>
              <a:path w="286384" h="266700">
                <a:moveTo>
                  <a:pt x="285899" y="266698"/>
                </a:moveTo>
                <a:lnTo>
                  <a:pt x="0" y="266698"/>
                </a:lnTo>
                <a:lnTo>
                  <a:pt x="0" y="0"/>
                </a:lnTo>
                <a:lnTo>
                  <a:pt x="285899" y="0"/>
                </a:lnTo>
                <a:lnTo>
                  <a:pt x="285899" y="26669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8316"/>
            <a:ext cx="9143999" cy="7412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322956" y="1986848"/>
            <a:ext cx="4348480" cy="3298825"/>
            <a:chOff x="2322956" y="1986848"/>
            <a:chExt cx="4348480" cy="32988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2956" y="2243619"/>
              <a:ext cx="4348200" cy="3041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2991" y="1986848"/>
              <a:ext cx="461999" cy="25949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87768" y="6197530"/>
            <a:ext cx="2344799" cy="2594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5764" y="1633771"/>
            <a:ext cx="42843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000" b="1" spc="-40" dirty="0" smtClean="0">
                <a:solidFill>
                  <a:srgbClr val="497BBA"/>
                </a:solidFill>
                <a:latin typeface="Trebuchet MS"/>
                <a:cs typeface="Trebuchet MS"/>
              </a:rPr>
              <a:t>Para lograr experiencias accesibles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4888" y="3643314"/>
            <a:ext cx="2230120" cy="256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es-MX" sz="1600" b="1" spc="75" dirty="0" smtClean="0">
                <a:solidFill>
                  <a:srgbClr val="1B4487"/>
                </a:solidFill>
                <a:latin typeface="Arial"/>
                <a:cs typeface="Arial"/>
              </a:rPr>
              <a:t>Aplicar las fases metodológicas centradas en las personas.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es-MX" sz="1600" b="1" spc="75" dirty="0" smtClean="0">
                <a:solidFill>
                  <a:srgbClr val="1B4487"/>
                </a:solidFill>
                <a:latin typeface="Arial"/>
                <a:cs typeface="Arial"/>
              </a:rPr>
              <a:t>Respetar estándares internacionales como la WCAG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es-MX" sz="1600" b="1" spc="75" dirty="0" smtClean="0">
                <a:solidFill>
                  <a:srgbClr val="1B4487"/>
                </a:solidFill>
                <a:latin typeface="Arial"/>
                <a:cs typeface="Arial"/>
              </a:rPr>
              <a:t>Participar a personas diversas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7437" y="2141995"/>
            <a:ext cx="654299" cy="3758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75537" y="2141995"/>
            <a:ext cx="586199" cy="3758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5775" y="5096700"/>
            <a:ext cx="2027555" cy="3543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66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25"/>
              </a:spcBef>
            </a:pPr>
            <a:r>
              <a:rPr sz="1800" b="1" spc="-135" dirty="0">
                <a:latin typeface="Trebuchet MS"/>
                <a:cs typeface="Trebuchet MS"/>
              </a:rPr>
              <a:t>D.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Inclusivo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775" y="5630088"/>
            <a:ext cx="2027555" cy="3543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66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25"/>
              </a:spcBef>
            </a:pPr>
            <a:r>
              <a:rPr sz="1800" b="1" spc="-10" dirty="0">
                <a:latin typeface="Trebuchet MS"/>
                <a:cs typeface="Trebuchet MS"/>
              </a:rPr>
              <a:t>Usabilidad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5775" y="6163476"/>
            <a:ext cx="2027555" cy="354330"/>
          </a:xfrm>
          <a:custGeom>
            <a:avLst/>
            <a:gdLst/>
            <a:ahLst/>
            <a:cxnLst/>
            <a:rect l="l" t="t" r="r" b="b"/>
            <a:pathLst>
              <a:path w="2027555" h="354329">
                <a:moveTo>
                  <a:pt x="2027099" y="353999"/>
                </a:moveTo>
                <a:lnTo>
                  <a:pt x="0" y="353999"/>
                </a:lnTo>
                <a:lnTo>
                  <a:pt x="0" y="0"/>
                </a:lnTo>
                <a:lnTo>
                  <a:pt x="2027099" y="0"/>
                </a:lnTo>
                <a:lnTo>
                  <a:pt x="2027099" y="353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23071" y="428604"/>
            <a:ext cx="61457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 smtClean="0"/>
              <a:t>Conclusiones</a:t>
            </a:r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8800" y="6234353"/>
            <a:ext cx="140906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0"/>
              </a:lnSpc>
            </a:pPr>
            <a:r>
              <a:rPr sz="1800" b="1" spc="-10" dirty="0">
                <a:latin typeface="Trebuchet MS"/>
                <a:cs typeface="Trebuchet MS"/>
              </a:rPr>
              <a:t>Accesibilidad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90599" y="6595658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16223</TotalTime>
  <Words>3566</Words>
  <Application>Microsoft Office PowerPoint</Application>
  <PresentationFormat>Presentación en pantalla (4:3)</PresentationFormat>
  <Paragraphs>543</Paragraphs>
  <Slides>57</Slides>
  <Notes>8</Notes>
  <HiddenSlides>2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58" baseType="lpstr">
      <vt:lpstr>Office Theme</vt:lpstr>
      <vt:lpstr>Accesibilidad y el Diseño Centrado en el Usuario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Métodos de DCU y accesibilidad</vt:lpstr>
      <vt:lpstr>Métodos de DCU y accesibilidad</vt:lpstr>
      <vt:lpstr>Métodos de DCU y accesibilidad</vt:lpstr>
      <vt:lpstr>Métodos de DCU y accesibilidad</vt:lpstr>
      <vt:lpstr>Métodos de DCU y accesibilidad</vt:lpstr>
      <vt:lpstr>Diapositiva 16</vt:lpstr>
      <vt:lpstr>Diapositiva 17</vt:lpstr>
      <vt:lpstr>Metodología de DCU</vt:lpstr>
      <vt:lpstr>Metodología de DCU</vt:lpstr>
      <vt:lpstr>Metodología de DCU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DCU y accesibilidad</vt:lpstr>
      <vt:lpstr>Qué documentar antes del desarrollo</vt:lpstr>
      <vt:lpstr>Qué documentar antes del desarrollo</vt:lpstr>
      <vt:lpstr>Qué documentar antes del desarrollo</vt:lpstr>
      <vt:lpstr>Qué documentar antes del desarrollo</vt:lpstr>
      <vt:lpstr>Qué documentar antes del desarrollo</vt:lpstr>
      <vt:lpstr>Qué documentar antes del desarrollo</vt:lpstr>
      <vt:lpstr>Que validar antes de pasar a testeo</vt:lpstr>
      <vt:lpstr>Que validar antes de pasar a testeo</vt:lpstr>
      <vt:lpstr>Que validar antes de pasar a testeo</vt:lpstr>
      <vt:lpstr>Que validar antes de pasar a testeo</vt:lpstr>
      <vt:lpstr>Que validar antes de pasar a testeo</vt:lpstr>
      <vt:lpstr>Que validar antes de pasar a testeo</vt:lpstr>
      <vt:lpstr>Conclusiones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DUX- Métodos de DCU.pptx</dc:title>
  <dc:creator>Usuario</dc:creator>
  <cp:lastModifiedBy>Usuario</cp:lastModifiedBy>
  <cp:revision>37</cp:revision>
  <dcterms:created xsi:type="dcterms:W3CDTF">2024-09-19T00:10:16Z</dcterms:created>
  <dcterms:modified xsi:type="dcterms:W3CDTF">2026-06-03T01:40:01Z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